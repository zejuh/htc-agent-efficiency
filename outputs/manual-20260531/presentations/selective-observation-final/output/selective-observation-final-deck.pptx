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8cab8817b4429c" /><Relationship Type="http://schemas.openxmlformats.org/officeDocument/2006/relationships/extended-properties" Target="/docProps/app.xml" Id="R57a7f7401a4c46c5" /><Relationship Type="http://schemas.openxmlformats.org/officeDocument/2006/relationships/officeDocument" Target="/ppt/presentation.xml" Id="R435294851eea4b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2b5bdbad9c4bf4"/>
  </p:sldMasterIdLst>
  <p:notesMasterIdLst>
    <p:notesMasterId xmlns:r="http://schemas.openxmlformats.org/officeDocument/2006/relationships" r:id="R5eb9f2026d01405e"/>
  </p:notesMasterIdLst>
  <p:sldIdLst>
    <p:sldId xmlns:r="http://schemas.openxmlformats.org/officeDocument/2006/relationships" id="256" r:id="R3ff9d8321c804efc"/>
    <p:sldId xmlns:r="http://schemas.openxmlformats.org/officeDocument/2006/relationships" id="257" r:id="Rc71f1de388c6442a"/>
    <p:sldId xmlns:r="http://schemas.openxmlformats.org/officeDocument/2006/relationships" id="258" r:id="Rb966fe9e65ef4c91"/>
    <p:sldId xmlns:r="http://schemas.openxmlformats.org/officeDocument/2006/relationships" id="259" r:id="R2382af8e3f534b16"/>
    <p:sldId xmlns:r="http://schemas.openxmlformats.org/officeDocument/2006/relationships" id="260" r:id="R73b536b97fca4f7c"/>
    <p:sldId xmlns:r="http://schemas.openxmlformats.org/officeDocument/2006/relationships" id="261" r:id="R8f3ed38ee24d4003"/>
    <p:sldId xmlns:r="http://schemas.openxmlformats.org/officeDocument/2006/relationships" id="262" r:id="R1dffd1111c0a4a8c"/>
    <p:sldId xmlns:r="http://schemas.openxmlformats.org/officeDocument/2006/relationships" id="263" r:id="R1bb8bc12b31b4cd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2b5bdbad9c4bf4" /><Relationship Type="http://schemas.openxmlformats.org/officeDocument/2006/relationships/theme" Target="/ppt/theme/theme1.xml" Id="Rda32fd3c67b24280" /><Relationship Type="http://schemas.openxmlformats.org/officeDocument/2006/relationships/notesMaster" Target="/ppt/notesMasters/notesMaster1.xml" Id="R5eb9f2026d01405e" /><Relationship Type="http://schemas.openxmlformats.org/officeDocument/2006/relationships/presProps" Target="/ppt/presProps.xml" Id="R3b5e05e56d444bfd" /><Relationship Type="http://schemas.openxmlformats.org/officeDocument/2006/relationships/viewProps" Target="/ppt/viewProps.xml" Id="Rde8599b388524f0b" /><Relationship Type="http://schemas.openxmlformats.org/officeDocument/2006/relationships/tableStyles" Target="/ppt/tableStyles.xml" Id="Ra02617cdd2e74a07" /><Relationship Type="http://schemas.openxmlformats.org/officeDocument/2006/relationships/slide" Target="/ppt/slides/slide1.xml" Id="R3ff9d8321c804efc" /><Relationship Type="http://schemas.openxmlformats.org/officeDocument/2006/relationships/slide" Target="/ppt/slides/slide2.xml" Id="Rc71f1de388c6442a" /><Relationship Type="http://schemas.openxmlformats.org/officeDocument/2006/relationships/slide" Target="/ppt/slides/slide3.xml" Id="Rb966fe9e65ef4c91" /><Relationship Type="http://schemas.openxmlformats.org/officeDocument/2006/relationships/slide" Target="/ppt/slides/slide4.xml" Id="R2382af8e3f534b16" /><Relationship Type="http://schemas.openxmlformats.org/officeDocument/2006/relationships/slide" Target="/ppt/slides/slide5.xml" Id="R73b536b97fca4f7c" /><Relationship Type="http://schemas.openxmlformats.org/officeDocument/2006/relationships/slide" Target="/ppt/slides/slide6.xml" Id="R8f3ed38ee24d4003" /><Relationship Type="http://schemas.openxmlformats.org/officeDocument/2006/relationships/slide" Target="/ppt/slides/slide7.xml" Id="R1dffd1111c0a4a8c" /><Relationship Type="http://schemas.openxmlformats.org/officeDocument/2006/relationships/slide" Target="/ppt/slides/slide8.xml" Id="R1bb8bc12b31b4c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74af06cdcbb45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4b00a1f4c54700" /><Relationship Type="http://schemas.openxmlformats.org/officeDocument/2006/relationships/notesMaster" Target="/ppt/notesMasters/notesMaster1.xml" Id="R36b3a0bcb1f14f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6b26bb42534c9b" /><Relationship Type="http://schemas.openxmlformats.org/officeDocument/2006/relationships/notesMaster" Target="/ppt/notesMasters/notesMaster1.xml" Id="Rdc98e4917b314b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f865f1d12541e9" /><Relationship Type="http://schemas.openxmlformats.org/officeDocument/2006/relationships/notesMaster" Target="/ppt/notesMasters/notesMaster1.xml" Id="R113e51687f8a45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77e30f65924a14" /><Relationship Type="http://schemas.openxmlformats.org/officeDocument/2006/relationships/notesMaster" Target="/ppt/notesMasters/notesMaster1.xml" Id="R4a72e9c615b642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79c36acaff4650" /><Relationship Type="http://schemas.openxmlformats.org/officeDocument/2006/relationships/notesMaster" Target="/ppt/notesMasters/notesMaster1.xml" Id="R7c2b36e40bcd48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dc900b841a4078" /><Relationship Type="http://schemas.openxmlformats.org/officeDocument/2006/relationships/notesMaster" Target="/ppt/notesMasters/notesMaster1.xml" Id="R8ab288b9a38e4b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532bad144646db" /><Relationship Type="http://schemas.openxmlformats.org/officeDocument/2006/relationships/notesMaster" Target="/ppt/notesMasters/notesMaster1.xml" Id="R6a931f02dfdd45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4028021c574701" /><Relationship Type="http://schemas.openxmlformats.org/officeDocument/2006/relationships/notesMaster" Target="/ppt/notesMasters/notesMaster1.xml" Id="R4c41e8c4d48748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33d27871d241c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4d3ed4c1ddc4ca4" /><Relationship Type="http://schemas.openxmlformats.org/officeDocument/2006/relationships/slideLayout" Target="/ppt/slideLayouts/slideLayout2.xml" Id="R359daa1e61c745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9daa1e61c745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8c56a160f34ce5" /><Relationship Type="http://schemas.openxmlformats.org/officeDocument/2006/relationships/notesSlide" Target="/ppt/notesSlides/notesSlide1.xml" Id="Rbfcbe3bc342f4d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782103f60549ba" /><Relationship Type="http://schemas.openxmlformats.org/officeDocument/2006/relationships/notesSlide" Target="/ppt/notesSlides/notesSlide2.xml" Id="R3ed08563926444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0e9f6738f840fc" /><Relationship Type="http://schemas.openxmlformats.org/officeDocument/2006/relationships/notesSlide" Target="/ppt/notesSlides/notesSlide3.xml" Id="R40fb0834fdab4a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334e7908b646ef" /><Relationship Type="http://schemas.openxmlformats.org/officeDocument/2006/relationships/notesSlide" Target="/ppt/notesSlides/notesSlide4.xml" Id="R686480865d0644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6a652827934940" /><Relationship Type="http://schemas.openxmlformats.org/officeDocument/2006/relationships/image" Target="/ppt/media/image.png" Id="R17eacd6a80744d0d" /><Relationship Type="http://schemas.openxmlformats.org/officeDocument/2006/relationships/notesSlide" Target="/ppt/notesSlides/notesSlide5.xml" Id="R2a2b98042c1040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6f73882b0d40e5" /><Relationship Type="http://schemas.openxmlformats.org/officeDocument/2006/relationships/notesSlide" Target="/ppt/notesSlides/notesSlide6.xml" Id="Rf6711e6ea6564e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ec28571f4f4c62" /><Relationship Type="http://schemas.openxmlformats.org/officeDocument/2006/relationships/image" Target="/ppt/media/image2.png" Id="R93b1c72bb275491f" /><Relationship Type="http://schemas.openxmlformats.org/officeDocument/2006/relationships/image" Target="/ppt/media/image3.png" Id="Re742abb4d53a4dcb" /><Relationship Type="http://schemas.openxmlformats.org/officeDocument/2006/relationships/notesSlide" Target="/ppt/notesSlides/notesSlide7.xml" Id="R1295e87c07cd4d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f17cf979f342ea" /><Relationship Type="http://schemas.openxmlformats.org/officeDocument/2006/relationships/notesSlide" Target="/ppt/notesSlides/notesSlide8.xml" Id="R91b5358e2c324b5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197EA5-AF77-4145-8DA7-5A420970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B"/>
          </a:solidFill>
          <a:ln xmlns:a="http://schemas.openxmlformats.org/drawingml/2006/main" w="0">
            <a:solidFill>
              <a:srgbClr val="F7F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148FD-081F-4D82-9CBA-45951BEA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B"/>
          </a:solidFill>
          <a:ln xmlns:a="http://schemas.openxmlformats.org/drawingml/2006/main" w="0">
            <a:solidFill>
              <a:srgbClr val="F7F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033B8-41C8-426B-8A88-D09BD599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700D6-84BE-4672-B0B9-55F4A856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Selective Observation for Browser Agents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1BB56-07FE-42F7-8263-F5689DFA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09700"/>
            <a:ext cx="666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Final project: can a GUI agent skip some expensive re-observations without giving up success or safety?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F6AF3-C5BB-4D34-ABFA-601C422D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2000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258BD-C582-4A10-9EA0-D007B98A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benchmark-first refactor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7DC0B-C739-452A-B61F-33AACE46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33600"/>
            <a:ext cx="1733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16207"/>
          </a:solidFill>
          <a:ln xmlns:a="http://schemas.openxmlformats.org/drawingml/2006/main" w="0">
            <a:solidFill>
              <a:srgbClr val="A1620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684F5E-6173-4A7C-A358-B940154B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90750"/>
            <a:ext cx="1543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local diagnostic suite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CDFA4-32D6-4725-81C7-FD45DC61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33600"/>
            <a:ext cx="2095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4BB26F-661C-48E0-93D3-BDC89B6E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907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MiniWoB external benchmark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110B4D-91FC-48C0-90B0-50F88DD0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6286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D3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A7B584-39AD-42F0-BF1B-1FBD281B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Project thesis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DEE611-CA32-4E56-9CD7-6CAC56A8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76600"/>
            <a:ext cx="5753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Instead of hard-coding ‘observe every step’, we learn a gate that decides when to pay for another observation. The system now runs on both a local observation-sensitive suite and a recognized external benchmark subset.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EAC62B-EDF5-4D9D-B235-8ACBCED0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9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7E02E4-08E1-4601-BC4E-2EF77DB7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339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0.90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F689A8-DE48-4B9F-8AD5-DE67E00E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292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MiniWoB success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9865C0-68C1-4F11-B593-C4EBB4B9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006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learned@0.8 on curated external benchmark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85FE1C-4A44-40B5-8A27-0C8CFA25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762500"/>
            <a:ext cx="19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987DFC-810C-4363-AA12-88E74B41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7339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2.0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973B53-D482-4A45-B946-6FC2AE6F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0292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Avg. model calls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9F427C-793B-4593-B396-F86186E9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2006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vs 3.0 for always-observe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1CCDED-02FA-43C0-9696-86EBB41A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62500"/>
            <a:ext cx="19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7D4B64-026C-4963-A6A4-6D541A90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7339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7A7ECA-E3A8-48F3-8380-E3EEE756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0292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Unsafe rate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26C97E-39C5-47B3-AD5D-027A089B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2006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on the external benchmark headline run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1281B5-633A-4055-BC04-61686828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24150"/>
            <a:ext cx="41148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8D57ED-CCAE-4076-8B4D-D8C1ACCF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908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Talk map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109C7D-58A4-4A4B-BD37-FF728643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90900"/>
            <a:ext cx="34290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1. Why selective observation matters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2. Benchmark-first system design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3. Main external-benchmark result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4. Why the local suite is a useful negative result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5. What we would do next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27A36D-6181-42F3-A96E-0A12C690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2959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Team photo / names can be inserted on the submitted title slide if needed.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FF001C-5A74-416D-8F60-C1967258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solidFill>
              <a:srgbClr val="D6D3D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62371B-9784-479D-BDFB-A2ECFB18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494C08-730A-4846-9E07-51A276DC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591300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Research question + headline result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280B1F-4CE6-443D-BE10-E3558FF5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5913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Selective Observation Agent</a:t>
            </a:r>
          </a:p>
        </p:txBody>
      </p:sp>
    </p:spTree>
    <p:extLst>
      <p:ext uri="{BB962C8B-B14F-4D97-AF65-F5344CB8AC3E}">
        <p14:creationId xmlns:p14="http://schemas.microsoft.com/office/powerpoint/2010/main" val="69591410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864A35-2290-4B8A-9C39-93426E13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B"/>
          </a:solidFill>
          <a:ln xmlns:a="http://schemas.openxmlformats.org/drawingml/2006/main" w="0">
            <a:solidFill>
              <a:srgbClr val="F7F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FEBC3-EED8-41B9-A869-D0D4DC12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1143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33929-785E-4D4F-99D6-92341FC3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MOTIVATION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55477-F3E4-4C87-B5F9-DC17F571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Modern browser agents over-observe.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04D6D-559E-4E82-A14A-ADB042C5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They often pay for a fresh model-backed observation before every action, even when the previous plan is still usable.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B23CB9-4BA6-4A9D-B890-83A056B3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35433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6D3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CBAFA-6848-440D-B2A8-FB304DFE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320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this matters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510E5-1E53-4A46-9921-494E5FDB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3200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Observation is the expensive part of the loop: it triggers another model call, adds latency, and can still be redundant when the next few actions are already obvious.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 strong policy should reuse stale-but-still-correct plans when it is safe to do so.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D236B-882A-48DE-B654-BE91A5F4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6D3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3A1461-84D1-421C-8095-B22607A3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955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Baselines we compare against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02C839-FEDC-41EE-9C7E-3DDF47D9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81300"/>
            <a:ext cx="30861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always: re-observe before every step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never: observe once, then coast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handrule: observe on coarse screen change or checkpoint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learned@tau: gate probability threshold + safety floor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194C5C-A9D0-473A-9384-6B93B40F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43150"/>
            <a:ext cx="36576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1D0C45-40A1-4ECF-98ED-53A36BD8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098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 question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2350A2-9D08-45AC-92E9-A89EDBBE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00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2ACFBA-CC0A-4F30-B4C5-9AE85187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4325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Can we save model calls by skipping some observations?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625149-A730-4C5D-9C3E-D9D64B14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71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574437-DA7B-40E0-A51B-758CC904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1475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Can we keep success rate high while doing that?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AF07CB-4C78-42E4-814E-F1BD5A9B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43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F62389-84F7-4B4A-B8CA-3BA68817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8625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Can we hold unsafe behavior at or near zero?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FD3F51-7F4B-495A-8372-58B336B2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19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Our final framing: external benchmark for the headline claim, local diagnostic suite for failure-mode analysis.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63385F-AE02-4E8C-A3C6-27B64D51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solidFill>
              <a:srgbClr val="D6D3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9C2344-9D90-4A3C-BB28-5FA475AC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87F1CB-2F60-4959-8136-75F5CB08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591300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Motivation and evaluation framing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35AF00-31BE-466E-A545-7DBECE18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5913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Selective Observation Agent</a:t>
            </a:r>
          </a:p>
        </p:txBody>
      </p:sp>
    </p:spTree>
    <p:extLst>
      <p:ext uri="{BB962C8B-B14F-4D97-AF65-F5344CB8AC3E}">
        <p14:creationId xmlns:p14="http://schemas.microsoft.com/office/powerpoint/2010/main" val="7443287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EA0CCE-C6D3-4337-A607-32F3551B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B"/>
          </a:solidFill>
          <a:ln xmlns:a="http://schemas.openxmlformats.org/drawingml/2006/main" w="0">
            <a:solidFill>
              <a:srgbClr val="F7F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4D1B0-6CB6-4F30-8AAC-02E65D59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1143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892C5C-B0EB-4675-8A41-5D3AB0D6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8661E-B88B-413A-BECA-CC5E3C75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We turned the repo into a benchmark-first selective-observation framework.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8236D1-ED8F-4325-BA32-2C55F193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observation gate is the reusable core; environments plug in through adapters.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F89AA-B51E-4445-AD48-3C64A3A3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0FF93-CE60-4F1D-B208-1CC7A442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Task suite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local diagnostic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or MiniWoB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575FF-DEB9-4FE6-A454-778A4169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38400"/>
            <a:ext cx="1714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CFCCB"/>
          </a:solidFill>
          <a:ln xmlns:a="http://schemas.openxmlformats.org/drawingml/2006/main" w="9525">
            <a:solidFill>
              <a:srgbClr val="A3E6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8BEE7-F5F3-4ED6-86BF-220B4250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67000"/>
            <a:ext cx="1257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Adapter layer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reset / observe /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execute / success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E70601-E33E-4D3C-B6D0-B58AB738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38400"/>
            <a:ext cx="200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DF22A5-D605-4785-B59D-D0A18C87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67000"/>
            <a:ext cx="1543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Planner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OpenAI agent plans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short action sequences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F2A41F-B498-4950-A55F-2120D965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3840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A9811E-4381-446E-9BFA-A9897A79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67000"/>
            <a:ext cx="1238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Observation gate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cheap features -&gt;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observe or coast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2C10F1-47AD-4FEC-BA42-BD0CB65F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38400"/>
            <a:ext cx="1714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CE7F3"/>
          </a:solidFill>
          <a:ln xmlns:a="http://schemas.openxmlformats.org/drawingml/2006/main" w="9525">
            <a:solidFill>
              <a:srgbClr val="F472B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13B48E-B278-496B-900B-0599034A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67000"/>
            <a:ext cx="1257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Evaluator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success, calls,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cost, latency, unsafe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DACD55-D5D1-4DE2-BE67-23D9B67C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6227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FF3D46-731F-4488-B847-51CB3BCD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6227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38BC5D-0573-4737-85E1-D2972ADB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62275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831A4C-CCC6-49CB-8786-C8AF1268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6227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4647D3-2B51-4888-9F07-3EEED852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49530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D3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662CAD-B6C5-41E6-BB00-22F8581A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changed in the codebase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353A19-7D4C-4C77-B6ED-C2F9C5EE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5350"/>
            <a:ext cx="428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1. Added a generic adapter interface so the same collector/evaluator can drive both the local app and MiniWoB.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 Upgraded the gate trainer from logistic-only to logistic-or-MLP auto-selection.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3. Added task-suite manifests, benchmark metadata, and bootstrap confidence intervals.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E900DC-D4F9-4873-95A7-7E671DA6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95750"/>
            <a:ext cx="53149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A517A7-FC63-4771-8F89-F5ADA22F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243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Training loop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BA3713-F311-4A56-A8DE-5C55FFAD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05350"/>
            <a:ext cx="4610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Round 0: always-observe oracle collection</a:t>
            </a:r>
          </a:p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Round 1: collect under learned@0.5 (DAgger)</a:t>
            </a:r>
          </a:p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Train gate on cheap observation features</a:t>
            </a:r>
          </a:p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Sweep thresholds at evaluation time to trace a cost/success frontier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312401-258F-4BF4-94F6-9BBB3ACB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solidFill>
              <a:srgbClr val="D6D3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6B5647-3F21-4570-9412-FC6033DA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89B743-E7D7-4BA1-84FF-6BE2A66C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591300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Architecture and code contributions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B1D7EA-B00B-45FB-BF66-19792D57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5913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Selective Observation Agent</a:t>
            </a:r>
          </a:p>
        </p:txBody>
      </p:sp>
    </p:spTree>
    <p:extLst>
      <p:ext uri="{BB962C8B-B14F-4D97-AF65-F5344CB8AC3E}">
        <p14:creationId xmlns:p14="http://schemas.microsoft.com/office/powerpoint/2010/main" val="3524032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5A341F-66DD-418D-B2CF-C7254A87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B"/>
          </a:solidFill>
          <a:ln xmlns:a="http://schemas.openxmlformats.org/drawingml/2006/main" w="0">
            <a:solidFill>
              <a:srgbClr val="F7F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F3BE9-F263-4636-8817-42E070C4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1143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A072F-49A9-4A17-808F-8B63C000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BENCHMARKS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5AFE75-1905-46D9-BDDB-4BAACD10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We intentionally separate a diagnostic suite from the external benchmark.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2502C-5415-46EE-97CE-B3F277B2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That gives us one environment for controlled stress tests and one environment for credibility.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80F4F-D6FE-4A17-9545-25EA4C09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52197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6D3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47E80-60D1-4920-86B4-4CFCB20C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487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Local diagnostic suite (17 tasks)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F411C-A154-4328-8C7B-B0B049F0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4876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Purpose: controlled observation-sensitive stress testing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Families: static baseline, async results, value drift, delayed options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Why it is useful: we can manufacture hard cases where coarse screen change misses the real state shift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Example tasks: async contact resolution, notebook price drift, delayed language options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700D39-DC6E-41F0-A366-1AE54D1E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52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6207"/>
          </a:solidFill>
          <a:ln xmlns:a="http://schemas.openxmlformats.org/drawingml/2006/main" w="0">
            <a:solidFill>
              <a:srgbClr val="A1620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0D30B4-BBA2-46FD-8471-8F60EBB9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95750"/>
            <a:ext cx="428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 static baselines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6EDC52-B7DA-45F8-A5C1-EF9A04A5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6207"/>
          </a:solidFill>
          <a:ln xmlns:a="http://schemas.openxmlformats.org/drawingml/2006/main" w="0">
            <a:solidFill>
              <a:srgbClr val="A1620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C47EC2-6C19-4861-839D-0FD28B7F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95800"/>
            <a:ext cx="428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 async result tasks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3FF96-BAA0-4CB6-91AA-AD220A52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6207"/>
          </a:solidFill>
          <a:ln xmlns:a="http://schemas.openxmlformats.org/drawingml/2006/main" w="0">
            <a:solidFill>
              <a:srgbClr val="A1620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02F648-AEBC-4C4A-B4A2-E57ECACC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95850"/>
            <a:ext cx="428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 value-drift tasks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BC8BFE-A638-4CCC-BD25-78D70718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6207"/>
          </a:solidFill>
          <a:ln xmlns:a="http://schemas.openxmlformats.org/drawingml/2006/main" w="0">
            <a:solidFill>
              <a:srgbClr val="A1620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80D528-8A11-4D01-BB62-9B351C00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95900"/>
            <a:ext cx="428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 delayed-option tasks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59CB3E-60E4-4058-B402-D4E73062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43150"/>
            <a:ext cx="55626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DB78CE-8DF7-4EB0-B601-48D932F8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9080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MiniWoB curated external benchmark (10 instances)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1E9D6D-E303-4379-BCC9-9EC0D450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90850"/>
            <a:ext cx="48006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Purpose: show that the same observation-policy core runs on a recognized community benchmark.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Curated tasks:</a:t>
            </a:r>
          </a:p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click-button</a:t>
            </a:r>
          </a:p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focus-text</a:t>
            </a:r>
          </a:p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click-option</a:t>
            </a:r>
          </a:p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click-checkboxes</a:t>
            </a:r>
          </a:p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click-button-sequence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We duplicated selected tasks with two seeds to make the subset slightly less fragile.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625DE0-0671-460A-8B70-F47D9E2A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911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Final evaluation framing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78562D-495C-45FA-88C4-F2DC3B71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387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External benchmark = headline result</a:t>
            </a:r>
          </a:p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Local diagnostic suite = negative result + why cheap features are not enough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99EEAF-484C-4BC5-9B2F-BC85CBBB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solidFill>
              <a:srgbClr val="D6D3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A80CE1-C878-4949-9D7B-AF5BB398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18E846-FDCF-46CE-88A6-A994DAF6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591300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Benchmark design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1C104C-70F9-46B8-93EB-5B65D0BE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5913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Selective Observation Agent</a:t>
            </a:r>
          </a:p>
        </p:txBody>
      </p:sp>
    </p:spTree>
    <p:extLst>
      <p:ext uri="{BB962C8B-B14F-4D97-AF65-F5344CB8AC3E}">
        <p14:creationId xmlns:p14="http://schemas.microsoft.com/office/powerpoint/2010/main" val="6766556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48C3FD-BBD9-4A8B-9E0D-91D3A923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B"/>
          </a:solidFill>
          <a:ln xmlns:a="http://schemas.openxmlformats.org/drawingml/2006/main" w="0">
            <a:solidFill>
              <a:srgbClr val="F7F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F97F2-1B45-46E4-B4BB-2D39FE9D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1143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A49AB-0CBD-471F-B6CB-77DFD239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MAIN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BE95C-14F8-40EE-B432-815B1D9C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On the external benchmark, the learned gate gives the best safe tradeoff.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598BF-0A19-423E-91A2-A2837C74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strongest point on our frontier is learned@0.8: higher success than always/handrule, fewer model calls than both, and zero unsafe misses.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acd6a80744d0d"/>
          <a:stretch xmlns:a="http://schemas.openxmlformats.org/drawingml/2006/main"/>
        </p:blipFill>
        <p:spPr>
          <a:xfrm xmlns:a="http://schemas.openxmlformats.org/drawingml/2006/main">
            <a:off x="552450" y="2270719"/>
            <a:ext cx="7524750" cy="368816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F9A37-D277-431B-A947-6DF3328F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86000"/>
            <a:ext cx="3295650" cy="3676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D3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F2C18-38E6-4F52-ADE1-D81B1224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336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Headline numbers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9E018B-1A74-451C-92B3-0FF2A4DB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09900"/>
            <a:ext cx="19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3DEE2-EB76-4C96-BEC2-0313D558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813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0.90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AF5205-3F38-4E21-BBB3-2A3A359C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766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Success 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5EAE96-DC8B-4412-9929-77895888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480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learned@0.8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853A06-0A50-466A-BC5D-24B0193B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48100"/>
            <a:ext cx="19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28FD71-8B06-4D9A-B610-AD93B51D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195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2.0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74FF27-DD78-4C72-8B7E-2D758A34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148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Avg. model calls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55EC4E-0628-4055-9452-0255BA96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862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vs 3.0 for always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1E5ADB-8769-4CE3-AD03-279416EB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86300"/>
            <a:ext cx="19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10D584-A734-4535-AFAC-1D7B277A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577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4E5591-153C-463B-9AD4-278B06BB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530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Unsafe rate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F3CFCC-AEDF-4A46-86B3-CC5B5D88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1244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same as always / handrule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95CA88-A9C9-4191-8D15-766AC53C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4864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7240C1-8FEE-45C2-8377-9968EED1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734050"/>
            <a:ext cx="2705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This is the cleanest result in the project: the gate does not just save cost, it also improves success over the safe baselines on this curated external subset.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2C6C1E-6A79-45D6-9CC6-CCC2D896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solidFill>
              <a:srgbClr val="D6D3D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2BFD5C-BF76-4A7A-B677-07363D2B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B54B8B-61EB-4FB6-9444-1E45395A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591300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MiniWoB curated headline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C23BDA-C2A5-4838-95A4-985898D5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5913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Selective Observation Agent</a:t>
            </a:r>
          </a:p>
        </p:txBody>
      </p:sp>
    </p:spTree>
    <p:extLst>
      <p:ext uri="{BB962C8B-B14F-4D97-AF65-F5344CB8AC3E}">
        <p14:creationId xmlns:p14="http://schemas.microsoft.com/office/powerpoint/2010/main" val="79522384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08956A-0EA5-4CCC-8DC6-8199FD6C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B"/>
          </a:solidFill>
          <a:ln xmlns:a="http://schemas.openxmlformats.org/drawingml/2006/main" w="0">
            <a:solidFill>
              <a:srgbClr val="F7F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7BF70-5A5A-48BC-AE8C-4D3E2451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1143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A8B19-2ABA-4D45-83AD-A9CB1CB5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IT 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E167A1-37A3-4DB7-8E42-E417DFBF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gain comes from not forgetting hidden progress on sequence-like tasks.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AB14A-327E-4300-89CA-5BDB67E2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Repeated fresh observation can hurt when the current page does not visibly encode what was already done.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A17BD-29BF-4434-B5E1-CEB57388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110871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DD8EBC-5E23-4DA7-B435-0DB9AD40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Example: MiniWoB click-button-sequence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802E9-7A62-482B-B235-31AC24D5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Instruction: click ONE, then click TWO. After button ONE is clicked, the page does not visibly mark that progress. If the policy re-observes and replans from scratch, it may click ONE again. Coasting on the carried plan can actually be better.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E1768-8F6A-4529-81FC-D49B8AEF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6B728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46F361-2AE3-42CC-93F3-CE68B2A2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always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595915-E310-40B0-A010-90E3E67D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2990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Fails both sequence seeds.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Average 8 model calls on the sequence instances because it keeps re-planning from a partially observed state.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BED79E-2A6D-4520-BB1F-C455681C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73380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A1620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E75C0-1789-42DF-9745-1C0A7EBE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8620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handrule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9BC23-8FD7-4C41-9A14-C617E52D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71950"/>
            <a:ext cx="2990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Still fails one seed, but uses fewer calls because it sometimes keeps the stale plan when the coarse screen signature does not change.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0B7709-A4DD-4279-B697-2F27F494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33800"/>
            <a:ext cx="38862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C12BB8-F823-4DF3-99C3-DD95CFC0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86200"/>
            <a:ext cx="3543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learned@0.8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7D6C6E-1948-4B46-97CF-5E8E39C8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71950"/>
            <a:ext cx="35433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Succeeds on one of the two sequence seeds and keeps 0 unsafe misses on the whole benchmark. This is the point that dominates the safe baselines.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A7C572-B9BA-4ED5-AB10-3EC95EFE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13AB79-33B1-4438-9486-0685012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81700"/>
            <a:ext cx="981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Observation is not automatically helpful when state is partially observable.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3D5B98-C242-4979-B26B-02564725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8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7608DA-2199-48BB-B312-C2E77607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4600"/>
            <a:ext cx="981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 good gate should learn when re-observation destroys useful momentum.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F19DF0-F4A9-4390-B1A2-1AC7A4C7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solidFill>
              <a:srgbClr val="D6D3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FF386D-0DC7-454E-BEC8-6FED8A5E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D7C4A6-02E4-4588-9739-93404B45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591300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Task-level interpretation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1AA5C3-BBA6-476C-A3F3-EB2E860A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5913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Selective Observation Agent</a:t>
            </a:r>
          </a:p>
        </p:txBody>
      </p:sp>
    </p:spTree>
    <p:extLst>
      <p:ext uri="{BB962C8B-B14F-4D97-AF65-F5344CB8AC3E}">
        <p14:creationId xmlns:p14="http://schemas.microsoft.com/office/powerpoint/2010/main" val="41808595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D84191-4196-4DB4-A218-A8479509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B"/>
          </a:solidFill>
          <a:ln xmlns:a="http://schemas.openxmlformats.org/drawingml/2006/main" w="0">
            <a:solidFill>
              <a:srgbClr val="F7F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DF0F6-1B15-4893-82DE-C1E4F67E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12858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D1C9D-B41B-4B10-9A73-E1CC7FB8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95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NEGATIVE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482816-AEB5-4724-A76B-606D2F58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local diagnostic suite is intentionally hard, and the learned gate mostly collapses toward ‘observe a lot’.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4C9F6-15C9-4E24-8000-A7349C44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This is still a useful result: cheap features alone are not enough when 93% of labels say observation is necessary.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b1c72bb275491f"/>
          <a:stretch xmlns:a="http://schemas.openxmlformats.org/drawingml/2006/main"/>
        </p:blipFill>
        <p:spPr>
          <a:xfrm xmlns:a="http://schemas.openxmlformats.org/drawingml/2006/main">
            <a:off x="552450" y="2313647"/>
            <a:ext cx="6572250" cy="3221306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42abb4d53a4dcb"/>
          <a:stretch xmlns:a="http://schemas.openxmlformats.org/drawingml/2006/main"/>
        </p:blipFill>
        <p:spPr>
          <a:xfrm xmlns:a="http://schemas.openxmlformats.org/drawingml/2006/main">
            <a:off x="8018721" y="2400300"/>
            <a:ext cx="2841108" cy="23050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28623-885A-4A85-9FA8-B6C3C181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895850"/>
            <a:ext cx="39433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D3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AC68D-ABEC-432B-9881-892E6026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1054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the negative result means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B9C99-A5E0-42D3-BDEB-DB1679F7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29250"/>
            <a:ext cx="3371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diagnostic suite did its job: it created many cases where stale plans really are dangerous. The next research step is not to abandon the idea, but to add richer state features or memory-aware policies.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1A7B93-406E-4C4D-B641-AE5D61E9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solidFill>
              <a:srgbClr val="D6D3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E1D44C-6081-41C4-A352-201330C0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B4705D-4B93-45EB-940A-233262D1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591300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Hard local suite = informative negative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8B0AF8-25F0-4701-9824-F7A080FE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5913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Selective Observation Agent</a:t>
            </a:r>
          </a:p>
        </p:txBody>
      </p:sp>
    </p:spTree>
    <p:extLst>
      <p:ext uri="{BB962C8B-B14F-4D97-AF65-F5344CB8AC3E}">
        <p14:creationId xmlns:p14="http://schemas.microsoft.com/office/powerpoint/2010/main" val="172440976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C9D682-9D3C-427A-9D34-877F6598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B"/>
          </a:solidFill>
          <a:ln xmlns:a="http://schemas.openxmlformats.org/drawingml/2006/main" w="0">
            <a:solidFill>
              <a:srgbClr val="F7F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5ACB6C-0310-4DE5-9C41-870BC486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1143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E9C84-14CF-4DF5-B22D-1A004578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TAKEAWAYS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2906C-842A-4590-9AAA-14FE28FD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What we learned and what we would do next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46129-F3AD-4570-9513-CB77B150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6D3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2521F-1174-4CA3-9F1C-DB10635E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Takeaway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1A552-91E3-4DB2-AB70-99472B35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30861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benchmark-first refactor was worth it. Once the core observation policy was isolated behind adapters, the project became much easier to position as research rather than as a toy demo.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6E6CC-4312-4A07-8C71-75CD3DBA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6D3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8CD87-4F73-4066-9C9D-9287DF54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955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Takeaway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5B4032-A9E4-4097-AD47-D427E834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81300"/>
            <a:ext cx="30861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On a curated external benchmark subset, selective observation can beat both always-observe and a simple hand rule while keeping unsafe behavior at zero.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C6B33B-D9FD-4805-A2C3-39DFD65B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3619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6D3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12BEB-06D1-4C47-98CD-02945EBF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95550"/>
            <a:ext cx="3276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Takeaway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D60EC0-764B-48A8-B843-BEF7BF7E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81300"/>
            <a:ext cx="32766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hard local suite exposed the current method’s ceiling: cheap features skew the gate toward always observing. That gives us a very concrete future-work path.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17A976-9B9D-4B30-A70F-9D8F17C6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53100"/>
            <a:ext cx="11087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5DAB4F-2FF6-47B7-9192-C1207B4B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88BFBB-BAD4-48AE-8921-BB8AD327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86450"/>
            <a:ext cx="1009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Next: move the same adapter core to WebArena / WorkArena style environments.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FD18F2-6D07-4BBA-943B-ECB7A282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345377-BBB7-47AA-9E04-77C2B328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38850"/>
            <a:ext cx="1009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Next: add richer state features or sequence-aware memory, not just cheap single-step signals.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510877-EAC5-4B30-A873-4A2C87C8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48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226AB6-5A33-4EB1-8ECE-7667FE1C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191250"/>
            <a:ext cx="1009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Next: collect more balanced data so the learned gate is not trained on a 93% positive label distribution.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456209-A112-476F-B435-3A471239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609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Appendix-ready materials: full report, metrics tables, and prompt appendix are packaged with the submission.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E1F01B-7035-4001-929A-96C0B07C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solidFill>
              <a:srgbClr val="D6D3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CF2E93-4277-419D-B1BE-ADF6B43A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874805-9236-493E-AAB2-542F4950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591300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Conclusions and future work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E24DA4-AF19-4171-9785-7719A069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5913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Selective Observation Agent</a:t>
            </a:r>
          </a:p>
        </p:txBody>
      </p:sp>
    </p:spTree>
    <p:extLst>
      <p:ext uri="{BB962C8B-B14F-4D97-AF65-F5344CB8AC3E}">
        <p14:creationId xmlns:p14="http://schemas.microsoft.com/office/powerpoint/2010/main" val="833210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2026-06-01T05:39:19.7290000Z</dcterms:created>
  <dcterms:modified xsi:type="dcterms:W3CDTF">2026-06-01T05:39:19.7290000Z</dcterms:modified>
</coreProperties>
</file>