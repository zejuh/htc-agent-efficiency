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8" r:id="rId9"/>
    <p:sldId id="264" r:id="rId10"/>
    <p:sldId id="265" r:id="rId11"/>
    <p:sldId id="266" r:id="rId12"/>
    <p:sldId id="267" r:id="rId13"/>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03"/>
    <p:restoredTop sz="77778"/>
  </p:normalViewPr>
  <p:slideViewPr>
    <p:cSldViewPr snapToGrid="0">
      <p:cViewPr varScale="1">
        <p:scale>
          <a:sx n="82" d="100"/>
          <a:sy n="82" d="100"/>
        </p:scale>
        <p:origin x="1384"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[~20s] Hi everyone. I'm Zejun, and together with Dingjiang we ask one question: when should a browser agent pay to re-observe the page, and when can it safely act from its current plan?</a:t>
            </a:r>
          </a:p>
          <a:p>
            <a:r>
              <a:rPr sz="1100">
                <a:solidFill>
                  <a:srgbClr val="94A3B8"/>
                </a:solidFill>
              </a:rPr>
              <a:t>
【中文参考翻译】
大家好。我是Zejun，和Dingjiang一起提出一个问题：浏览器 agent 什么时候应该付出代价重新观察页面，什么时候可以基于当前计划安全地行动？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[~45s] The standard agent loop observes before every action. This is safe — but observation dominates latency and cost. Every observe call is one LLM call. Some observations are genuinely needed: the page changed, the plan is stale. Others are pure overhead — the plan is still valid, and the agent would have taken the same action anyway. We want to learn to tell these apart.</a:t>
            </a:r>
          </a:p>
          <a:p>
            <a:r>
              <a:rPr sz="1100">
                <a:solidFill>
                  <a:srgbClr val="94A3B8"/>
                </a:solidFill>
              </a:rPr>
              <a:t>
【中文参考翻译】
标准 agent 循环在每个动作前都观察一次页面。这是安全的——但观察主导了延迟和成本。每次观察调用就是一次 LLM 调用。有些观察是确实需要的：页面变了，计划过时了。其他的是纯粹的开销——计划仍然有效，agent 无论如何都会采取同样的行动。我们希望学会区分这两种情况。</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[~30s] Let me show you the punchline first. Our learned gate at threshold 0.2 achieves 100% success — matching the always-observe ceiling — while using only 2.07 calls on average versus 3.53 for always. That is a 41% reduction in model calls at zero cost to accuracy or safety. The hand rule also hits 100% success but at 3.07 calls. Our gate Pareto-dominates it. I will explain how we get here.</a:t>
            </a:r>
          </a:p>
          <a:p>
            <a:r>
              <a:rPr sz="1100">
                <a:solidFill>
                  <a:srgbClr val="94A3B8"/>
                </a:solidFill>
              </a:rPr>
              <a:t>
【中文参考翻译】
先给大家看结论。我们的学习门控在阈值 0.2 时实现了 100% 成功率——与 always-observe 上界持平——同时平均只使用 2.07 次调用，而 always 需要 3.53 次。这是在准确率和安全性零损失的情况下减少了 41% 的模型调用。手工规则也能达到 100% 成功率，但需要 3.07 次调用。我们的门控 Pareto 主导了它。接下来我解释我们是怎么做到的。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dirty="0"/>
              <a:t>[~45s] The core idea: add a lightweight gate before each action. The gate uses cheap signals available before observing — screen change flag, candidate changes, plan age, model confidence — and outputs a probability that observation is needed. If the score exceeds threshold T, we observe: one LLM call, fresh DOM, re-plan. If below T, we coast: zero calls, reuse the carried plan</a:t>
            </a:r>
            <a:r>
              <a:rPr sz="1200"/>
              <a:t>. </a:t>
            </a:r>
            <a:r>
              <a:rPr sz="1100" dirty="0">
                <a:solidFill>
                  <a:srgbClr val="94A3B8"/>
                </a:solidFill>
              </a:rPr>
              <a:t>
【</a:t>
            </a:r>
            <a:r>
              <a:rPr sz="1100" dirty="0" err="1">
                <a:solidFill>
                  <a:srgbClr val="94A3B8"/>
                </a:solidFill>
              </a:rPr>
              <a:t>中文参考翻译</a:t>
            </a:r>
            <a:r>
              <a:rPr sz="1100" dirty="0">
                <a:solidFill>
                  <a:srgbClr val="94A3B8"/>
                </a:solidFill>
              </a:rPr>
              <a:t>】
</a:t>
            </a:r>
            <a:r>
              <a:rPr sz="1100" dirty="0" err="1">
                <a:solidFill>
                  <a:srgbClr val="94A3B8"/>
                </a:solidFill>
              </a:rPr>
              <a:t>核心思路是在每个动作前加一个轻量级门控。门控使用观察前就能获得的廉价信号</a:t>
            </a:r>
            <a:r>
              <a:rPr sz="1100" dirty="0">
                <a:solidFill>
                  <a:srgbClr val="94A3B8"/>
                </a:solidFill>
              </a:rPr>
              <a:t>——</a:t>
            </a:r>
            <a:r>
              <a:rPr sz="1100" dirty="0" err="1">
                <a:solidFill>
                  <a:srgbClr val="94A3B8"/>
                </a:solidFill>
              </a:rPr>
              <a:t>屏幕变化标志、候选元素变化、计划年龄、模型置信度</a:t>
            </a:r>
            <a:r>
              <a:rPr sz="1100" dirty="0">
                <a:solidFill>
                  <a:srgbClr val="94A3B8"/>
                </a:solidFill>
              </a:rPr>
              <a:t>——</a:t>
            </a:r>
            <a:r>
              <a:rPr sz="1100" dirty="0" err="1">
                <a:solidFill>
                  <a:srgbClr val="94A3B8"/>
                </a:solidFill>
              </a:rPr>
              <a:t>输出一个概率表示是否需要观察。如果分数超过阈值</a:t>
            </a:r>
            <a:r>
              <a:rPr sz="1100" dirty="0">
                <a:solidFill>
                  <a:srgbClr val="94A3B8"/>
                </a:solidFill>
              </a:rPr>
              <a:t> </a:t>
            </a:r>
            <a:r>
              <a:rPr sz="1100" dirty="0" err="1">
                <a:solidFill>
                  <a:srgbClr val="94A3B8"/>
                </a:solidFill>
              </a:rPr>
              <a:t>T，我们观察：一次</a:t>
            </a:r>
            <a:r>
              <a:rPr sz="1100" dirty="0">
                <a:solidFill>
                  <a:srgbClr val="94A3B8"/>
                </a:solidFill>
              </a:rPr>
              <a:t> LLM </a:t>
            </a:r>
            <a:r>
              <a:rPr sz="1100" dirty="0" err="1">
                <a:solidFill>
                  <a:srgbClr val="94A3B8"/>
                </a:solidFill>
              </a:rPr>
              <a:t>调用，获取新鲜</a:t>
            </a:r>
            <a:r>
              <a:rPr sz="1100" dirty="0">
                <a:solidFill>
                  <a:srgbClr val="94A3B8"/>
                </a:solidFill>
              </a:rPr>
              <a:t> </a:t>
            </a:r>
            <a:r>
              <a:rPr sz="1100" dirty="0" err="1">
                <a:solidFill>
                  <a:srgbClr val="94A3B8"/>
                </a:solidFill>
              </a:rPr>
              <a:t>DOM，重新规划。如果低于</a:t>
            </a:r>
            <a:r>
              <a:rPr sz="1100" dirty="0">
                <a:solidFill>
                  <a:srgbClr val="94A3B8"/>
                </a:solidFill>
              </a:rPr>
              <a:t> </a:t>
            </a:r>
            <a:r>
              <a:rPr sz="1100" dirty="0" err="1">
                <a:solidFill>
                  <a:srgbClr val="94A3B8"/>
                </a:solidFill>
              </a:rPr>
              <a:t>T，我们</a:t>
            </a:r>
            <a:r>
              <a:rPr sz="1100" dirty="0">
                <a:solidFill>
                  <a:srgbClr val="94A3B8"/>
                </a:solidFill>
              </a:rPr>
              <a:t> </a:t>
            </a:r>
            <a:r>
              <a:rPr sz="1100" dirty="0" err="1">
                <a:solidFill>
                  <a:srgbClr val="94A3B8"/>
                </a:solidFill>
              </a:rPr>
              <a:t>coast：零调用，沿用当前计划</a:t>
            </a:r>
            <a:r>
              <a:rPr sz="1100" dirty="0">
                <a:solidFill>
                  <a:srgbClr val="94A3B8"/>
                </a:solidFill>
              </a:rP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dirty="0"/>
              <a:t>[~40s] We evaluate on 15 tasks in four families. Static baseline is the control group — stable pages, no async changes — testing that coasting works when it should. Async results tasks introduce visible screen changes the hand rule can detect. The two adversarial families are more interesting. In </a:t>
            </a:r>
            <a:r>
              <a:rPr sz="1200" dirty="0" err="1"/>
              <a:t>value_drift</a:t>
            </a:r>
            <a:r>
              <a:rPr sz="1200" dirty="0"/>
              <a:t>, the page structure stays the same but a field value silently resolves — the agent might send to a placeholder email. In </a:t>
            </a:r>
            <a:r>
              <a:rPr sz="1200" dirty="0" err="1"/>
              <a:t>delayed_options</a:t>
            </a:r>
            <a:r>
              <a:rPr sz="1200" dirty="0"/>
              <a:t>, the correct dropdown choice appears late, so coasting picks the wrong index from a stale plan. These last two families specifically stress-test cases where a change detector would stay silent.</a:t>
            </a:r>
          </a:p>
          <a:p>
            <a:r>
              <a:rPr sz="1100" dirty="0">
                <a:solidFill>
                  <a:srgbClr val="94A3B8"/>
                </a:solidFill>
              </a:rPr>
              <a:t>
【</a:t>
            </a:r>
            <a:r>
              <a:rPr sz="1100" dirty="0" err="1">
                <a:solidFill>
                  <a:srgbClr val="94A3B8"/>
                </a:solidFill>
              </a:rPr>
              <a:t>中文参考翻译</a:t>
            </a:r>
            <a:r>
              <a:rPr sz="1100" dirty="0">
                <a:solidFill>
                  <a:srgbClr val="94A3B8"/>
                </a:solidFill>
              </a:rPr>
              <a:t>】
</a:t>
            </a:r>
            <a:r>
              <a:rPr sz="1100" dirty="0" err="1">
                <a:solidFill>
                  <a:srgbClr val="94A3B8"/>
                </a:solidFill>
              </a:rPr>
              <a:t>我们在</a:t>
            </a:r>
            <a:r>
              <a:rPr sz="1100" dirty="0">
                <a:solidFill>
                  <a:srgbClr val="94A3B8"/>
                </a:solidFill>
              </a:rPr>
              <a:t> 15 </a:t>
            </a:r>
            <a:r>
              <a:rPr sz="1100" dirty="0" err="1">
                <a:solidFill>
                  <a:srgbClr val="94A3B8"/>
                </a:solidFill>
              </a:rPr>
              <a:t>个任务的四个系列上进行评估。static_baseline</a:t>
            </a:r>
            <a:r>
              <a:rPr sz="1100" dirty="0">
                <a:solidFill>
                  <a:srgbClr val="94A3B8"/>
                </a:solidFill>
              </a:rPr>
              <a:t> </a:t>
            </a:r>
            <a:r>
              <a:rPr sz="1100" dirty="0" err="1">
                <a:solidFill>
                  <a:srgbClr val="94A3B8"/>
                </a:solidFill>
              </a:rPr>
              <a:t>是对照组</a:t>
            </a:r>
            <a:r>
              <a:rPr sz="1100" dirty="0">
                <a:solidFill>
                  <a:srgbClr val="94A3B8"/>
                </a:solidFill>
              </a:rPr>
              <a:t>——</a:t>
            </a:r>
            <a:r>
              <a:rPr sz="1100" dirty="0" err="1">
                <a:solidFill>
                  <a:srgbClr val="94A3B8"/>
                </a:solidFill>
              </a:rPr>
              <a:t>稳定页面，无异步变化</a:t>
            </a:r>
            <a:r>
              <a:rPr sz="1100" dirty="0">
                <a:solidFill>
                  <a:srgbClr val="94A3B8"/>
                </a:solidFill>
              </a:rPr>
              <a:t>——</a:t>
            </a:r>
            <a:r>
              <a:rPr sz="1100" dirty="0" err="1">
                <a:solidFill>
                  <a:srgbClr val="94A3B8"/>
                </a:solidFill>
              </a:rPr>
              <a:t>测试在应该</a:t>
            </a:r>
            <a:r>
              <a:rPr sz="1100" dirty="0">
                <a:solidFill>
                  <a:srgbClr val="94A3B8"/>
                </a:solidFill>
              </a:rPr>
              <a:t> coast </a:t>
            </a:r>
            <a:r>
              <a:rPr sz="1100" dirty="0" err="1">
                <a:solidFill>
                  <a:srgbClr val="94A3B8"/>
                </a:solidFill>
              </a:rPr>
              <a:t>时能正确</a:t>
            </a:r>
            <a:r>
              <a:rPr sz="1100" dirty="0">
                <a:solidFill>
                  <a:srgbClr val="94A3B8"/>
                </a:solidFill>
              </a:rPr>
              <a:t> </a:t>
            </a:r>
            <a:r>
              <a:rPr sz="1100" dirty="0" err="1">
                <a:solidFill>
                  <a:srgbClr val="94A3B8"/>
                </a:solidFill>
              </a:rPr>
              <a:t>coast。async_results</a:t>
            </a:r>
            <a:r>
              <a:rPr sz="1100" dirty="0">
                <a:solidFill>
                  <a:srgbClr val="94A3B8"/>
                </a:solidFill>
              </a:rPr>
              <a:t> </a:t>
            </a:r>
            <a:r>
              <a:rPr sz="1100" dirty="0" err="1">
                <a:solidFill>
                  <a:srgbClr val="94A3B8"/>
                </a:solidFill>
              </a:rPr>
              <a:t>任务引入了手工规则可以检测到的可见屏幕变化。两个对抗性系列更有趣。在</a:t>
            </a:r>
            <a:r>
              <a:rPr sz="1100" dirty="0">
                <a:solidFill>
                  <a:srgbClr val="94A3B8"/>
                </a:solidFill>
              </a:rPr>
              <a:t> </a:t>
            </a:r>
            <a:r>
              <a:rPr sz="1100" dirty="0" err="1">
                <a:solidFill>
                  <a:srgbClr val="94A3B8"/>
                </a:solidFill>
              </a:rPr>
              <a:t>value_drift</a:t>
            </a:r>
            <a:r>
              <a:rPr sz="1100" dirty="0">
                <a:solidFill>
                  <a:srgbClr val="94A3B8"/>
                </a:solidFill>
              </a:rPr>
              <a:t> </a:t>
            </a:r>
            <a:r>
              <a:rPr sz="1100" dirty="0" err="1">
                <a:solidFill>
                  <a:srgbClr val="94A3B8"/>
                </a:solidFill>
              </a:rPr>
              <a:t>中，页面结构不变，但字段值悄悄解析</a:t>
            </a:r>
            <a:r>
              <a:rPr sz="1100" dirty="0">
                <a:solidFill>
                  <a:srgbClr val="94A3B8"/>
                </a:solidFill>
              </a:rPr>
              <a:t>——agent </a:t>
            </a:r>
            <a:r>
              <a:rPr sz="1100" dirty="0" err="1">
                <a:solidFill>
                  <a:srgbClr val="94A3B8"/>
                </a:solidFill>
              </a:rPr>
              <a:t>可能发送到占位符邮件。在</a:t>
            </a:r>
            <a:r>
              <a:rPr sz="1100" dirty="0">
                <a:solidFill>
                  <a:srgbClr val="94A3B8"/>
                </a:solidFill>
              </a:rPr>
              <a:t> </a:t>
            </a:r>
            <a:r>
              <a:rPr sz="1100" dirty="0" err="1">
                <a:solidFill>
                  <a:srgbClr val="94A3B8"/>
                </a:solidFill>
              </a:rPr>
              <a:t>delayed_options</a:t>
            </a:r>
            <a:r>
              <a:rPr sz="1100" dirty="0">
                <a:solidFill>
                  <a:srgbClr val="94A3B8"/>
                </a:solidFill>
              </a:rPr>
              <a:t> </a:t>
            </a:r>
            <a:r>
              <a:rPr sz="1100" dirty="0" err="1">
                <a:solidFill>
                  <a:srgbClr val="94A3B8"/>
                </a:solidFill>
              </a:rPr>
              <a:t>中，正确的下拉选项出现得较晚，因此</a:t>
            </a:r>
            <a:r>
              <a:rPr sz="1100" dirty="0">
                <a:solidFill>
                  <a:srgbClr val="94A3B8"/>
                </a:solidFill>
              </a:rPr>
              <a:t> coasting </a:t>
            </a:r>
            <a:r>
              <a:rPr sz="1100" dirty="0" err="1">
                <a:solidFill>
                  <a:srgbClr val="94A3B8"/>
                </a:solidFill>
              </a:rPr>
              <a:t>从过时的计划中选错了索引。后两个系列专门压力测试变化检测器会保持沉默的情况</a:t>
            </a:r>
            <a:r>
              <a:rPr sz="1100" dirty="0">
                <a:solidFill>
                  <a:srgbClr val="94A3B8"/>
                </a:solidFill>
              </a:rPr>
              <a:t>。</a:t>
            </a:r>
            <a:endParaRPr lang="en-US" sz="1100" dirty="0">
              <a:solidFill>
                <a:srgbClr val="94A3B8"/>
              </a:solidFill>
            </a:endParaRPr>
          </a:p>
          <a:p>
            <a:endParaRPr lang="en-US" sz="1100" dirty="0">
              <a:solidFill>
                <a:srgbClr val="94A3B8"/>
              </a:solidFill>
            </a:endParaRPr>
          </a:p>
          <a:p>
            <a:r>
              <a:rPr lang="en-US" sz="1100" dirty="0">
                <a:solidFill>
                  <a:srgbClr val="94A3B8"/>
                </a:solidFill>
              </a:rPr>
              <a:t>static_baseline（5</a:t>
            </a:r>
            <a:r>
              <a:rPr lang="zh-CN" altLang="en-US" sz="1100" dirty="0">
                <a:solidFill>
                  <a:srgbClr val="94A3B8"/>
                </a:solidFill>
              </a:rPr>
              <a:t>个）：普通稳定工作流（</a:t>
            </a:r>
            <a:r>
              <a:rPr lang="en-US" sz="1100" dirty="0">
                <a:solidFill>
                  <a:srgbClr val="94A3B8"/>
                </a:solidFill>
              </a:rPr>
              <a:t>mail/shop/contacts/settings/files），</a:t>
            </a:r>
            <a:r>
              <a:rPr lang="zh-CN" altLang="en-US" sz="1100" dirty="0">
                <a:solidFill>
                  <a:srgbClr val="94A3B8"/>
                </a:solidFill>
              </a:rPr>
              <a:t>粗信号够用。</a:t>
            </a:r>
          </a:p>
          <a:p>
            <a:r>
              <a:rPr lang="en-US" sz="1100" dirty="0">
                <a:solidFill>
                  <a:srgbClr val="94A3B8"/>
                </a:solidFill>
              </a:rPr>
              <a:t>async_results（4</a:t>
            </a:r>
            <a:r>
              <a:rPr lang="zh-CN" altLang="en-US" sz="1100" dirty="0">
                <a:solidFill>
                  <a:srgbClr val="94A3B8"/>
                </a:solidFill>
              </a:rPr>
              <a:t>个）：搜索结果延迟渲染。</a:t>
            </a:r>
          </a:p>
          <a:p>
            <a:r>
              <a:rPr lang="en-US" sz="1100" dirty="0">
                <a:solidFill>
                  <a:srgbClr val="94A3B8"/>
                </a:solidFill>
              </a:rPr>
              <a:t>value_drift（3</a:t>
            </a:r>
            <a:r>
              <a:rPr lang="zh-CN" altLang="en-US" sz="1100" dirty="0">
                <a:solidFill>
                  <a:srgbClr val="94A3B8"/>
                </a:solidFill>
              </a:rPr>
              <a:t>个，最关键）：比如</a:t>
            </a:r>
            <a:r>
              <a:rPr lang="en-US" altLang="zh-CN" sz="1100" dirty="0">
                <a:solidFill>
                  <a:srgbClr val="94A3B8"/>
                </a:solidFill>
              </a:rPr>
              <a:t>"</a:t>
            </a:r>
            <a:r>
              <a:rPr lang="zh-CN" altLang="en-US" sz="1100" dirty="0">
                <a:solidFill>
                  <a:srgbClr val="94A3B8"/>
                </a:solidFill>
              </a:rPr>
              <a:t>建议收件人</a:t>
            </a:r>
            <a:r>
              <a:rPr lang="en-US" altLang="zh-CN" sz="1100" dirty="0">
                <a:solidFill>
                  <a:srgbClr val="94A3B8"/>
                </a:solidFill>
              </a:rPr>
              <a:t>"</a:t>
            </a:r>
            <a:r>
              <a:rPr lang="zh-CN" altLang="en-US" sz="1100" dirty="0">
                <a:solidFill>
                  <a:srgbClr val="94A3B8"/>
                </a:solidFill>
              </a:rPr>
              <a:t>字段先显示 </a:t>
            </a:r>
            <a:r>
              <a:rPr lang="en-US" sz="1100" dirty="0">
                <a:solidFill>
                  <a:srgbClr val="94A3B8"/>
                </a:solidFill>
              </a:rPr>
              <a:t>Resolving…，</a:t>
            </a:r>
            <a:r>
              <a:rPr lang="zh-CN" altLang="en-US" sz="1100" dirty="0">
                <a:solidFill>
                  <a:srgbClr val="94A3B8"/>
                </a:solidFill>
              </a:rPr>
              <a:t>过一会才解析成真实地址。控件集合从头到尾不变，只有字段的</a:t>
            </a:r>
            <a:r>
              <a:rPr lang="en-US" altLang="zh-CN" sz="1100" dirty="0">
                <a:solidFill>
                  <a:srgbClr val="94A3B8"/>
                </a:solidFill>
              </a:rPr>
              <a:t>"</a:t>
            </a:r>
            <a:r>
              <a:rPr lang="zh-CN" altLang="en-US" sz="1100" dirty="0">
                <a:solidFill>
                  <a:srgbClr val="94A3B8"/>
                </a:solidFill>
              </a:rPr>
              <a:t>值</a:t>
            </a:r>
            <a:r>
              <a:rPr lang="en-US" altLang="zh-CN" sz="1100" dirty="0">
                <a:solidFill>
                  <a:srgbClr val="94A3B8"/>
                </a:solidFill>
              </a:rPr>
              <a:t>"</a:t>
            </a:r>
            <a:r>
              <a:rPr lang="zh-CN" altLang="en-US" sz="1100" dirty="0">
                <a:solidFill>
                  <a:srgbClr val="94A3B8"/>
                </a:solidFill>
              </a:rPr>
              <a:t>变了</a:t>
            </a:r>
            <a:r>
              <a:rPr lang="en-US" altLang="zh-CN" sz="1100" dirty="0">
                <a:solidFill>
                  <a:srgbClr val="94A3B8"/>
                </a:solidFill>
              </a:rPr>
              <a:t>——</a:t>
            </a:r>
            <a:r>
              <a:rPr lang="zh-CN" altLang="en-US" sz="1100" dirty="0">
                <a:solidFill>
                  <a:srgbClr val="94A3B8"/>
                </a:solidFill>
              </a:rPr>
              <a:t>所以粗信号完全察觉不到，但模型自报的</a:t>
            </a:r>
            <a:r>
              <a:rPr lang="en-US" altLang="zh-CN" sz="1100" dirty="0">
                <a:solidFill>
                  <a:srgbClr val="94A3B8"/>
                </a:solidFill>
              </a:rPr>
              <a:t>"</a:t>
            </a:r>
            <a:r>
              <a:rPr lang="zh-CN" altLang="en-US" sz="1100" dirty="0">
                <a:solidFill>
                  <a:srgbClr val="94A3B8"/>
                </a:solidFill>
              </a:rPr>
              <a:t>信心值</a:t>
            </a:r>
            <a:r>
              <a:rPr lang="en-US" altLang="zh-CN" sz="1100" dirty="0">
                <a:solidFill>
                  <a:srgbClr val="94A3B8"/>
                </a:solidFill>
              </a:rPr>
              <a:t>"</a:t>
            </a:r>
            <a:r>
              <a:rPr lang="zh-CN" altLang="en-US" sz="1100" dirty="0">
                <a:solidFill>
                  <a:srgbClr val="94A3B8"/>
                </a:solidFill>
              </a:rPr>
              <a:t>能察觉。这是整个对比的智力核心。</a:t>
            </a:r>
          </a:p>
          <a:p>
            <a:r>
              <a:rPr lang="en-US" sz="1100" dirty="0">
                <a:solidFill>
                  <a:srgbClr val="94A3B8"/>
                </a:solidFill>
              </a:rPr>
              <a:t>delayed_options（3</a:t>
            </a:r>
            <a:r>
              <a:rPr lang="zh-CN" altLang="en-US" sz="1100" dirty="0">
                <a:solidFill>
                  <a:srgbClr val="94A3B8"/>
                </a:solidFill>
              </a:rPr>
              <a:t>个）：下拉框选择器不变，但正确选项要等面板加载完才出现。</a:t>
            </a:r>
            <a:endParaRPr sz="1100" dirty="0">
              <a:solidFill>
                <a:srgbClr val="94A3B8"/>
              </a:solidFil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[~55s] Here is how we generate training labels without extra API calls. We run an always-observe oracle on the task suite. At each step, we ask counterfactually: if the agent had NOT re-observed and instead executed from its carried plan, would it have taken the right action? If yes — label 0, observation was redundant. If no — label 1, observation was necessary. This is DAgger-style: the oracle provides supervised labels at each step in the actual trajectory. We train logistic regression on 14 cheap features. The logistic model was auto-selected over MLP: 90.9% decision accuracy versus 69.7% for the hand rule, and the false-skip rate drops from 12.1% to 3.0%.</a:t>
            </a:r>
          </a:p>
          <a:p>
            <a:r>
              <a:rPr sz="1100">
                <a:solidFill>
                  <a:srgbClr val="94A3B8"/>
                </a:solidFill>
              </a:rPr>
              <a:t>
【中文参考翻译】
下面是我们如何不需要额外 API 调用来生成训练标签的。我们在任务套件上运行一个 always-observe oracle。在每一步，我们反事实地问：如果 agent 没有重新观察而是从当前计划执行，它会采取正确的行动吗？如果是——标签 0，观察是多余的。如果否——标签 1，观察是必要的。这是一种 DAgger 风格的方法：oracle 在实际轨迹的每一步提供监督标签。我们在 14 个廉价特征上训练逻辑回归。逻辑模型被自动选择优于 MLP：90.9% 的决策准确率，而手工规则只有 69.7%，漏跳率从 12.1% 降低到 3.0%。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dirty="0"/>
              <a:t>[~50s] A key concern is whether the gate relies on fragile or hard-to-port features. So we ran a feature ablation. The full gate uses 14 features. The compact gate uses just </a:t>
            </a:r>
            <a:r>
              <a:rPr lang="en-US" altLang="zh-CN" sz="1200" dirty="0"/>
              <a:t>eight</a:t>
            </a:r>
            <a:r>
              <a:rPr sz="1200" dirty="0"/>
              <a:t>. The compact gate still achieves 100% success and still reduces calls compared to always, though it uses more calls than the full gate. This matters for portability: the </a:t>
            </a:r>
            <a:r>
              <a:rPr lang="en-US" altLang="zh-CN" sz="1200" dirty="0"/>
              <a:t>eight</a:t>
            </a:r>
            <a:r>
              <a:rPr sz="1200" dirty="0"/>
              <a:t> compact features are available in almost any DOM-based agent framework, so the approach generalizes without retraining on a new feature set.</a:t>
            </a:r>
          </a:p>
          <a:p>
            <a:r>
              <a:rPr sz="1100" dirty="0">
                <a:solidFill>
                  <a:srgbClr val="94A3B8"/>
                </a:solidFill>
              </a:rPr>
              <a:t>
【</a:t>
            </a:r>
            <a:r>
              <a:rPr sz="1100" dirty="0" err="1">
                <a:solidFill>
                  <a:srgbClr val="94A3B8"/>
                </a:solidFill>
              </a:rPr>
              <a:t>中文参考翻译</a:t>
            </a:r>
            <a:r>
              <a:rPr sz="1100" dirty="0">
                <a:solidFill>
                  <a:srgbClr val="94A3B8"/>
                </a:solidFill>
              </a:rPr>
              <a:t>】
</a:t>
            </a:r>
            <a:r>
              <a:rPr sz="1100" dirty="0" err="1">
                <a:solidFill>
                  <a:srgbClr val="94A3B8"/>
                </a:solidFill>
              </a:rPr>
              <a:t>一个关键问题是门控是否依赖于脆弱或难以移植的特征。所以我们进行了特征消融实验。完整门控使用</a:t>
            </a:r>
            <a:r>
              <a:rPr sz="1100" dirty="0">
                <a:solidFill>
                  <a:srgbClr val="94A3B8"/>
                </a:solidFill>
              </a:rPr>
              <a:t> 14 个特征。紧凑门控只使用四个：no_plan、screen_changed_last、candidates_changed_last </a:t>
            </a:r>
            <a:r>
              <a:rPr sz="1100" dirty="0" err="1">
                <a:solidFill>
                  <a:srgbClr val="94A3B8"/>
                </a:solidFill>
              </a:rPr>
              <a:t>和</a:t>
            </a:r>
            <a:r>
              <a:rPr sz="1100" dirty="0">
                <a:solidFill>
                  <a:srgbClr val="94A3B8"/>
                </a:solidFill>
              </a:rPr>
              <a:t> </a:t>
            </a:r>
            <a:r>
              <a:rPr sz="1100" dirty="0" err="1">
                <a:solidFill>
                  <a:srgbClr val="94A3B8"/>
                </a:solidFill>
              </a:rPr>
              <a:t>steps_since_observe。紧凑门控仍然实现了</a:t>
            </a:r>
            <a:r>
              <a:rPr sz="1100" dirty="0">
                <a:solidFill>
                  <a:srgbClr val="94A3B8"/>
                </a:solidFill>
              </a:rPr>
              <a:t> 100% </a:t>
            </a:r>
            <a:r>
              <a:rPr sz="1100" dirty="0" err="1">
                <a:solidFill>
                  <a:srgbClr val="94A3B8"/>
                </a:solidFill>
              </a:rPr>
              <a:t>的成功率，与</a:t>
            </a:r>
            <a:r>
              <a:rPr sz="1100" dirty="0">
                <a:solidFill>
                  <a:srgbClr val="94A3B8"/>
                </a:solidFill>
              </a:rPr>
              <a:t> always </a:t>
            </a:r>
            <a:r>
              <a:rPr sz="1100" dirty="0" err="1">
                <a:solidFill>
                  <a:srgbClr val="94A3B8"/>
                </a:solidFill>
              </a:rPr>
              <a:t>相比仍然减少了调用次数，尽管比完整门控使用了更多调用。这对可移植性很重要：四个紧凑特征在几乎任何基于</a:t>
            </a:r>
            <a:r>
              <a:rPr sz="1100" dirty="0">
                <a:solidFill>
                  <a:srgbClr val="94A3B8"/>
                </a:solidFill>
              </a:rPr>
              <a:t> DOM </a:t>
            </a:r>
            <a:r>
              <a:rPr sz="1100" dirty="0" err="1">
                <a:solidFill>
                  <a:srgbClr val="94A3B8"/>
                </a:solidFill>
              </a:rPr>
              <a:t>的</a:t>
            </a:r>
            <a:r>
              <a:rPr sz="1100" dirty="0">
                <a:solidFill>
                  <a:srgbClr val="94A3B8"/>
                </a:solidFill>
              </a:rPr>
              <a:t> agent </a:t>
            </a:r>
            <a:r>
              <a:rPr sz="1100" dirty="0" err="1">
                <a:solidFill>
                  <a:srgbClr val="94A3B8"/>
                </a:solidFill>
              </a:rPr>
              <a:t>框架中都可用，因此该方法无需在新特征集上重新训练即可推广</a:t>
            </a:r>
            <a:r>
              <a:rPr sz="1100" dirty="0">
                <a:solidFill>
                  <a:srgbClr val="94A3B8"/>
                </a:solidFill>
              </a:rPr>
              <a:t>。</a:t>
            </a:r>
            <a:endParaRPr lang="en-US" sz="1100" dirty="0">
              <a:solidFill>
                <a:srgbClr val="94A3B8"/>
              </a:solidFill>
            </a:endParaRPr>
          </a:p>
          <a:p>
            <a:endParaRPr lang="en-US" sz="1100" dirty="0">
              <a:solidFill>
                <a:srgbClr val="94A3B8"/>
              </a:solidFill>
            </a:endParaRPr>
          </a:p>
          <a:p>
            <a:r>
              <a:rPr lang="zh-CN" altLang="en-US" sz="1200" b="0" i="0" kern="1200" dirty="0">
                <a:effectLst/>
              </a:rPr>
              <a:t>门控拿到的就是下面这个 </a:t>
            </a:r>
            <a:r>
              <a:rPr lang="en-US" altLang="zh-CN" sz="1200" b="1" i="0" kern="1200" dirty="0">
                <a:effectLst/>
              </a:rPr>
              <a:t>15 </a:t>
            </a:r>
            <a:r>
              <a:rPr lang="zh-CN" altLang="en-US" sz="1200" b="1" i="0" kern="1200" dirty="0">
                <a:effectLst/>
              </a:rPr>
              <a:t>维向量</a:t>
            </a:r>
            <a:r>
              <a:rPr lang="en-US" altLang="zh-CN" sz="1200" b="0" i="0" kern="1200" dirty="0">
                <a:effectLst/>
              </a:rPr>
              <a:t>(1 </a:t>
            </a:r>
            <a:r>
              <a:rPr lang="zh-CN" altLang="en-US" sz="1200" b="0" i="0" kern="1200" dirty="0">
                <a:effectLst/>
              </a:rPr>
              <a:t>个 </a:t>
            </a:r>
            <a:r>
              <a:rPr lang="en-US" altLang="zh-CN" sz="1200" b="0" i="0" kern="1200" dirty="0">
                <a:effectLst/>
              </a:rPr>
              <a:t>bias + 14 </a:t>
            </a:r>
            <a:r>
              <a:rPr lang="zh-CN" altLang="en-US" sz="1200" b="0" i="0" kern="1200" dirty="0">
                <a:effectLst/>
              </a:rPr>
              <a:t>个特征</a:t>
            </a:r>
            <a:r>
              <a:rPr lang="en-US" altLang="zh-CN" sz="1200" b="0" i="0" kern="1200" dirty="0">
                <a:effectLst/>
              </a:rPr>
              <a:t>),</a:t>
            </a:r>
            <a:r>
              <a:rPr lang="zh-CN" altLang="en-US" sz="1200" b="0" i="0" kern="1200" dirty="0">
                <a:effectLst/>
              </a:rPr>
              <a:t>全部是观察之前就能算出来的廉价信号</a:t>
            </a:r>
            <a:r>
              <a:rPr lang="en-US" altLang="zh-CN" sz="1200" b="0" i="0" kern="1200" dirty="0">
                <a:effectLst/>
              </a:rPr>
              <a:t>:</a:t>
            </a:r>
          </a:p>
          <a:p>
            <a:r>
              <a:rPr lang="zh-CN" altLang="en-US" sz="1200" b="0" i="0" kern="1200" dirty="0">
                <a:effectLst/>
              </a:rPr>
              <a:t>特征                                           值                含义</a:t>
            </a:r>
            <a:endParaRPr lang="en-US" altLang="zh-CN" sz="1200" b="0" i="0" kern="1200" dirty="0">
              <a:effectLst/>
            </a:endParaRPr>
          </a:p>
          <a:p>
            <a:r>
              <a:rPr lang="en-US" altLang="zh-CN" sz="1200" b="0" i="0" kern="1200" dirty="0">
                <a:effectLst/>
              </a:rPr>
              <a:t>Bias</a:t>
            </a:r>
            <a:r>
              <a:rPr lang="zh-CN" altLang="en-US" sz="1200" b="0" i="0" kern="1200" dirty="0">
                <a:effectLst/>
              </a:rPr>
              <a:t>                                            </a:t>
            </a:r>
            <a:r>
              <a:rPr lang="en-US" altLang="zh-CN" sz="1200" b="0" i="0" kern="1200" dirty="0">
                <a:effectLst/>
              </a:rPr>
              <a:t>1</a:t>
            </a:r>
            <a:r>
              <a:rPr lang="zh-CN" altLang="en-US" sz="1200" b="0" i="0" kern="1200" dirty="0">
                <a:effectLst/>
              </a:rPr>
              <a:t>                 截距项</a:t>
            </a:r>
            <a:r>
              <a:rPr lang="en-US" altLang="zh-CN" sz="1200" b="0" i="0" kern="1200" dirty="0">
                <a:effectLst/>
              </a:rPr>
              <a:t>(</a:t>
            </a:r>
            <a:r>
              <a:rPr lang="zh-CN" altLang="en-US" sz="1200" b="0" i="0" kern="1200" dirty="0">
                <a:effectLst/>
              </a:rPr>
              <a:t>恒为</a:t>
            </a:r>
            <a:r>
              <a:rPr lang="en-US" altLang="zh-CN" sz="1200" b="0" i="0" kern="1200" dirty="0">
                <a:effectLst/>
              </a:rPr>
              <a:t>1)</a:t>
            </a:r>
          </a:p>
          <a:p>
            <a:r>
              <a:rPr lang="en-US" altLang="zh-CN" sz="1200" b="0" i="0" kern="1200" dirty="0" err="1">
                <a:effectLst/>
              </a:rPr>
              <a:t>no_plan</a:t>
            </a:r>
            <a:r>
              <a:rPr lang="zh-CN" altLang="en-US" sz="1200" b="0" i="0" kern="1200" dirty="0">
                <a:effectLst/>
              </a:rPr>
              <a:t>                                      </a:t>
            </a:r>
            <a:r>
              <a:rPr lang="en-US" altLang="zh-CN" sz="1200" b="0" i="0" kern="1200" dirty="0">
                <a:effectLst/>
              </a:rPr>
              <a:t>0</a:t>
            </a:r>
            <a:r>
              <a:rPr lang="zh-CN" altLang="en-US" sz="1200" b="0" i="0" kern="1200" dirty="0">
                <a:effectLst/>
              </a:rPr>
              <a:t>                 手里</a:t>
            </a:r>
            <a:r>
              <a:rPr lang="zh-CN" altLang="en-US" sz="1200" b="1" i="0" kern="1200" dirty="0">
                <a:effectLst/>
              </a:rPr>
              <a:t>有</a:t>
            </a:r>
            <a:r>
              <a:rPr lang="zh-CN" altLang="en-US" sz="1200" b="0" i="0" kern="1200" dirty="0">
                <a:effectLst/>
              </a:rPr>
              <a:t>计划</a:t>
            </a:r>
            <a:r>
              <a:rPr lang="en-US" altLang="zh-CN" sz="1200" b="0" i="0" kern="1200" dirty="0">
                <a:effectLst/>
              </a:rPr>
              <a:t>(</a:t>
            </a:r>
            <a:r>
              <a:rPr lang="zh-CN" altLang="en-US" sz="1200" b="0" i="0" kern="1200" dirty="0">
                <a:effectLst/>
              </a:rPr>
              <a:t>不是</a:t>
            </a:r>
            <a:r>
              <a:rPr lang="en-US" altLang="zh-CN" sz="1200" b="0" i="0" kern="1200" dirty="0">
                <a:effectLst/>
              </a:rPr>
              <a:t>0</a:t>
            </a:r>
            <a:r>
              <a:rPr lang="zh-CN" altLang="en-US" sz="1200" b="0" i="0" kern="1200" dirty="0">
                <a:effectLst/>
              </a:rPr>
              <a:t>就表示有</a:t>
            </a:r>
            <a:r>
              <a:rPr lang="en-US" altLang="zh-CN" sz="1200" b="0" i="0" kern="1200" dirty="0">
                <a:effectLst/>
              </a:rPr>
              <a:t>)</a:t>
            </a:r>
          </a:p>
          <a:p>
            <a:r>
              <a:rPr lang="en-US" altLang="zh-CN" sz="1200" b="0" i="0" kern="1200" dirty="0" err="1">
                <a:effectLst/>
              </a:rPr>
              <a:t>screen_changed_last</a:t>
            </a:r>
            <a:r>
              <a:rPr lang="zh-CN" altLang="en-US" sz="1200" b="0" i="0" kern="1200" dirty="0">
                <a:effectLst/>
              </a:rPr>
              <a:t>                  </a:t>
            </a:r>
            <a:r>
              <a:rPr lang="en-US" altLang="zh-CN" sz="1200" b="0" i="0" kern="1200" dirty="0">
                <a:effectLst/>
              </a:rPr>
              <a:t>1</a:t>
            </a:r>
            <a:r>
              <a:rPr lang="zh-CN" altLang="en-US" sz="1200" b="0" i="0" kern="1200" dirty="0">
                <a:effectLst/>
              </a:rPr>
              <a:t>                 上一步之后屏幕</a:t>
            </a:r>
            <a:r>
              <a:rPr lang="zh-CN" altLang="en-US" sz="1200" b="1" i="0" kern="1200" dirty="0">
                <a:effectLst/>
              </a:rPr>
              <a:t>变了</a:t>
            </a:r>
            <a:endParaRPr lang="en-US" altLang="zh-CN" sz="1200" b="1" i="0" kern="1200" dirty="0">
              <a:effectLst/>
            </a:endParaRPr>
          </a:p>
          <a:p>
            <a:r>
              <a:rPr lang="en-US" altLang="zh-CN" sz="1200" b="0" i="0" kern="1200" dirty="0" err="1">
                <a:effectLst/>
              </a:rPr>
              <a:t>candidates_changed_last</a:t>
            </a:r>
            <a:r>
              <a:rPr lang="zh-CN" altLang="en-US" sz="1200" b="0" i="0" kern="1200" dirty="0">
                <a:effectLst/>
              </a:rPr>
              <a:t>           </a:t>
            </a:r>
            <a:r>
              <a:rPr lang="en-US" altLang="zh-CN" sz="1200" b="0" i="0" kern="1200" dirty="0">
                <a:effectLst/>
              </a:rPr>
              <a:t>1</a:t>
            </a:r>
            <a:r>
              <a:rPr lang="zh-CN" altLang="en-US" sz="1200" b="0" i="0" kern="1200" dirty="0">
                <a:effectLst/>
              </a:rPr>
              <a:t>                 可点击控件集合</a:t>
            </a:r>
            <a:r>
              <a:rPr lang="zh-CN" altLang="en-US" sz="1200" b="1" i="0" kern="1200" dirty="0">
                <a:effectLst/>
              </a:rPr>
              <a:t>变了</a:t>
            </a:r>
            <a:endParaRPr lang="en-US" altLang="zh-CN" sz="1200" b="1" i="0" kern="1200" dirty="0">
              <a:effectLst/>
            </a:endParaRPr>
          </a:p>
          <a:p>
            <a:r>
              <a:rPr lang="en-US" altLang="zh-CN" sz="1200" b="0" i="0" kern="1200" dirty="0" err="1">
                <a:effectLst/>
              </a:rPr>
              <a:t>steps_since_observe</a:t>
            </a:r>
            <a:r>
              <a:rPr lang="zh-CN" altLang="en-US" sz="1200" b="0" i="0" kern="1200" dirty="0">
                <a:effectLst/>
              </a:rPr>
              <a:t>                   </a:t>
            </a:r>
            <a:r>
              <a:rPr lang="en-US" altLang="zh-CN" sz="1200" b="0" i="0" kern="1200" dirty="0">
                <a:effectLst/>
              </a:rPr>
              <a:t>0.1</a:t>
            </a:r>
            <a:r>
              <a:rPr lang="zh-CN" altLang="en-US" sz="1200" b="0" i="0" kern="1200" dirty="0">
                <a:effectLst/>
              </a:rPr>
              <a:t>              距上次观察走了 </a:t>
            </a:r>
            <a:r>
              <a:rPr lang="en-US" altLang="zh-CN" sz="1200" b="0" i="0" kern="1200" dirty="0">
                <a:effectLst/>
              </a:rPr>
              <a:t>1 </a:t>
            </a:r>
            <a:r>
              <a:rPr lang="zh-CN" altLang="en-US" sz="1200" b="0" i="0" kern="1200" dirty="0">
                <a:effectLst/>
              </a:rPr>
              <a:t>步</a:t>
            </a:r>
            <a:r>
              <a:rPr lang="en-US" altLang="zh-CN" sz="1200" b="0" i="0" kern="1200" dirty="0">
                <a:effectLst/>
              </a:rPr>
              <a:t>(</a:t>
            </a:r>
            <a:r>
              <a:rPr lang="zh-CN" altLang="en-US" sz="1200" b="0" i="0" kern="1200" dirty="0">
                <a:effectLst/>
              </a:rPr>
              <a:t>归一化 </a:t>
            </a:r>
            <a:r>
              <a:rPr lang="en-US" altLang="zh-CN" sz="1200" b="0" i="0" kern="1200" dirty="0">
                <a:effectLst/>
              </a:rPr>
              <a:t>1/10)</a:t>
            </a:r>
          </a:p>
          <a:p>
            <a:r>
              <a:rPr lang="en-US" altLang="zh-CN" sz="1200" b="0" i="0" kern="1200" dirty="0" err="1">
                <a:effectLst/>
              </a:rPr>
              <a:t>remaining_plan_len</a:t>
            </a:r>
            <a:r>
              <a:rPr lang="zh-CN" altLang="en-US" sz="1200" b="0" i="0" kern="1200" dirty="0">
                <a:effectLst/>
              </a:rPr>
              <a:t>                    </a:t>
            </a:r>
            <a:r>
              <a:rPr lang="en-US" altLang="zh-CN" sz="1200" b="0" i="0" kern="1200" dirty="0">
                <a:effectLst/>
              </a:rPr>
              <a:t>0.25</a:t>
            </a:r>
            <a:r>
              <a:rPr lang="zh-CN" altLang="en-US" sz="1200" b="0" i="0" kern="1200" dirty="0">
                <a:effectLst/>
              </a:rPr>
              <a:t>            计划还剩 </a:t>
            </a:r>
            <a:r>
              <a:rPr lang="en-US" altLang="zh-CN" sz="1200" b="0" i="0" kern="1200" dirty="0">
                <a:effectLst/>
              </a:rPr>
              <a:t>2 </a:t>
            </a:r>
            <a:r>
              <a:rPr lang="zh-CN" altLang="en-US" sz="1200" b="0" i="0" kern="1200" dirty="0">
                <a:effectLst/>
              </a:rPr>
              <a:t>步</a:t>
            </a:r>
            <a:r>
              <a:rPr lang="en-US" altLang="zh-CN" sz="1200" b="0" i="0" kern="1200" dirty="0">
                <a:effectLst/>
              </a:rPr>
              <a:t>(</a:t>
            </a:r>
            <a:r>
              <a:rPr lang="zh-CN" altLang="en-US" sz="1200" b="0" i="0" kern="1200" dirty="0">
                <a:effectLst/>
              </a:rPr>
              <a:t>归一化 </a:t>
            </a:r>
            <a:r>
              <a:rPr lang="en-US" altLang="zh-CN" sz="1200" b="0" i="0" kern="1200" dirty="0">
                <a:effectLst/>
              </a:rPr>
              <a:t>2/8)</a:t>
            </a:r>
          </a:p>
          <a:p>
            <a:r>
              <a:rPr lang="en-US" altLang="zh-CN" sz="1200" b="0" i="0" kern="1200" dirty="0" err="1">
                <a:effectLst/>
              </a:rPr>
              <a:t>next_is_click</a:t>
            </a:r>
            <a:r>
              <a:rPr lang="zh-CN" altLang="en-US" sz="1200" b="0" i="0" kern="1200" dirty="0">
                <a:effectLst/>
              </a:rPr>
              <a:t>                                </a:t>
            </a:r>
            <a:r>
              <a:rPr lang="en-US" altLang="zh-CN" sz="1200" b="0" i="0" kern="1200" dirty="0">
                <a:effectLst/>
              </a:rPr>
              <a:t>0</a:t>
            </a:r>
            <a:r>
              <a:rPr lang="zh-CN" altLang="en-US" sz="1200" b="0" i="0" kern="1200" dirty="0">
                <a:effectLst/>
              </a:rPr>
              <a:t>                </a:t>
            </a:r>
            <a:r>
              <a:rPr lang="en-US" altLang="zh-CN" sz="1200" b="0" i="0" kern="1200" dirty="0">
                <a:effectLst/>
              </a:rPr>
              <a:t>┐</a:t>
            </a:r>
          </a:p>
          <a:p>
            <a:r>
              <a:rPr lang="en-US" altLang="zh-CN" sz="1200" b="0" i="0" kern="1200" dirty="0" err="1">
                <a:effectLst/>
              </a:rPr>
              <a:t>next_is_fill</a:t>
            </a:r>
            <a:r>
              <a:rPr lang="zh-CN" altLang="en-US" sz="1200" b="0" i="0" kern="1200" dirty="0">
                <a:effectLst/>
              </a:rPr>
              <a:t>                                   </a:t>
            </a:r>
            <a:r>
              <a:rPr lang="en-US" altLang="zh-CN" sz="1200" b="1" i="0" kern="1200" dirty="0">
                <a:effectLst/>
              </a:rPr>
              <a:t>1</a:t>
            </a:r>
            <a:r>
              <a:rPr lang="zh-CN" altLang="en-US" sz="1200" b="1" i="0" kern="1200" dirty="0">
                <a:effectLst/>
              </a:rPr>
              <a:t>                </a:t>
            </a:r>
            <a:r>
              <a:rPr lang="en-US" altLang="zh-CN" sz="1200" b="0" i="0" kern="1200" dirty="0">
                <a:effectLst/>
              </a:rPr>
              <a:t>│ </a:t>
            </a:r>
            <a:r>
              <a:rPr lang="zh-CN" altLang="en-US" sz="1200" b="1" i="0" kern="1200" dirty="0">
                <a:effectLst/>
              </a:rPr>
              <a:t>下一个动作类型 </a:t>
            </a:r>
            <a:r>
              <a:rPr lang="en-US" altLang="zh-CN" sz="1200" b="1" i="0" kern="1200" dirty="0">
                <a:effectLst/>
              </a:rPr>
              <a:t>= fill(</a:t>
            </a:r>
            <a:r>
              <a:rPr lang="zh-CN" altLang="en-US" sz="1200" b="1" i="0" kern="1200" dirty="0">
                <a:effectLst/>
              </a:rPr>
              <a:t>填写</a:t>
            </a:r>
            <a:r>
              <a:rPr lang="en-US" altLang="zh-CN" sz="1200" b="1" i="0" kern="1200" dirty="0">
                <a:effectLst/>
              </a:rPr>
              <a:t>)</a:t>
            </a:r>
          </a:p>
          <a:p>
            <a:r>
              <a:rPr lang="en-US" altLang="zh-CN" sz="1200" b="0" i="0" kern="1200" dirty="0" err="1">
                <a:effectLst/>
              </a:rPr>
              <a:t>next_is_check</a:t>
            </a:r>
            <a:r>
              <a:rPr lang="zh-CN" altLang="en-US" sz="1200" b="0" i="0" kern="1200" dirty="0">
                <a:effectLst/>
              </a:rPr>
              <a:t>                              </a:t>
            </a:r>
            <a:r>
              <a:rPr lang="en-US" altLang="zh-CN" sz="1200" b="0" i="0" kern="1200" dirty="0">
                <a:effectLst/>
              </a:rPr>
              <a:t>0</a:t>
            </a:r>
            <a:r>
              <a:rPr lang="zh-CN" altLang="en-US" sz="1200" b="0" i="0" kern="1200" dirty="0">
                <a:effectLst/>
              </a:rPr>
              <a:t>                </a:t>
            </a:r>
            <a:r>
              <a:rPr lang="en-US" altLang="zh-CN" sz="1200" b="0" i="0" kern="1200" dirty="0">
                <a:effectLst/>
              </a:rPr>
              <a:t>│ ←</a:t>
            </a:r>
            <a:r>
              <a:rPr lang="zh-CN" altLang="en-US" sz="1200" b="0" i="0" kern="1200" dirty="0">
                <a:effectLst/>
              </a:rPr>
              <a:t>这 </a:t>
            </a:r>
            <a:r>
              <a:rPr lang="en-US" altLang="zh-CN" sz="1200" b="0" i="0" kern="1200" dirty="0">
                <a:effectLst/>
              </a:rPr>
              <a:t>4 </a:t>
            </a:r>
            <a:r>
              <a:rPr lang="zh-CN" altLang="en-US" sz="1200" b="0" i="0" kern="1200" dirty="0">
                <a:effectLst/>
              </a:rPr>
              <a:t>个就是 </a:t>
            </a:r>
            <a:r>
              <a:rPr lang="en-US" altLang="zh-CN" sz="1200" b="0" i="0" kern="1200" dirty="0">
                <a:effectLst/>
              </a:rPr>
              <a:t>PPT </a:t>
            </a:r>
            <a:r>
              <a:rPr lang="zh-CN" altLang="en-US" sz="1200" b="0" i="0" kern="1200" dirty="0">
                <a:effectLst/>
              </a:rPr>
              <a:t>里折叠的 </a:t>
            </a:r>
            <a:endParaRPr lang="en-US" altLang="zh-CN" sz="1200" b="0" i="0" kern="1200" dirty="0">
              <a:effectLst/>
            </a:endParaRPr>
          </a:p>
          <a:p>
            <a:r>
              <a:rPr lang="en-US" altLang="zh-CN" sz="1200" b="0" i="0" kern="1200" dirty="0" err="1">
                <a:effectLst/>
              </a:rPr>
              <a:t>next_action_typenext_is_select</a:t>
            </a:r>
            <a:r>
              <a:rPr lang="zh-CN" altLang="en-US" sz="1200" b="0" i="0" kern="1200" dirty="0">
                <a:effectLst/>
              </a:rPr>
              <a:t>   </a:t>
            </a:r>
            <a:r>
              <a:rPr lang="en-US" altLang="zh-CN" sz="1200" b="0" i="0" kern="1200" dirty="0">
                <a:effectLst/>
              </a:rPr>
              <a:t>0</a:t>
            </a:r>
            <a:r>
              <a:rPr lang="zh-CN" altLang="en-US" sz="1200" b="0" i="0" kern="1200" dirty="0">
                <a:effectLst/>
              </a:rPr>
              <a:t>                </a:t>
            </a:r>
            <a:r>
              <a:rPr lang="en-US" altLang="zh-CN" sz="1200" b="0" i="0" kern="1200" dirty="0">
                <a:effectLst/>
              </a:rPr>
              <a:t>┘</a:t>
            </a:r>
          </a:p>
          <a:p>
            <a:r>
              <a:rPr lang="en-US" altLang="zh-CN" sz="1200" b="0" i="0" kern="1200" dirty="0" err="1">
                <a:effectLst/>
              </a:rPr>
              <a:t>next_risk_state_changing</a:t>
            </a:r>
            <a:r>
              <a:rPr lang="zh-CN" altLang="en-US" sz="1200" b="0" i="0" kern="1200" dirty="0">
                <a:effectLst/>
              </a:rPr>
              <a:t>            </a:t>
            </a:r>
            <a:r>
              <a:rPr lang="en-US" altLang="zh-CN" sz="1200" b="0" i="0" kern="1200" dirty="0">
                <a:effectLst/>
              </a:rPr>
              <a:t>0</a:t>
            </a:r>
            <a:r>
              <a:rPr lang="zh-CN" altLang="en-US" sz="1200" b="0" i="0" kern="1200" dirty="0">
                <a:effectLst/>
              </a:rPr>
              <a:t>                </a:t>
            </a:r>
            <a:r>
              <a:rPr lang="en-US" altLang="zh-CN" sz="1200" b="0" i="0" kern="1200" dirty="0">
                <a:effectLst/>
              </a:rPr>
              <a:t>┐</a:t>
            </a:r>
          </a:p>
          <a:p>
            <a:r>
              <a:rPr lang="en-US" altLang="zh-CN" sz="1200" b="0" i="0" kern="1200" dirty="0" err="1">
                <a:effectLst/>
              </a:rPr>
              <a:t>next_risk_external</a:t>
            </a:r>
            <a:r>
              <a:rPr lang="zh-CN" altLang="en-US" sz="1200" b="0" i="0" kern="1200" dirty="0">
                <a:effectLst/>
              </a:rPr>
              <a:t>                        </a:t>
            </a:r>
            <a:r>
              <a:rPr lang="en-US" altLang="zh-CN" sz="1200" b="0" i="0" kern="1200" dirty="0">
                <a:effectLst/>
              </a:rPr>
              <a:t>0</a:t>
            </a:r>
            <a:r>
              <a:rPr lang="zh-CN" altLang="en-US" sz="1200" b="0" i="0" kern="1200" dirty="0">
                <a:effectLst/>
              </a:rPr>
              <a:t>                </a:t>
            </a:r>
            <a:r>
              <a:rPr lang="en-US" altLang="zh-CN" sz="1200" b="0" i="0" kern="1200" dirty="0">
                <a:effectLst/>
              </a:rPr>
              <a:t>│ </a:t>
            </a:r>
            <a:r>
              <a:rPr lang="zh-CN" altLang="en-US" sz="1200" b="1" i="0" kern="1200" dirty="0">
                <a:effectLst/>
              </a:rPr>
              <a:t>下一动作风险 </a:t>
            </a:r>
            <a:r>
              <a:rPr lang="en-US" altLang="zh-CN" sz="1200" b="1" i="0" kern="1200" dirty="0">
                <a:effectLst/>
              </a:rPr>
              <a:t>= safe(</a:t>
            </a:r>
            <a:r>
              <a:rPr lang="zh-CN" altLang="en-US" sz="1200" b="1" i="0" kern="1200" dirty="0">
                <a:effectLst/>
              </a:rPr>
              <a:t>三个都</a:t>
            </a:r>
            <a:r>
              <a:rPr lang="en-US" altLang="zh-CN" sz="1200" b="1" i="0" kern="1200" dirty="0">
                <a:effectLst/>
              </a:rPr>
              <a:t>0)</a:t>
            </a:r>
          </a:p>
          <a:p>
            <a:r>
              <a:rPr lang="en-US" altLang="zh-CN" sz="1200" b="0" i="0" kern="1200" dirty="0" err="1">
                <a:effectLst/>
              </a:rPr>
              <a:t>next_risk_irreversible</a:t>
            </a:r>
            <a:r>
              <a:rPr lang="zh-CN" altLang="en-US" sz="1200" b="0" i="0" kern="1200" dirty="0">
                <a:effectLst/>
              </a:rPr>
              <a:t>                   </a:t>
            </a:r>
            <a:r>
              <a:rPr lang="en-US" altLang="zh-CN" sz="1200" b="0" i="0" kern="1200" dirty="0">
                <a:effectLst/>
              </a:rPr>
              <a:t>0</a:t>
            </a:r>
            <a:r>
              <a:rPr lang="zh-CN" altLang="en-US" sz="1200" b="0" i="0" kern="1200" dirty="0">
                <a:effectLst/>
              </a:rPr>
              <a:t>                </a:t>
            </a:r>
            <a:r>
              <a:rPr lang="en-US" altLang="zh-CN" sz="1200" b="0" i="0" kern="1200" dirty="0">
                <a:effectLst/>
              </a:rPr>
              <a:t>┘ ←</a:t>
            </a:r>
            <a:r>
              <a:rPr lang="zh-CN" altLang="en-US" sz="1200" b="0" i="0" kern="1200" dirty="0">
                <a:effectLst/>
              </a:rPr>
              <a:t>这 </a:t>
            </a:r>
            <a:r>
              <a:rPr lang="en-US" altLang="zh-CN" sz="1200" b="0" i="0" kern="1200" dirty="0">
                <a:effectLst/>
              </a:rPr>
              <a:t>3 </a:t>
            </a:r>
            <a:r>
              <a:rPr lang="zh-CN" altLang="en-US" sz="1200" b="0" i="0" kern="1200" dirty="0">
                <a:effectLst/>
              </a:rPr>
              <a:t>个就是 </a:t>
            </a:r>
            <a:r>
              <a:rPr lang="en-US" altLang="zh-CN" sz="1200" b="0" i="0" kern="1200" dirty="0">
                <a:effectLst/>
              </a:rPr>
              <a:t>PPT </a:t>
            </a:r>
            <a:r>
              <a:rPr lang="zh-CN" altLang="en-US" sz="1200" b="0" i="0" kern="1200" dirty="0">
                <a:effectLst/>
              </a:rPr>
              <a:t>里折叠的 </a:t>
            </a:r>
            <a:endParaRPr lang="en-US" altLang="zh-CN" sz="1200" b="0" i="0" kern="1200" dirty="0">
              <a:effectLst/>
            </a:endParaRPr>
          </a:p>
          <a:p>
            <a:r>
              <a:rPr lang="en-US" altLang="zh-CN" sz="1200" b="0" i="0" kern="1200" dirty="0">
                <a:effectLst/>
              </a:rPr>
              <a:t>risk </a:t>
            </a:r>
            <a:r>
              <a:rPr lang="en-US" altLang="zh-CN" sz="1200" b="0" i="0" kern="1200" dirty="0" err="1">
                <a:effectLst/>
              </a:rPr>
              <a:t>flagsverbalized_confidence</a:t>
            </a:r>
            <a:r>
              <a:rPr lang="zh-CN" altLang="en-US" sz="1200" b="0" i="0" kern="1200" dirty="0">
                <a:effectLst/>
              </a:rPr>
              <a:t>   </a:t>
            </a:r>
            <a:r>
              <a:rPr lang="en-US" altLang="zh-CN" sz="1200" b="0" i="0" kern="1200" dirty="0">
                <a:effectLst/>
              </a:rPr>
              <a:t>1</a:t>
            </a:r>
            <a:r>
              <a:rPr lang="zh-CN" altLang="en-US" sz="1200" b="0" i="0" kern="1200" dirty="0">
                <a:effectLst/>
              </a:rPr>
              <a:t>              模型自报</a:t>
            </a:r>
            <a:r>
              <a:rPr lang="en-US" altLang="zh-CN" sz="1200" b="0" i="0" kern="1200" dirty="0">
                <a:effectLst/>
              </a:rPr>
              <a:t>"</a:t>
            </a:r>
            <a:r>
              <a:rPr lang="zh-CN" altLang="en-US" sz="1200" b="0" i="0" kern="1200" dirty="0">
                <a:effectLst/>
              </a:rPr>
              <a:t>我有 </a:t>
            </a:r>
            <a:r>
              <a:rPr lang="en-US" altLang="zh-CN" sz="1200" b="0" i="0" kern="1200" dirty="0">
                <a:effectLst/>
              </a:rPr>
              <a:t>100% </a:t>
            </a:r>
            <a:r>
              <a:rPr lang="zh-CN" altLang="en-US" sz="1200" b="0" i="0" kern="1200" dirty="0">
                <a:effectLst/>
              </a:rPr>
              <a:t>把握</a:t>
            </a:r>
            <a:r>
              <a:rPr lang="en-US" altLang="zh-CN" sz="1200" b="0" i="0" kern="1200" dirty="0">
                <a:effectLst/>
              </a:rPr>
              <a:t>”</a:t>
            </a:r>
          </a:p>
          <a:p>
            <a:r>
              <a:rPr lang="en-US" altLang="zh-CN" sz="1200" b="0" i="0" kern="1200" dirty="0" err="1">
                <a:effectLst/>
              </a:rPr>
              <a:t>verbalized_needs_observation</a:t>
            </a:r>
            <a:r>
              <a:rPr lang="zh-CN" altLang="en-US" sz="1200" b="0" i="0" kern="1200" dirty="0">
                <a:effectLst/>
              </a:rPr>
              <a:t>     </a:t>
            </a:r>
            <a:r>
              <a:rPr lang="en-US" altLang="zh-CN" sz="1200" b="0" i="0" kern="1200" dirty="0">
                <a:effectLst/>
              </a:rPr>
              <a:t>1</a:t>
            </a:r>
            <a:r>
              <a:rPr lang="zh-CN" altLang="en-US" sz="1200" b="0" i="0" kern="1200" dirty="0">
                <a:effectLst/>
              </a:rPr>
              <a:t>             但模型自己也说</a:t>
            </a:r>
            <a:r>
              <a:rPr lang="en-US" altLang="zh-CN" sz="1200" b="0" i="0" kern="1200" dirty="0">
                <a:effectLst/>
              </a:rPr>
              <a:t>"</a:t>
            </a:r>
            <a:r>
              <a:rPr lang="zh-CN" altLang="en-US" sz="1200" b="0" i="0" kern="1200" dirty="0">
                <a:effectLst/>
              </a:rPr>
              <a:t>我想再看一眼</a:t>
            </a:r>
            <a:r>
              <a:rPr lang="en-US" altLang="zh-CN" sz="1200" b="0" i="0" kern="1200" dirty="0">
                <a:effectLst/>
              </a:rPr>
              <a:t>"</a:t>
            </a:r>
          </a:p>
          <a:p>
            <a:r>
              <a:rPr lang="zh-CN" altLang="en-US" sz="1200" b="1" i="0" kern="1200" dirty="0">
                <a:effectLst/>
              </a:rPr>
              <a:t>门控输出</a:t>
            </a:r>
            <a:r>
              <a:rPr lang="en-US" altLang="zh-CN" sz="1200" b="0" i="0" kern="1200" dirty="0">
                <a:effectLst/>
              </a:rPr>
              <a:t>:</a:t>
            </a:r>
            <a:r>
              <a:rPr lang="zh-CN" altLang="en-US" sz="1200" b="0" i="0" kern="1200" dirty="0">
                <a:effectLst/>
              </a:rPr>
              <a:t>把这 </a:t>
            </a:r>
            <a:r>
              <a:rPr lang="en-US" altLang="zh-CN" sz="1200" b="0" i="0" kern="1200" dirty="0">
                <a:effectLst/>
              </a:rPr>
              <a:t>15 </a:t>
            </a:r>
            <a:r>
              <a:rPr lang="zh-CN" altLang="en-US" sz="1200" b="0" i="0" kern="1200" dirty="0">
                <a:effectLst/>
              </a:rPr>
              <a:t>个数和学到的权重做加权求和→</a:t>
            </a:r>
            <a:r>
              <a:rPr lang="en-US" altLang="zh-CN" sz="1200" b="0" i="0" kern="1200" dirty="0">
                <a:effectLst/>
              </a:rPr>
              <a:t>sigmoid→</a:t>
            </a:r>
            <a:r>
              <a:rPr lang="zh-CN" altLang="en-US" sz="1200" b="0" i="0" kern="1200" dirty="0">
                <a:effectLst/>
              </a:rPr>
              <a:t>得到一个</a:t>
            </a:r>
            <a:r>
              <a:rPr lang="en-US" altLang="zh-CN" sz="1200" b="0" i="0" kern="1200" dirty="0">
                <a:effectLst/>
              </a:rPr>
              <a:t>"</a:t>
            </a:r>
            <a:r>
              <a:rPr lang="zh-CN" altLang="en-US" sz="1200" b="0" i="0" kern="1200" dirty="0">
                <a:effectLst/>
              </a:rPr>
              <a:t>该观察的概率</a:t>
            </a:r>
            <a:r>
              <a:rPr lang="en-US" altLang="zh-CN" sz="1200" b="0" i="0" kern="1200" dirty="0">
                <a:effectLst/>
              </a:rPr>
              <a:t>",≥</a:t>
            </a:r>
            <a:r>
              <a:rPr lang="zh-CN" altLang="en-US" sz="1200" b="0" i="0" kern="1200" dirty="0">
                <a:effectLst/>
              </a:rPr>
              <a:t>阈值就观察。</a:t>
            </a:r>
          </a:p>
          <a:p>
            <a:endParaRPr sz="1100" dirty="0">
              <a:solidFill>
                <a:srgbClr val="94A3B8"/>
              </a:solidFil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effectLst/>
              </a:rPr>
              <a:t>This breaks down where the call savings come from. The biggest savings are on the routine families: on </a:t>
            </a:r>
            <a:r>
              <a:rPr lang="en-US" altLang="zh-CN" sz="1200" b="0" i="0" kern="1200" dirty="0" err="1">
                <a:effectLst/>
              </a:rPr>
              <a:t>static_baseline</a:t>
            </a:r>
            <a:r>
              <a:rPr lang="en-US" altLang="zh-CN" sz="1200" b="0" i="0" kern="1200" dirty="0">
                <a:effectLst/>
              </a:rPr>
              <a:t> the learned gate saves about 2.2 calls versus always, and on </a:t>
            </a:r>
            <a:r>
              <a:rPr lang="en-US" altLang="zh-CN" sz="1200" b="0" i="0" kern="1200" dirty="0" err="1">
                <a:effectLst/>
              </a:rPr>
              <a:t>async_results</a:t>
            </a:r>
            <a:r>
              <a:rPr lang="en-US" altLang="zh-CN" sz="1200" b="0" i="0" kern="1200" dirty="0">
                <a:effectLst/>
              </a:rPr>
              <a:t> about 2.0 calls. On </a:t>
            </a:r>
            <a:r>
              <a:rPr lang="en-US" altLang="zh-CN" sz="1200" b="0" i="0" kern="1200" dirty="0" err="1">
                <a:effectLst/>
              </a:rPr>
              <a:t>value_drift</a:t>
            </a:r>
            <a:r>
              <a:rPr lang="en-US" altLang="zh-CN" sz="1200" b="0" i="0" kern="1200" dirty="0">
                <a:effectLst/>
              </a:rPr>
              <a:t> the savings shrink to about one call, and on </a:t>
            </a:r>
            <a:r>
              <a:rPr lang="en-US" altLang="zh-CN" sz="1200" b="0" i="0" kern="1200" dirty="0" err="1">
                <a:effectLst/>
              </a:rPr>
              <a:t>delayed_options</a:t>
            </a:r>
            <a:r>
              <a:rPr lang="en-US" altLang="zh-CN" sz="1200" b="0" i="0" kern="1200" dirty="0">
                <a:effectLst/>
              </a:rPr>
              <a:t> the gate stays at the always level. The pattern tapers off exactly as tasks get more adversarial — the more likely another observation actually matters, the less the gate skips. And success stays at 100% across every family, so this efficiency never comes at the cost of task completion. The gains come from cutting redundant reads on easy, predictable steps, not from gambling on the hard ones.</a:t>
            </a:r>
          </a:p>
          <a:p>
            <a:br>
              <a:rPr lang="en-US" altLang="zh-CN" sz="1100" dirty="0"/>
            </a:br>
            <a:r>
              <a:rPr sz="1100" dirty="0">
                <a:solidFill>
                  <a:srgbClr val="94A3B8"/>
                </a:solidFill>
              </a:rPr>
              <a:t>
【</a:t>
            </a:r>
            <a:r>
              <a:rPr sz="1100" dirty="0" err="1">
                <a:solidFill>
                  <a:srgbClr val="94A3B8"/>
                </a:solidFill>
              </a:rPr>
              <a:t>中文参考翻译</a:t>
            </a:r>
            <a:r>
              <a:rPr sz="1100" dirty="0">
                <a:solidFill>
                  <a:srgbClr val="94A3B8"/>
                </a:solidFill>
              </a:rPr>
              <a:t>】
</a:t>
            </a:r>
            <a:r>
              <a:rPr lang="zh-CN" altLang="en-US" sz="1100" dirty="0">
                <a:solidFill>
                  <a:srgbClr val="94A3B8"/>
                </a:solidFill>
              </a:rPr>
              <a:t>这说明了调用节省的来源。在常规任务族中，节省效果最为显著：在 </a:t>
            </a:r>
            <a:r>
              <a:rPr lang="en-US" sz="1100" dirty="0" err="1">
                <a:solidFill>
                  <a:srgbClr val="94A3B8"/>
                </a:solidFill>
              </a:rPr>
              <a:t>static_baseline</a:t>
            </a:r>
            <a:r>
              <a:rPr lang="en-US" sz="1100" dirty="0">
                <a:solidFill>
                  <a:srgbClr val="94A3B8"/>
                </a:solidFill>
              </a:rPr>
              <a:t> </a:t>
            </a:r>
            <a:r>
              <a:rPr lang="zh-CN" altLang="en-US" sz="1100" dirty="0">
                <a:solidFill>
                  <a:srgbClr val="94A3B8"/>
                </a:solidFill>
              </a:rPr>
              <a:t>上，学习到的门控机制相比始终执行的情况可减少约 </a:t>
            </a:r>
            <a:r>
              <a:rPr lang="en-US" altLang="zh-CN" sz="1100" dirty="0">
                <a:solidFill>
                  <a:srgbClr val="94A3B8"/>
                </a:solidFill>
              </a:rPr>
              <a:t>2.2 </a:t>
            </a:r>
            <a:r>
              <a:rPr lang="zh-CN" altLang="en-US" sz="1100" dirty="0">
                <a:solidFill>
                  <a:srgbClr val="94A3B8"/>
                </a:solidFill>
              </a:rPr>
              <a:t>次调用，在 </a:t>
            </a:r>
            <a:r>
              <a:rPr lang="en-US" sz="1100" dirty="0" err="1">
                <a:solidFill>
                  <a:srgbClr val="94A3B8"/>
                </a:solidFill>
              </a:rPr>
              <a:t>async_results</a:t>
            </a:r>
            <a:r>
              <a:rPr lang="en-US" sz="1100" dirty="0">
                <a:solidFill>
                  <a:srgbClr val="94A3B8"/>
                </a:solidFill>
              </a:rPr>
              <a:t> </a:t>
            </a:r>
            <a:r>
              <a:rPr lang="zh-CN" altLang="en-US" sz="1100" dirty="0">
                <a:solidFill>
                  <a:srgbClr val="94A3B8"/>
                </a:solidFill>
              </a:rPr>
              <a:t>上减少约 </a:t>
            </a:r>
            <a:r>
              <a:rPr lang="en-US" altLang="zh-CN" sz="1100" dirty="0">
                <a:solidFill>
                  <a:srgbClr val="94A3B8"/>
                </a:solidFill>
              </a:rPr>
              <a:t>2.0 </a:t>
            </a:r>
            <a:r>
              <a:rPr lang="zh-CN" altLang="en-US" sz="1100" dirty="0">
                <a:solidFill>
                  <a:srgbClr val="94A3B8"/>
                </a:solidFill>
              </a:rPr>
              <a:t>次。而在 </a:t>
            </a:r>
            <a:r>
              <a:rPr lang="en-US" sz="1100" dirty="0" err="1">
                <a:solidFill>
                  <a:srgbClr val="94A3B8"/>
                </a:solidFill>
              </a:rPr>
              <a:t>value_drift</a:t>
            </a:r>
            <a:r>
              <a:rPr lang="en-US" sz="1100" dirty="0">
                <a:solidFill>
                  <a:srgbClr val="94A3B8"/>
                </a:solidFill>
              </a:rPr>
              <a:t> </a:t>
            </a:r>
            <a:r>
              <a:rPr lang="zh-CN" altLang="en-US" sz="1100" dirty="0">
                <a:solidFill>
                  <a:srgbClr val="94A3B8"/>
                </a:solidFill>
              </a:rPr>
              <a:t>上，节省量下降至约 </a:t>
            </a:r>
            <a:r>
              <a:rPr lang="en-US" altLang="zh-CN" sz="1100" dirty="0">
                <a:solidFill>
                  <a:srgbClr val="94A3B8"/>
                </a:solidFill>
              </a:rPr>
              <a:t>1 </a:t>
            </a:r>
            <a:r>
              <a:rPr lang="zh-CN" altLang="en-US" sz="1100" dirty="0">
                <a:solidFill>
                  <a:srgbClr val="94A3B8"/>
                </a:solidFill>
              </a:rPr>
              <a:t>次调用；在 </a:t>
            </a:r>
            <a:r>
              <a:rPr lang="en-US" sz="1100" dirty="0" err="1">
                <a:solidFill>
                  <a:srgbClr val="94A3B8"/>
                </a:solidFill>
              </a:rPr>
              <a:t>delayed_options</a:t>
            </a:r>
            <a:r>
              <a:rPr lang="en-US" sz="1100" dirty="0">
                <a:solidFill>
                  <a:srgbClr val="94A3B8"/>
                </a:solidFill>
              </a:rPr>
              <a:t> </a:t>
            </a:r>
            <a:r>
              <a:rPr lang="zh-CN" altLang="en-US" sz="1100" dirty="0">
                <a:solidFill>
                  <a:srgbClr val="94A3B8"/>
                </a:solidFill>
              </a:rPr>
              <a:t>上，门控机制的调用次数与始终执行持平。随着任务变得更具对抗性，这种节省效果逐渐减弱</a:t>
            </a:r>
            <a:r>
              <a:rPr lang="en-US" altLang="zh-CN" sz="1100" dirty="0">
                <a:solidFill>
                  <a:srgbClr val="94A3B8"/>
                </a:solidFill>
              </a:rPr>
              <a:t>——</a:t>
            </a:r>
            <a:r>
              <a:rPr lang="zh-CN" altLang="en-US" sz="1100" dirty="0">
                <a:solidFill>
                  <a:srgbClr val="94A3B8"/>
                </a:solidFill>
              </a:rPr>
              <a:t>当后续观测更可能真正重要时，门控机制跳过的次数就越少。同时，所有任务族的成功率始终保持在 </a:t>
            </a:r>
            <a:r>
              <a:rPr lang="en-US" altLang="zh-CN" sz="1100" dirty="0">
                <a:solidFill>
                  <a:srgbClr val="94A3B8"/>
                </a:solidFill>
              </a:rPr>
              <a:t>100%</a:t>
            </a:r>
            <a:r>
              <a:rPr lang="zh-CN" altLang="en-US" sz="1100" dirty="0">
                <a:solidFill>
                  <a:srgbClr val="94A3B8"/>
                </a:solidFill>
              </a:rPr>
              <a:t>，因此这种效率提升从未以牺牲任务完成率为代价。这些收益来自于对简单、可预测步骤中冗余读取的削减，而非在困难步骤上冒险投机。</a:t>
            </a:r>
            <a:endParaRPr sz="1100" dirty="0">
              <a:solidFill>
                <a:srgbClr val="94A3B8"/>
              </a:solidFil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dirty="0"/>
              <a:t>[~50s] The hand rule observes when the screen or candidate set changes, and before risky actions. This works for </a:t>
            </a:r>
            <a:r>
              <a:rPr sz="1200" dirty="0" err="1"/>
              <a:t>async_results</a:t>
            </a:r>
            <a:r>
              <a:rPr sz="1200" dirty="0"/>
              <a:t>, where status text and candidates both update visibly. But it fails on the two adversarial families. In </a:t>
            </a:r>
            <a:r>
              <a:rPr sz="1200" dirty="0" err="1"/>
              <a:t>value_drift</a:t>
            </a:r>
            <a:r>
              <a:rPr sz="1200" dirty="0"/>
              <a:t>, the page structure stays the same so the change detector sees nothing — the agent sends to a placeholder email. In </a:t>
            </a:r>
            <a:r>
              <a:rPr sz="1200" dirty="0" err="1"/>
              <a:t>delayed_options</a:t>
            </a:r>
            <a:r>
              <a:rPr sz="1200" dirty="0"/>
              <a:t>, candidates appear late and the hand rule's timing is off. The learned gate, by contrast, uses plan age and confidence signals that correlate with these silent failures. This is why a learned approach is fundamentally different from a change detector.</a:t>
            </a:r>
          </a:p>
          <a:p>
            <a:r>
              <a:rPr sz="1100" dirty="0">
                <a:solidFill>
                  <a:srgbClr val="94A3B8"/>
                </a:solidFill>
              </a:rPr>
              <a:t>
【</a:t>
            </a:r>
            <a:r>
              <a:rPr sz="1100" dirty="0" err="1">
                <a:solidFill>
                  <a:srgbClr val="94A3B8"/>
                </a:solidFill>
              </a:rPr>
              <a:t>中文参考翻译</a:t>
            </a:r>
            <a:r>
              <a:rPr sz="1100" dirty="0">
                <a:solidFill>
                  <a:srgbClr val="94A3B8"/>
                </a:solidFill>
              </a:rPr>
              <a:t>】
</a:t>
            </a:r>
            <a:r>
              <a:rPr sz="1100" dirty="0" err="1">
                <a:solidFill>
                  <a:srgbClr val="94A3B8"/>
                </a:solidFill>
              </a:rPr>
              <a:t>手工规则在屏幕或候选集变化时观察，以及在高风险操作前观察。这对</a:t>
            </a:r>
            <a:r>
              <a:rPr sz="1100" dirty="0">
                <a:solidFill>
                  <a:srgbClr val="94A3B8"/>
                </a:solidFill>
              </a:rPr>
              <a:t> </a:t>
            </a:r>
            <a:r>
              <a:rPr sz="1100" dirty="0" err="1">
                <a:solidFill>
                  <a:srgbClr val="94A3B8"/>
                </a:solidFill>
              </a:rPr>
              <a:t>async_results</a:t>
            </a:r>
            <a:r>
              <a:rPr sz="1100" dirty="0">
                <a:solidFill>
                  <a:srgbClr val="94A3B8"/>
                </a:solidFill>
              </a:rPr>
              <a:t> </a:t>
            </a:r>
            <a:r>
              <a:rPr sz="1100" dirty="0" err="1">
                <a:solidFill>
                  <a:srgbClr val="94A3B8"/>
                </a:solidFill>
              </a:rPr>
              <a:t>有效，其中状态文本和候选集都明显更新。但它在两个对抗性系列上失败了。在</a:t>
            </a:r>
            <a:r>
              <a:rPr sz="1100" dirty="0">
                <a:solidFill>
                  <a:srgbClr val="94A3B8"/>
                </a:solidFill>
              </a:rPr>
              <a:t> </a:t>
            </a:r>
            <a:r>
              <a:rPr sz="1100" dirty="0" err="1">
                <a:solidFill>
                  <a:srgbClr val="94A3B8"/>
                </a:solidFill>
              </a:rPr>
              <a:t>value_drift</a:t>
            </a:r>
            <a:r>
              <a:rPr sz="1100" dirty="0">
                <a:solidFill>
                  <a:srgbClr val="94A3B8"/>
                </a:solidFill>
              </a:rPr>
              <a:t> </a:t>
            </a:r>
            <a:r>
              <a:rPr sz="1100" dirty="0" err="1">
                <a:solidFill>
                  <a:srgbClr val="94A3B8"/>
                </a:solidFill>
              </a:rPr>
              <a:t>中，页面结构保持不变，所以变化检测器什么都看不到</a:t>
            </a:r>
            <a:r>
              <a:rPr sz="1100" dirty="0">
                <a:solidFill>
                  <a:srgbClr val="94A3B8"/>
                </a:solidFill>
              </a:rPr>
              <a:t>——agent </a:t>
            </a:r>
            <a:r>
              <a:rPr sz="1100" dirty="0" err="1">
                <a:solidFill>
                  <a:srgbClr val="94A3B8"/>
                </a:solidFill>
              </a:rPr>
              <a:t>发送到占位符邮件。在</a:t>
            </a:r>
            <a:r>
              <a:rPr sz="1100" dirty="0">
                <a:solidFill>
                  <a:srgbClr val="94A3B8"/>
                </a:solidFill>
              </a:rPr>
              <a:t> </a:t>
            </a:r>
            <a:r>
              <a:rPr sz="1100" dirty="0" err="1">
                <a:solidFill>
                  <a:srgbClr val="94A3B8"/>
                </a:solidFill>
              </a:rPr>
              <a:t>delayed_options</a:t>
            </a:r>
            <a:r>
              <a:rPr sz="1100" dirty="0">
                <a:solidFill>
                  <a:srgbClr val="94A3B8"/>
                </a:solidFill>
              </a:rPr>
              <a:t> 中，候选项出现较晚，手工规则的时机不对。相比之下，学习门控使用与这些静默失败相关的计划年龄和置信度信号。这就是为什么学习方法与变化检测器在本质上不同。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[~35s] Here are four representative tasks from the suite. Silent recipient drift is the canonical adversarial case — the recipient field starts as Resolving and silently resolves to a real address; coasting would send to the wrong recipient. The other three show the range of the suite: async contacts search, a delayed dropdown, and a stable form fill where coasting is safe. Videos are in results/videos in the repo if you want to look at specific failure modes afterward.</a:t>
            </a:r>
          </a:p>
          <a:p>
            <a:r>
              <a:rPr sz="1100">
                <a:solidFill>
                  <a:srgbClr val="94A3B8"/>
                </a:solidFill>
              </a:rPr>
              <a:t>
【中文参考翻译】
这里是套件中四个代表性任务。静默收件人漂移是典型的对抗性情况——收件人字段以 Resolving 状态开始，然后悄悄解析为真实地址；coasting 会发送到错误的收件人。其他三个展示了套件的范围：异步联系人搜索、延迟下拉列表和稳定的表单填写（此时 coasting 是安全的）。如果您想之后查看特定的失败模式，视频在仓库的 results/videos 中。</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dirty="0"/>
              <a:t>[~45s] I want to be upfront about the limitations. First, 15 tasks is still small — no multi-seed sweep yet, and external validity remains </a:t>
            </a:r>
            <a:r>
              <a:rPr sz="1200"/>
              <a:t>future work. </a:t>
            </a:r>
            <a:r>
              <a:rPr sz="1200" dirty="0"/>
              <a:t>Second, we label at episode level; a step-level safety metric would be more granular. Third, the verbalized confidence signal is bimodal in practice — it either fires or it does not — which limits how much the threshold sweep can tune the gate. Despite this, the local suite serves a real diagnostic purpose: it shows exactly which task families the gate handles before we scale to an expensive external benchmark.</a:t>
            </a:r>
          </a:p>
          <a:p>
            <a:r>
              <a:rPr sz="1100" dirty="0">
                <a:solidFill>
                  <a:srgbClr val="94A3B8"/>
                </a:solidFill>
              </a:rPr>
              <a:t>
【</a:t>
            </a:r>
            <a:r>
              <a:rPr sz="1100" dirty="0" err="1">
                <a:solidFill>
                  <a:srgbClr val="94A3B8"/>
                </a:solidFill>
              </a:rPr>
              <a:t>中文参考翻译</a:t>
            </a:r>
            <a:r>
              <a:rPr sz="1100" dirty="0">
                <a:solidFill>
                  <a:srgbClr val="94A3B8"/>
                </a:solidFill>
              </a:rPr>
              <a:t>】
我想坦诚地说明局限性。首先，15 </a:t>
            </a:r>
            <a:r>
              <a:rPr sz="1100" dirty="0" err="1">
                <a:solidFill>
                  <a:srgbClr val="94A3B8"/>
                </a:solidFill>
              </a:rPr>
              <a:t>个任务仍然很少</a:t>
            </a:r>
            <a:r>
              <a:rPr sz="1100" dirty="0">
                <a:solidFill>
                  <a:srgbClr val="94A3B8"/>
                </a:solidFill>
              </a:rPr>
              <a:t>——</a:t>
            </a:r>
            <a:r>
              <a:rPr sz="1100" dirty="0" err="1">
                <a:solidFill>
                  <a:srgbClr val="94A3B8"/>
                </a:solidFill>
              </a:rPr>
              <a:t>还没有进行多种子扫描，外部有效性仍然是未来的工作。其次，我们在</a:t>
            </a:r>
            <a:r>
              <a:rPr sz="1100" dirty="0">
                <a:solidFill>
                  <a:srgbClr val="94A3B8"/>
                </a:solidFill>
              </a:rPr>
              <a:t> episode </a:t>
            </a:r>
            <a:r>
              <a:rPr sz="1100" dirty="0" err="1">
                <a:solidFill>
                  <a:srgbClr val="94A3B8"/>
                </a:solidFill>
              </a:rPr>
              <a:t>层面进行标注；步骤级别的安全指标会更细粒度。第三，来自语言化模型输出的置信度信号在实践中是双峰分布的</a:t>
            </a:r>
            <a:r>
              <a:rPr sz="1100" dirty="0">
                <a:solidFill>
                  <a:srgbClr val="94A3B8"/>
                </a:solidFill>
              </a:rPr>
              <a:t>——</a:t>
            </a:r>
            <a:r>
              <a:rPr sz="1100" dirty="0" err="1">
                <a:solidFill>
                  <a:srgbClr val="94A3B8"/>
                </a:solidFill>
              </a:rPr>
              <a:t>它要么触发要么不触发</a:t>
            </a:r>
            <a:r>
              <a:rPr sz="1100" dirty="0">
                <a:solidFill>
                  <a:srgbClr val="94A3B8"/>
                </a:solidFill>
              </a:rPr>
              <a:t>——这限制了阈值扫描能够调整门控的程度。尽管如此，本地套件有其真正的诊断价值：在我们扩展到昂贵的外部基准测试之前，它准确地展示了门控能处理哪些任务系列。</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dirty="0"/>
              <a:t>[~40s] Three things to take away. First, observation scheduling is learnable — a simple logistic gate trained on cheap features can decide when another DOM read is worth paying for. Second, learned beats </a:t>
            </a:r>
            <a:r>
              <a:rPr sz="1200" dirty="0" err="1"/>
              <a:t>handrule</a:t>
            </a:r>
            <a:r>
              <a:rPr sz="1200" dirty="0"/>
              <a:t> on the success-cost frontier — our gate at threshold 0.2 hits 100% success with 41% fewer calls than always, and 33% fewer than </a:t>
            </a:r>
            <a:r>
              <a:rPr sz="1200" dirty="0" err="1"/>
              <a:t>handrule</a:t>
            </a:r>
            <a:r>
              <a:rPr sz="1200" dirty="0"/>
              <a:t>, at zero unsafe rate. Third, the hard safety floor is essential — observation before irreversible actions is non-negotiable, and the gate only optimizes above that floor. </a:t>
            </a:r>
            <a:r>
              <a:rPr sz="1100" dirty="0">
                <a:solidFill>
                  <a:srgbClr val="94A3B8"/>
                </a:solidFill>
              </a:rPr>
              <a:t>
【</a:t>
            </a:r>
            <a:r>
              <a:rPr sz="1100" dirty="0" err="1">
                <a:solidFill>
                  <a:srgbClr val="94A3B8"/>
                </a:solidFill>
              </a:rPr>
              <a:t>中文参考翻译</a:t>
            </a:r>
            <a:r>
              <a:rPr sz="1100" dirty="0">
                <a:solidFill>
                  <a:srgbClr val="94A3B8"/>
                </a:solidFill>
              </a:rPr>
              <a:t>】
</a:t>
            </a:r>
            <a:r>
              <a:rPr sz="1100" dirty="0" err="1">
                <a:solidFill>
                  <a:srgbClr val="94A3B8"/>
                </a:solidFill>
              </a:rPr>
              <a:t>三点总结。第一，观察调度是可学习的</a:t>
            </a:r>
            <a:r>
              <a:rPr sz="1100" dirty="0">
                <a:solidFill>
                  <a:srgbClr val="94A3B8"/>
                </a:solidFill>
              </a:rPr>
              <a:t>——</a:t>
            </a:r>
            <a:r>
              <a:rPr sz="1100" dirty="0" err="1">
                <a:solidFill>
                  <a:srgbClr val="94A3B8"/>
                </a:solidFill>
              </a:rPr>
              <a:t>一个在廉价特征上训练的简单逻辑门控可以决定什么时候另一次</a:t>
            </a:r>
            <a:r>
              <a:rPr sz="1100" dirty="0">
                <a:solidFill>
                  <a:srgbClr val="94A3B8"/>
                </a:solidFill>
              </a:rPr>
              <a:t> DOM </a:t>
            </a:r>
            <a:r>
              <a:rPr sz="1100" dirty="0" err="1">
                <a:solidFill>
                  <a:srgbClr val="94A3B8"/>
                </a:solidFill>
              </a:rPr>
              <a:t>读取值得付出代价。第二，学习方法在成功-成本前沿上优于手工规则</a:t>
            </a:r>
            <a:r>
              <a:rPr sz="1100" dirty="0">
                <a:solidFill>
                  <a:srgbClr val="94A3B8"/>
                </a:solidFill>
              </a:rPr>
              <a:t>——</a:t>
            </a:r>
            <a:r>
              <a:rPr sz="1100" dirty="0" err="1">
                <a:solidFill>
                  <a:srgbClr val="94A3B8"/>
                </a:solidFill>
              </a:rPr>
              <a:t>我们在阈值</a:t>
            </a:r>
            <a:r>
              <a:rPr sz="1100" dirty="0">
                <a:solidFill>
                  <a:srgbClr val="94A3B8"/>
                </a:solidFill>
              </a:rPr>
              <a:t> 0.2 </a:t>
            </a:r>
            <a:r>
              <a:rPr sz="1100" dirty="0" err="1">
                <a:solidFill>
                  <a:srgbClr val="94A3B8"/>
                </a:solidFill>
              </a:rPr>
              <a:t>的门控实现了</a:t>
            </a:r>
            <a:r>
              <a:rPr sz="1100" dirty="0">
                <a:solidFill>
                  <a:srgbClr val="94A3B8"/>
                </a:solidFill>
              </a:rPr>
              <a:t> 100% </a:t>
            </a:r>
            <a:r>
              <a:rPr sz="1100" dirty="0" err="1">
                <a:solidFill>
                  <a:srgbClr val="94A3B8"/>
                </a:solidFill>
              </a:rPr>
              <a:t>成功率，比</a:t>
            </a:r>
            <a:r>
              <a:rPr sz="1100" dirty="0">
                <a:solidFill>
                  <a:srgbClr val="94A3B8"/>
                </a:solidFill>
              </a:rPr>
              <a:t> always-observe </a:t>
            </a:r>
            <a:r>
              <a:rPr sz="1100" dirty="0" err="1">
                <a:solidFill>
                  <a:srgbClr val="94A3B8"/>
                </a:solidFill>
              </a:rPr>
              <a:t>减少了</a:t>
            </a:r>
            <a:r>
              <a:rPr sz="1100" dirty="0">
                <a:solidFill>
                  <a:srgbClr val="94A3B8"/>
                </a:solidFill>
              </a:rPr>
              <a:t> 41% </a:t>
            </a:r>
            <a:r>
              <a:rPr sz="1100" dirty="0" err="1">
                <a:solidFill>
                  <a:srgbClr val="94A3B8"/>
                </a:solidFill>
              </a:rPr>
              <a:t>的调用次数，比手工规则减少了</a:t>
            </a:r>
            <a:r>
              <a:rPr sz="1100" dirty="0">
                <a:solidFill>
                  <a:srgbClr val="94A3B8"/>
                </a:solidFill>
              </a:rPr>
              <a:t> 33%，</a:t>
            </a:r>
            <a:r>
              <a:rPr sz="1100" dirty="0" err="1">
                <a:solidFill>
                  <a:srgbClr val="94A3B8"/>
                </a:solidFill>
              </a:rPr>
              <a:t>零不安全率。第三，硬安全底线至关重要</a:t>
            </a:r>
            <a:r>
              <a:rPr sz="1100" dirty="0">
                <a:solidFill>
                  <a:srgbClr val="94A3B8"/>
                </a:solidFill>
              </a:rPr>
              <a:t>——</a:t>
            </a:r>
            <a:r>
              <a:rPr sz="1100" dirty="0" err="1">
                <a:solidFill>
                  <a:srgbClr val="94A3B8"/>
                </a:solidFill>
              </a:rPr>
              <a:t>不可逆操作前的观察是不可商量的，门控只在该底线以上进行优化</a:t>
            </a:r>
            <a:r>
              <a:rPr sz="1100" dirty="0">
                <a:solidFill>
                  <a:srgbClr val="94A3B8"/>
                </a:solidFill>
              </a:rP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video" Target="../media/media4.mp4"/><Relationship Id="rId13" Type="http://schemas.openxmlformats.org/officeDocument/2006/relationships/image" Target="../media/image3.png"/><Relationship Id="rId3" Type="http://schemas.microsoft.com/office/2007/relationships/media" Target="../media/media2.mp4"/><Relationship Id="rId7" Type="http://schemas.microsoft.com/office/2007/relationships/media" Target="../media/media4.mp4"/><Relationship Id="rId12" Type="http://schemas.openxmlformats.org/officeDocument/2006/relationships/image" Target="../media/image2.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video" Target="../media/media3.mp4"/><Relationship Id="rId11" Type="http://schemas.openxmlformats.org/officeDocument/2006/relationships/image" Target="../media/image1.png"/><Relationship Id="rId5" Type="http://schemas.microsoft.com/office/2007/relationships/media" Target="../media/media3.mp4"/><Relationship Id="rId10" Type="http://schemas.openxmlformats.org/officeDocument/2006/relationships/notesSlide" Target="../notesSlides/notesSlide10.xml"/><Relationship Id="rId4" Type="http://schemas.openxmlformats.org/officeDocument/2006/relationships/video" Target="../media/media2.mp4"/><Relationship Id="rId9" Type="http://schemas.openxmlformats.org/officeDocument/2006/relationships/slideLayout" Target="../slideLayouts/slideLayout1.xml"/><Relationship Id="rId1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43B91F-6968-4C4A-A6E0-AA9900DC3344}"/>
              </a:ext>
            </a:extLst>
          </p:cNvPr>
          <p:cNvSpPr>
            <a:spLocks noGrp="1"/>
          </p:cNvSpPr>
          <p:nvPr/>
        </p:nvSpPr>
        <p:spPr>
          <a:xfrm>
            <a:off x="533400" y="571500"/>
            <a:ext cx="11125200" cy="19050"/>
          </a:xfrm>
          <a:prstGeom prst="rect">
            <a:avLst/>
          </a:prstGeom>
          <a:solidFill>
            <a:srgbClr val="1E5AA8"/>
          </a:solidFill>
          <a:ln w="0">
            <a:solidFill>
              <a:srgbClr val="1E5AA8"/>
            </a:solidFill>
            <a:prstDash val="solid"/>
          </a:ln>
        </p:spPr>
        <p:txBody>
          <a:bodyPr/>
          <a:lstStyle/>
          <a:p>
            <a:endParaRPr lang="en-US"/>
          </a:p>
        </p:txBody>
      </p:sp>
      <p:sp>
        <p:nvSpPr>
          <p:cNvPr id="3" name="Rectangle 2">
            <a:extLst>
              <a:ext uri="{FF2B5EF4-FFF2-40B4-BE49-F238E27FC236}">
                <a16:creationId xmlns:a16="http://schemas.microsoft.com/office/drawing/2014/main" id="{2A4786BA-2005-4F20-ADBD-1638026BEBEF}"/>
              </a:ext>
            </a:extLst>
          </p:cNvPr>
          <p:cNvSpPr>
            <a:spLocks noGrp="1"/>
          </p:cNvSpPr>
          <p:nvPr/>
        </p:nvSpPr>
        <p:spPr>
          <a:xfrm>
            <a:off x="571500" y="247650"/>
            <a:ext cx="7810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02A43"/>
                </a:solidFill>
                <a:latin typeface="Nunito Sans ExtraBold"/>
                <a:ea typeface="Nunito Sans ExtraBold"/>
                <a:cs typeface="Nunito Sans ExtraBold"/>
              </a:defRPr>
            </a:pPr>
            <a:r>
              <a:rPr sz="2100" b="1">
                <a:solidFill>
                  <a:srgbClr val="102A43"/>
                </a:solidFill>
                <a:latin typeface="Nunito Sans ExtraBold"/>
                <a:ea typeface="Nunito Sans ExtraBold"/>
                <a:cs typeface="Nunito Sans ExtraBold"/>
              </a:rPr>
              <a:t>Selective Observation for Browser Agents</a:t>
            </a:r>
          </a:p>
        </p:txBody>
      </p:sp>
      <p:sp>
        <p:nvSpPr>
          <p:cNvPr id="4" name="Rectangle 3">
            <a:extLst>
              <a:ext uri="{FF2B5EF4-FFF2-40B4-BE49-F238E27FC236}">
                <a16:creationId xmlns:a16="http://schemas.microsoft.com/office/drawing/2014/main" id="{E54F8E4A-B06D-48AB-87C9-D3B334E57ACF}"/>
              </a:ext>
            </a:extLst>
          </p:cNvPr>
          <p:cNvSpPr>
            <a:spLocks noGrp="1"/>
          </p:cNvSpPr>
          <p:nvPr/>
        </p:nvSpPr>
        <p:spPr>
          <a:xfrm>
            <a:off x="10572750" y="247650"/>
            <a:ext cx="1047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B6B82"/>
                </a:solidFill>
                <a:latin typeface="Nunito Sans"/>
                <a:ea typeface="Nunito Sans"/>
                <a:cs typeface="Nunito Sans"/>
              </a:defRPr>
            </a:pPr>
            <a:r>
              <a:rPr sz="825" b="1">
                <a:solidFill>
                  <a:srgbClr val="5B6B82"/>
                </a:solidFill>
                <a:latin typeface="Nunito Sans"/>
                <a:ea typeface="Nunito Sans"/>
                <a:cs typeface="Nunito Sans"/>
              </a:rPr>
              <a:t>01 / 12</a:t>
            </a:r>
          </a:p>
        </p:txBody>
      </p:sp>
      <p:sp>
        <p:nvSpPr>
          <p:cNvPr id="5" name="Rectangle 4">
            <a:extLst>
              <a:ext uri="{FF2B5EF4-FFF2-40B4-BE49-F238E27FC236}">
                <a16:creationId xmlns:a16="http://schemas.microsoft.com/office/drawing/2014/main" id="{8C31E9D8-A3E0-4BFE-8579-1F0DF44A502A}"/>
              </a:ext>
            </a:extLst>
          </p:cNvPr>
          <p:cNvSpPr>
            <a:spLocks noGrp="1"/>
          </p:cNvSpPr>
          <p:nvPr/>
        </p:nvSpPr>
        <p:spPr>
          <a:xfrm>
            <a:off x="571500" y="6553200"/>
            <a:ext cx="3429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Selective Observation for Browser Agents</a:t>
            </a:r>
          </a:p>
        </p:txBody>
      </p:sp>
      <p:sp>
        <p:nvSpPr>
          <p:cNvPr id="6" name="Rectangle 5">
            <a:extLst>
              <a:ext uri="{FF2B5EF4-FFF2-40B4-BE49-F238E27FC236}">
                <a16:creationId xmlns:a16="http://schemas.microsoft.com/office/drawing/2014/main" id="{C81FE42A-310D-4FD1-AE29-F9938E2213BE}"/>
              </a:ext>
            </a:extLst>
          </p:cNvPr>
          <p:cNvSpPr>
            <a:spLocks noGrp="1"/>
          </p:cNvSpPr>
          <p:nvPr/>
        </p:nvSpPr>
        <p:spPr>
          <a:xfrm>
            <a:off x="9810750" y="6553200"/>
            <a:ext cx="180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1">
                <a:solidFill>
                  <a:srgbClr val="1E5AA8"/>
                </a:solidFill>
                <a:latin typeface="Nunito Sans"/>
                <a:ea typeface="Nunito Sans"/>
                <a:cs typeface="Nunito Sans"/>
              </a:defRPr>
            </a:pPr>
            <a:r>
              <a:rPr sz="675" b="1">
                <a:solidFill>
                  <a:srgbClr val="1E5AA8"/>
                </a:solidFill>
                <a:latin typeface="Nunito Sans"/>
                <a:ea typeface="Nunito Sans"/>
                <a:cs typeface="Nunito Sans"/>
              </a:rPr>
              <a:t>UC SANTA BARBARA</a:t>
            </a:r>
          </a:p>
        </p:txBody>
      </p:sp>
      <p:sp>
        <p:nvSpPr>
          <p:cNvPr id="7" name="Rectangle 6">
            <a:extLst>
              <a:ext uri="{FF2B5EF4-FFF2-40B4-BE49-F238E27FC236}">
                <a16:creationId xmlns:a16="http://schemas.microsoft.com/office/drawing/2014/main" id="{040427E6-FF2B-4DED-AF17-8441BFBF98D8}"/>
              </a:ext>
            </a:extLst>
          </p:cNvPr>
          <p:cNvSpPr>
            <a:spLocks noGrp="1"/>
          </p:cNvSpPr>
          <p:nvPr/>
        </p:nvSpPr>
        <p:spPr>
          <a:xfrm>
            <a:off x="571500" y="1123950"/>
            <a:ext cx="8953500" cy="666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102A43"/>
                </a:solidFill>
                <a:latin typeface="Nunito Sans ExtraBold"/>
                <a:ea typeface="Nunito Sans ExtraBold"/>
                <a:cs typeface="Nunito Sans ExtraBold"/>
              </a:defRPr>
            </a:pPr>
            <a:r>
              <a:rPr sz="2850" b="1" dirty="0">
                <a:solidFill>
                  <a:srgbClr val="102A43"/>
                </a:solidFill>
                <a:latin typeface="Nunito Sans ExtraBold"/>
                <a:ea typeface="Nunito Sans ExtraBold"/>
                <a:cs typeface="Nunito Sans ExtraBold"/>
              </a:rPr>
              <a:t>Learn when to re-observe the DOM - and when a browser agent can safely coast on its plan.</a:t>
            </a:r>
          </a:p>
        </p:txBody>
      </p:sp>
      <p:sp>
        <p:nvSpPr>
          <p:cNvPr id="8" name="Rectangle 7">
            <a:extLst>
              <a:ext uri="{FF2B5EF4-FFF2-40B4-BE49-F238E27FC236}">
                <a16:creationId xmlns:a16="http://schemas.microsoft.com/office/drawing/2014/main" id="{889F42CB-F7F7-418F-A3DF-8F179DE9CDB3}"/>
              </a:ext>
            </a:extLst>
          </p:cNvPr>
          <p:cNvSpPr>
            <a:spLocks noGrp="1"/>
          </p:cNvSpPr>
          <p:nvPr/>
        </p:nvSpPr>
        <p:spPr>
          <a:xfrm>
            <a:off x="590550" y="4752975"/>
            <a:ext cx="5143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975" b="1">
                <a:solidFill>
                  <a:srgbClr val="5B6B82"/>
                </a:solidFill>
                <a:latin typeface="Nunito Sans"/>
                <a:ea typeface="Nunito Sans"/>
                <a:cs typeface="Nunito Sans"/>
              </a:defRPr>
            </a:pPr>
            <a:r>
              <a:rPr sz="975" b="1" dirty="0" err="1">
                <a:solidFill>
                  <a:srgbClr val="5B6B82"/>
                </a:solidFill>
                <a:latin typeface="Nunito Sans"/>
                <a:ea typeface="Nunito Sans"/>
                <a:cs typeface="Nunito Sans"/>
              </a:rPr>
              <a:t>Dingjiang</a:t>
            </a:r>
            <a:r>
              <a:rPr sz="975" b="1" dirty="0">
                <a:solidFill>
                  <a:srgbClr val="5B6B82"/>
                </a:solidFill>
                <a:latin typeface="Nunito Sans"/>
                <a:ea typeface="Nunito Sans"/>
                <a:cs typeface="Nunito Sans"/>
              </a:rPr>
              <a:t> Liang  | </a:t>
            </a:r>
            <a:r>
              <a:rPr lang="en-US" altLang="zh-CN" sz="975" b="1" dirty="0">
                <a:solidFill>
                  <a:srgbClr val="5B6B82"/>
                </a:solidFill>
                <a:latin typeface="Nunito Sans"/>
                <a:ea typeface="Nunito Sans"/>
                <a:cs typeface="Nunito Sans"/>
              </a:rPr>
              <a:t>Zejun Huang</a:t>
            </a:r>
            <a:r>
              <a:rPr lang="zh-CN" altLang="en-US" sz="975" b="1" dirty="0">
                <a:solidFill>
                  <a:srgbClr val="5B6B82"/>
                </a:solidFill>
                <a:latin typeface="Nunito Sans"/>
                <a:ea typeface="Nunito Sans"/>
                <a:cs typeface="Nunito Sans"/>
              </a:rPr>
              <a:t> </a:t>
            </a:r>
            <a:r>
              <a:rPr lang="en-US" altLang="zh-CN" sz="975" b="1" dirty="0">
                <a:solidFill>
                  <a:srgbClr val="5B6B82"/>
                </a:solidFill>
                <a:latin typeface="Nunito Sans"/>
                <a:ea typeface="Nunito Sans"/>
                <a:cs typeface="Nunito Sans"/>
              </a:rPr>
              <a:t>| </a:t>
            </a:r>
            <a:r>
              <a:rPr sz="975" b="1" dirty="0">
                <a:solidFill>
                  <a:srgbClr val="5B6B82"/>
                </a:solidFill>
                <a:latin typeface="Nunito Sans"/>
                <a:ea typeface="Nunito Sans"/>
                <a:cs typeface="Nunito Sans"/>
              </a:rPr>
              <a:t>UCSB  |  June 2026</a:t>
            </a:r>
          </a:p>
        </p:txBody>
      </p:sp>
      <p:sp>
        <p:nvSpPr>
          <p:cNvPr id="9" name="Rectangle 8">
            <a:extLst>
              <a:ext uri="{FF2B5EF4-FFF2-40B4-BE49-F238E27FC236}">
                <a16:creationId xmlns:a16="http://schemas.microsoft.com/office/drawing/2014/main" id="{F86859D0-4C13-498F-A643-0FA8B2DEA648}"/>
              </a:ext>
            </a:extLst>
          </p:cNvPr>
          <p:cNvSpPr>
            <a:spLocks noGrp="1"/>
          </p:cNvSpPr>
          <p:nvPr/>
        </p:nvSpPr>
        <p:spPr>
          <a:xfrm>
            <a:off x="590550" y="2057400"/>
            <a:ext cx="2095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E5AA8"/>
                </a:solidFill>
                <a:latin typeface="Nunito Sans"/>
                <a:ea typeface="Nunito Sans"/>
                <a:cs typeface="Nunito Sans"/>
              </a:defRPr>
            </a:pPr>
            <a:r>
              <a:rPr sz="975" b="1">
                <a:solidFill>
                  <a:srgbClr val="1E5AA8"/>
                </a:solidFill>
                <a:latin typeface="Nunito Sans"/>
                <a:ea typeface="Nunito Sans"/>
                <a:cs typeface="Nunito Sans"/>
              </a:rPr>
              <a:t>Research question</a:t>
            </a:r>
          </a:p>
        </p:txBody>
      </p:sp>
      <p:sp>
        <p:nvSpPr>
          <p:cNvPr id="10" name="Rectangle 9">
            <a:extLst>
              <a:ext uri="{FF2B5EF4-FFF2-40B4-BE49-F238E27FC236}">
                <a16:creationId xmlns:a16="http://schemas.microsoft.com/office/drawing/2014/main" id="{1C0E81CD-A081-40EC-9500-123577D23393}"/>
              </a:ext>
            </a:extLst>
          </p:cNvPr>
          <p:cNvSpPr>
            <a:spLocks noGrp="1"/>
          </p:cNvSpPr>
          <p:nvPr/>
        </p:nvSpPr>
        <p:spPr>
          <a:xfrm>
            <a:off x="590550" y="2324100"/>
            <a:ext cx="6858000"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02A43"/>
                </a:solidFill>
                <a:latin typeface="Nunito Sans"/>
                <a:ea typeface="Nunito Sans"/>
                <a:cs typeface="Nunito Sans"/>
              </a:defRPr>
            </a:pPr>
            <a:r>
              <a:rPr sz="1800" b="1">
                <a:solidFill>
                  <a:srgbClr val="102A43"/>
                </a:solidFill>
                <a:latin typeface="Nunito Sans"/>
                <a:ea typeface="Nunito Sans"/>
                <a:cs typeface="Nunito Sans"/>
              </a:rPr>
              <a:t>Can a learned observation gate reduce expensive model calls without lowering task success, while still keeping checkpoint re-checking interpretable?</a:t>
            </a:r>
          </a:p>
        </p:txBody>
      </p:sp>
      <p:sp>
        <p:nvSpPr>
          <p:cNvPr id="11" name="Rounded Rectangle 10">
            <a:extLst>
              <a:ext uri="{FF2B5EF4-FFF2-40B4-BE49-F238E27FC236}">
                <a16:creationId xmlns:a16="http://schemas.microsoft.com/office/drawing/2014/main" id="{079B6288-9FAA-4DDC-AF78-238D354C7903}"/>
              </a:ext>
            </a:extLst>
          </p:cNvPr>
          <p:cNvSpPr>
            <a:spLocks noGrp="1"/>
          </p:cNvSpPr>
          <p:nvPr/>
        </p:nvSpPr>
        <p:spPr>
          <a:xfrm>
            <a:off x="590550" y="3448050"/>
            <a:ext cx="2209800" cy="1028700"/>
          </a:xfrm>
          <a:prstGeom prst="roundRect">
            <a:avLst>
              <a:gd name="adj" fmla="val 7407"/>
            </a:avLst>
          </a:prstGeom>
          <a:solidFill>
            <a:srgbClr val="F7FAFC"/>
          </a:solidFill>
          <a:ln w="9525">
            <a:solidFill>
              <a:srgbClr val="D8E1ED"/>
            </a:solidFill>
            <a:prstDash val="solid"/>
          </a:ln>
        </p:spPr>
        <p:txBody>
          <a:bodyPr/>
          <a:lstStyle/>
          <a:p>
            <a:endParaRPr lang="en-US"/>
          </a:p>
        </p:txBody>
      </p:sp>
      <p:sp>
        <p:nvSpPr>
          <p:cNvPr id="12" name="Rectangle 11">
            <a:extLst>
              <a:ext uri="{FF2B5EF4-FFF2-40B4-BE49-F238E27FC236}">
                <a16:creationId xmlns:a16="http://schemas.microsoft.com/office/drawing/2014/main" id="{491B5AA1-16AB-4452-81DD-75065F8B0CFB}"/>
              </a:ext>
            </a:extLst>
          </p:cNvPr>
          <p:cNvSpPr>
            <a:spLocks noGrp="1"/>
          </p:cNvSpPr>
          <p:nvPr/>
        </p:nvSpPr>
        <p:spPr>
          <a:xfrm>
            <a:off x="590550" y="3448050"/>
            <a:ext cx="2209800" cy="57150"/>
          </a:xfrm>
          <a:prstGeom prst="rect">
            <a:avLst/>
          </a:prstGeom>
          <a:solidFill>
            <a:srgbClr val="1E5AA8"/>
          </a:solidFill>
          <a:ln w="0">
            <a:solidFill>
              <a:srgbClr val="1E5AA8"/>
            </a:solidFill>
            <a:prstDash val="solid"/>
          </a:ln>
        </p:spPr>
        <p:txBody>
          <a:bodyPr/>
          <a:lstStyle/>
          <a:p>
            <a:endParaRPr lang="en-US"/>
          </a:p>
        </p:txBody>
      </p:sp>
      <p:sp>
        <p:nvSpPr>
          <p:cNvPr id="13" name="Rectangle 12">
            <a:extLst>
              <a:ext uri="{FF2B5EF4-FFF2-40B4-BE49-F238E27FC236}">
                <a16:creationId xmlns:a16="http://schemas.microsoft.com/office/drawing/2014/main" id="{E7CFFEF1-A9EA-441D-9C59-39C15B0F012D}"/>
              </a:ext>
            </a:extLst>
          </p:cNvPr>
          <p:cNvSpPr>
            <a:spLocks noGrp="1"/>
          </p:cNvSpPr>
          <p:nvPr/>
        </p:nvSpPr>
        <p:spPr>
          <a:xfrm>
            <a:off x="762000" y="3619500"/>
            <a:ext cx="18669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A43"/>
                </a:solidFill>
                <a:latin typeface="Nunito Sans ExtraBold"/>
                <a:ea typeface="Nunito Sans ExtraBold"/>
                <a:cs typeface="Nunito Sans ExtraBold"/>
              </a:defRPr>
            </a:pPr>
            <a:r>
              <a:rPr sz="2250" b="1">
                <a:solidFill>
                  <a:srgbClr val="102A43"/>
                </a:solidFill>
                <a:latin typeface="Nunito Sans ExtraBold"/>
                <a:ea typeface="Nunito Sans ExtraBold"/>
                <a:cs typeface="Nunito Sans ExtraBold"/>
              </a:rPr>
              <a:t>15</a:t>
            </a:r>
          </a:p>
        </p:txBody>
      </p:sp>
      <p:sp>
        <p:nvSpPr>
          <p:cNvPr id="14" name="Rectangle 13">
            <a:extLst>
              <a:ext uri="{FF2B5EF4-FFF2-40B4-BE49-F238E27FC236}">
                <a16:creationId xmlns:a16="http://schemas.microsoft.com/office/drawing/2014/main" id="{034CF10E-D67D-4118-8D0D-EDF68801F420}"/>
              </a:ext>
            </a:extLst>
          </p:cNvPr>
          <p:cNvSpPr>
            <a:spLocks noGrp="1"/>
          </p:cNvSpPr>
          <p:nvPr/>
        </p:nvSpPr>
        <p:spPr>
          <a:xfrm>
            <a:off x="762000" y="4038600"/>
            <a:ext cx="18669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5B6B82"/>
                </a:solidFill>
                <a:latin typeface="Nunito Sans"/>
                <a:ea typeface="Nunito Sans"/>
                <a:cs typeface="Nunito Sans"/>
              </a:defRPr>
            </a:pPr>
            <a:r>
              <a:rPr sz="975" b="1">
                <a:solidFill>
                  <a:srgbClr val="5B6B82"/>
                </a:solidFill>
                <a:latin typeface="Nunito Sans"/>
                <a:ea typeface="Nunito Sans"/>
                <a:cs typeface="Nunito Sans"/>
              </a:rPr>
              <a:t>focused local workflow tasks</a:t>
            </a:r>
          </a:p>
        </p:txBody>
      </p:sp>
      <p:sp>
        <p:nvSpPr>
          <p:cNvPr id="15" name="Rounded Rectangle 14">
            <a:extLst>
              <a:ext uri="{FF2B5EF4-FFF2-40B4-BE49-F238E27FC236}">
                <a16:creationId xmlns:a16="http://schemas.microsoft.com/office/drawing/2014/main" id="{4887D60D-901A-4898-B37D-4B30DE85FC8E}"/>
              </a:ext>
            </a:extLst>
          </p:cNvPr>
          <p:cNvSpPr>
            <a:spLocks noGrp="1"/>
          </p:cNvSpPr>
          <p:nvPr/>
        </p:nvSpPr>
        <p:spPr>
          <a:xfrm>
            <a:off x="3048000" y="3448050"/>
            <a:ext cx="2209800" cy="1028700"/>
          </a:xfrm>
          <a:prstGeom prst="roundRect">
            <a:avLst>
              <a:gd name="adj" fmla="val 7407"/>
            </a:avLst>
          </a:prstGeom>
          <a:solidFill>
            <a:srgbClr val="F7FAFC"/>
          </a:solidFill>
          <a:ln w="9525">
            <a:solidFill>
              <a:srgbClr val="D8E1ED"/>
            </a:solidFill>
            <a:prstDash val="solid"/>
          </a:ln>
        </p:spPr>
        <p:txBody>
          <a:bodyPr/>
          <a:lstStyle/>
          <a:p>
            <a:endParaRPr lang="en-US"/>
          </a:p>
        </p:txBody>
      </p:sp>
      <p:sp>
        <p:nvSpPr>
          <p:cNvPr id="16" name="Rectangle 15">
            <a:extLst>
              <a:ext uri="{FF2B5EF4-FFF2-40B4-BE49-F238E27FC236}">
                <a16:creationId xmlns:a16="http://schemas.microsoft.com/office/drawing/2014/main" id="{5CD4D829-9A6E-4B52-8F5B-7C54FAB205C2}"/>
              </a:ext>
            </a:extLst>
          </p:cNvPr>
          <p:cNvSpPr>
            <a:spLocks noGrp="1"/>
          </p:cNvSpPr>
          <p:nvPr/>
        </p:nvSpPr>
        <p:spPr>
          <a:xfrm>
            <a:off x="3048000" y="3448050"/>
            <a:ext cx="2209800" cy="57150"/>
          </a:xfrm>
          <a:prstGeom prst="rect">
            <a:avLst/>
          </a:prstGeom>
          <a:solidFill>
            <a:srgbClr val="2D936C"/>
          </a:solidFill>
          <a:ln w="0">
            <a:solidFill>
              <a:srgbClr val="2D936C"/>
            </a:solidFill>
            <a:prstDash val="solid"/>
          </a:ln>
        </p:spPr>
        <p:txBody>
          <a:bodyPr/>
          <a:lstStyle/>
          <a:p>
            <a:endParaRPr lang="en-US"/>
          </a:p>
        </p:txBody>
      </p:sp>
      <p:sp>
        <p:nvSpPr>
          <p:cNvPr id="17" name="Rectangle 16">
            <a:extLst>
              <a:ext uri="{FF2B5EF4-FFF2-40B4-BE49-F238E27FC236}">
                <a16:creationId xmlns:a16="http://schemas.microsoft.com/office/drawing/2014/main" id="{2C030561-85F9-4A5D-B118-59A9FCCE3F82}"/>
              </a:ext>
            </a:extLst>
          </p:cNvPr>
          <p:cNvSpPr>
            <a:spLocks noGrp="1"/>
          </p:cNvSpPr>
          <p:nvPr/>
        </p:nvSpPr>
        <p:spPr>
          <a:xfrm>
            <a:off x="3219450" y="3619500"/>
            <a:ext cx="18669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A43"/>
                </a:solidFill>
                <a:latin typeface="Nunito Sans ExtraBold"/>
                <a:ea typeface="Nunito Sans ExtraBold"/>
                <a:cs typeface="Nunito Sans ExtraBold"/>
              </a:defRPr>
            </a:pPr>
            <a:r>
              <a:rPr sz="2250" b="1">
                <a:solidFill>
                  <a:srgbClr val="102A43"/>
                </a:solidFill>
                <a:latin typeface="Nunito Sans ExtraBold"/>
                <a:ea typeface="Nunito Sans ExtraBold"/>
                <a:cs typeface="Nunito Sans ExtraBold"/>
              </a:rPr>
              <a:t>100%</a:t>
            </a:r>
          </a:p>
        </p:txBody>
      </p:sp>
      <p:sp>
        <p:nvSpPr>
          <p:cNvPr id="18" name="Rectangle 17">
            <a:extLst>
              <a:ext uri="{FF2B5EF4-FFF2-40B4-BE49-F238E27FC236}">
                <a16:creationId xmlns:a16="http://schemas.microsoft.com/office/drawing/2014/main" id="{82D604C7-6021-4B47-9FD2-879FE224E133}"/>
              </a:ext>
            </a:extLst>
          </p:cNvPr>
          <p:cNvSpPr>
            <a:spLocks noGrp="1"/>
          </p:cNvSpPr>
          <p:nvPr/>
        </p:nvSpPr>
        <p:spPr>
          <a:xfrm>
            <a:off x="3219450" y="4038600"/>
            <a:ext cx="18669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5B6B82"/>
                </a:solidFill>
                <a:latin typeface="Nunito Sans"/>
                <a:ea typeface="Nunito Sans"/>
                <a:cs typeface="Nunito Sans"/>
              </a:defRPr>
            </a:pPr>
            <a:r>
              <a:rPr sz="975" b="1">
                <a:solidFill>
                  <a:srgbClr val="5B6B82"/>
                </a:solidFill>
                <a:latin typeface="Nunito Sans"/>
                <a:ea typeface="Nunito Sans"/>
                <a:cs typeface="Nunito Sans"/>
              </a:rPr>
              <a:t>success for learned@0.2</a:t>
            </a:r>
          </a:p>
        </p:txBody>
      </p:sp>
      <p:sp>
        <p:nvSpPr>
          <p:cNvPr id="19" name="Rounded Rectangle 18">
            <a:extLst>
              <a:ext uri="{FF2B5EF4-FFF2-40B4-BE49-F238E27FC236}">
                <a16:creationId xmlns:a16="http://schemas.microsoft.com/office/drawing/2014/main" id="{58AA4B62-7A44-4F93-83CB-0EDBA0F2A178}"/>
              </a:ext>
            </a:extLst>
          </p:cNvPr>
          <p:cNvSpPr>
            <a:spLocks noGrp="1"/>
          </p:cNvSpPr>
          <p:nvPr/>
        </p:nvSpPr>
        <p:spPr>
          <a:xfrm>
            <a:off x="5505450" y="3448050"/>
            <a:ext cx="2209800" cy="1028700"/>
          </a:xfrm>
          <a:prstGeom prst="roundRect">
            <a:avLst>
              <a:gd name="adj" fmla="val 7407"/>
            </a:avLst>
          </a:prstGeom>
          <a:solidFill>
            <a:srgbClr val="F7FAFC"/>
          </a:solidFill>
          <a:ln w="9525">
            <a:solidFill>
              <a:srgbClr val="D8E1ED"/>
            </a:solidFill>
            <a:prstDash val="solid"/>
          </a:ln>
        </p:spPr>
        <p:txBody>
          <a:bodyPr/>
          <a:lstStyle/>
          <a:p>
            <a:endParaRPr lang="en-US"/>
          </a:p>
        </p:txBody>
      </p:sp>
      <p:sp>
        <p:nvSpPr>
          <p:cNvPr id="20" name="Rectangle 19">
            <a:extLst>
              <a:ext uri="{FF2B5EF4-FFF2-40B4-BE49-F238E27FC236}">
                <a16:creationId xmlns:a16="http://schemas.microsoft.com/office/drawing/2014/main" id="{F3BB17EA-A48A-44AA-977B-B8CC99A0A81F}"/>
              </a:ext>
            </a:extLst>
          </p:cNvPr>
          <p:cNvSpPr>
            <a:spLocks noGrp="1"/>
          </p:cNvSpPr>
          <p:nvPr/>
        </p:nvSpPr>
        <p:spPr>
          <a:xfrm>
            <a:off x="5505450" y="3448050"/>
            <a:ext cx="2209800" cy="57150"/>
          </a:xfrm>
          <a:prstGeom prst="rect">
            <a:avLst/>
          </a:prstGeom>
          <a:solidFill>
            <a:srgbClr val="C9832B"/>
          </a:solidFill>
          <a:ln w="0">
            <a:solidFill>
              <a:srgbClr val="C9832B"/>
            </a:solidFill>
            <a:prstDash val="solid"/>
          </a:ln>
        </p:spPr>
        <p:txBody>
          <a:bodyPr/>
          <a:lstStyle/>
          <a:p>
            <a:endParaRPr lang="en-US"/>
          </a:p>
        </p:txBody>
      </p:sp>
      <p:sp>
        <p:nvSpPr>
          <p:cNvPr id="21" name="Rectangle 20">
            <a:extLst>
              <a:ext uri="{FF2B5EF4-FFF2-40B4-BE49-F238E27FC236}">
                <a16:creationId xmlns:a16="http://schemas.microsoft.com/office/drawing/2014/main" id="{085AABB8-FA0B-4EDE-827F-23EA2DCF6CCA}"/>
              </a:ext>
            </a:extLst>
          </p:cNvPr>
          <p:cNvSpPr>
            <a:spLocks noGrp="1"/>
          </p:cNvSpPr>
          <p:nvPr/>
        </p:nvSpPr>
        <p:spPr>
          <a:xfrm>
            <a:off x="5676900" y="3619500"/>
            <a:ext cx="18669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A43"/>
                </a:solidFill>
                <a:latin typeface="Nunito Sans ExtraBold"/>
                <a:ea typeface="Nunito Sans ExtraBold"/>
                <a:cs typeface="Nunito Sans ExtraBold"/>
              </a:defRPr>
            </a:pPr>
            <a:r>
              <a:rPr sz="2250" b="1">
                <a:solidFill>
                  <a:srgbClr val="102A43"/>
                </a:solidFill>
                <a:latin typeface="Nunito Sans ExtraBold"/>
                <a:ea typeface="Nunito Sans ExtraBold"/>
                <a:cs typeface="Nunito Sans ExtraBold"/>
              </a:rPr>
              <a:t>33%</a:t>
            </a:r>
          </a:p>
        </p:txBody>
      </p:sp>
      <p:sp>
        <p:nvSpPr>
          <p:cNvPr id="22" name="Rectangle 21">
            <a:extLst>
              <a:ext uri="{FF2B5EF4-FFF2-40B4-BE49-F238E27FC236}">
                <a16:creationId xmlns:a16="http://schemas.microsoft.com/office/drawing/2014/main" id="{B791ADCB-BE89-44F1-B3FF-F4EC5F8BC2E6}"/>
              </a:ext>
            </a:extLst>
          </p:cNvPr>
          <p:cNvSpPr>
            <a:spLocks noGrp="1"/>
          </p:cNvSpPr>
          <p:nvPr/>
        </p:nvSpPr>
        <p:spPr>
          <a:xfrm>
            <a:off x="5676900" y="4038600"/>
            <a:ext cx="18669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5B6B82"/>
                </a:solidFill>
                <a:latin typeface="Nunito Sans"/>
                <a:ea typeface="Nunito Sans"/>
                <a:cs typeface="Nunito Sans"/>
              </a:defRPr>
            </a:pPr>
            <a:r>
              <a:rPr sz="975" b="1">
                <a:solidFill>
                  <a:srgbClr val="5B6B82"/>
                </a:solidFill>
                <a:latin typeface="Nunito Sans"/>
                <a:ea typeface="Nunito Sans"/>
                <a:cs typeface="Nunito Sans"/>
              </a:rPr>
              <a:t>fewer calls than handrule</a:t>
            </a:r>
          </a:p>
        </p:txBody>
      </p:sp>
      <p:sp>
        <p:nvSpPr>
          <p:cNvPr id="23" name="Rounded Rectangle 22">
            <a:extLst>
              <a:ext uri="{FF2B5EF4-FFF2-40B4-BE49-F238E27FC236}">
                <a16:creationId xmlns:a16="http://schemas.microsoft.com/office/drawing/2014/main" id="{440CAC4D-BD93-4E50-9783-558B043A4CDA}"/>
              </a:ext>
            </a:extLst>
          </p:cNvPr>
          <p:cNvSpPr>
            <a:spLocks noGrp="1"/>
          </p:cNvSpPr>
          <p:nvPr/>
        </p:nvSpPr>
        <p:spPr>
          <a:xfrm>
            <a:off x="8458200" y="2362200"/>
            <a:ext cx="2724150" cy="2971800"/>
          </a:xfrm>
          <a:prstGeom prst="roundRect">
            <a:avLst>
              <a:gd name="adj" fmla="val 2797"/>
            </a:avLst>
          </a:prstGeom>
          <a:solidFill>
            <a:srgbClr val="0F172A"/>
          </a:solidFill>
          <a:ln w="0">
            <a:solidFill>
              <a:srgbClr val="0F172A"/>
            </a:solidFill>
            <a:prstDash val="solid"/>
          </a:ln>
        </p:spPr>
        <p:txBody>
          <a:bodyPr/>
          <a:lstStyle/>
          <a:p>
            <a:endParaRPr lang="en-US"/>
          </a:p>
        </p:txBody>
      </p:sp>
      <p:sp>
        <p:nvSpPr>
          <p:cNvPr id="24" name="Rectangle 23">
            <a:extLst>
              <a:ext uri="{FF2B5EF4-FFF2-40B4-BE49-F238E27FC236}">
                <a16:creationId xmlns:a16="http://schemas.microsoft.com/office/drawing/2014/main" id="{00CC3AA6-56CD-47A6-B0F9-72D0B57027AC}"/>
              </a:ext>
            </a:extLst>
          </p:cNvPr>
          <p:cNvSpPr>
            <a:spLocks noGrp="1"/>
          </p:cNvSpPr>
          <p:nvPr/>
        </p:nvSpPr>
        <p:spPr>
          <a:xfrm>
            <a:off x="8743950" y="2564823"/>
            <a:ext cx="2000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B8C7DA"/>
                </a:solidFill>
                <a:latin typeface="Nunito Sans"/>
                <a:ea typeface="Nunito Sans"/>
                <a:cs typeface="Nunito Sans"/>
              </a:defRPr>
            </a:pPr>
            <a:r>
              <a:rPr sz="900" b="1" dirty="0">
                <a:solidFill>
                  <a:srgbClr val="B8C7DA"/>
                </a:solidFill>
                <a:latin typeface="Nunito Sans"/>
                <a:ea typeface="Nunito Sans"/>
                <a:cs typeface="Nunito Sans"/>
              </a:rPr>
              <a:t>Final headline</a:t>
            </a:r>
          </a:p>
        </p:txBody>
      </p:sp>
      <p:sp>
        <p:nvSpPr>
          <p:cNvPr id="25" name="Rectangle 24">
            <a:extLst>
              <a:ext uri="{FF2B5EF4-FFF2-40B4-BE49-F238E27FC236}">
                <a16:creationId xmlns:a16="http://schemas.microsoft.com/office/drawing/2014/main" id="{EC00FF1F-C525-485A-957A-F872AFB75638}"/>
              </a:ext>
            </a:extLst>
          </p:cNvPr>
          <p:cNvSpPr>
            <a:spLocks noGrp="1"/>
          </p:cNvSpPr>
          <p:nvPr/>
        </p:nvSpPr>
        <p:spPr>
          <a:xfrm>
            <a:off x="8743950" y="2869623"/>
            <a:ext cx="2000250" cy="1562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100" b="1">
                <a:solidFill>
                  <a:srgbClr val="FFFFFF"/>
                </a:solidFill>
                <a:latin typeface="Nunito Sans ExtraBold"/>
                <a:ea typeface="Nunito Sans ExtraBold"/>
                <a:cs typeface="Nunito Sans ExtraBold"/>
              </a:defRPr>
            </a:pPr>
            <a:r>
              <a:rPr sz="2100" b="1" dirty="0">
                <a:solidFill>
                  <a:srgbClr val="FFFFFF"/>
                </a:solidFill>
                <a:latin typeface="Nunito Sans ExtraBold"/>
                <a:ea typeface="Nunito Sans ExtraBold"/>
                <a:cs typeface="Nunito Sans ExtraBold"/>
              </a:rPr>
              <a:t>learned@0.2</a:t>
            </a:r>
          </a:p>
          <a:p>
            <a:pPr algn="ctr">
              <a:defRPr sz="2100" b="1">
                <a:solidFill>
                  <a:srgbClr val="FFFFFF"/>
                </a:solidFill>
                <a:latin typeface="Nunito Sans ExtraBold"/>
                <a:ea typeface="Nunito Sans ExtraBold"/>
                <a:cs typeface="Nunito Sans ExtraBold"/>
              </a:defRPr>
            </a:pPr>
            <a:r>
              <a:rPr sz="2100" b="1" dirty="0">
                <a:solidFill>
                  <a:srgbClr val="FFFFFF"/>
                </a:solidFill>
                <a:latin typeface="Nunito Sans ExtraBold"/>
                <a:ea typeface="Nunito Sans ExtraBold"/>
                <a:cs typeface="Nunito Sans ExtraBold"/>
              </a:rPr>
              <a:t>matches 100% success</a:t>
            </a:r>
          </a:p>
          <a:p>
            <a:pPr algn="ctr">
              <a:defRPr sz="2100" b="1">
                <a:solidFill>
                  <a:srgbClr val="FFFFFF"/>
                </a:solidFill>
                <a:latin typeface="Nunito Sans ExtraBold"/>
                <a:ea typeface="Nunito Sans ExtraBold"/>
                <a:cs typeface="Nunito Sans ExtraBold"/>
              </a:defRPr>
            </a:pPr>
            <a:r>
              <a:rPr sz="2100" b="1" dirty="0">
                <a:solidFill>
                  <a:srgbClr val="FFFFFF"/>
                </a:solidFill>
                <a:latin typeface="Nunito Sans ExtraBold"/>
                <a:ea typeface="Nunito Sans ExtraBold"/>
                <a:cs typeface="Nunito Sans ExtraBold"/>
              </a:rPr>
              <a:t>while using</a:t>
            </a:r>
          </a:p>
          <a:p>
            <a:pPr algn="ctr">
              <a:defRPr sz="2100" b="1">
                <a:solidFill>
                  <a:srgbClr val="FFFFFF"/>
                </a:solidFill>
                <a:latin typeface="Nunito Sans ExtraBold"/>
                <a:ea typeface="Nunito Sans ExtraBold"/>
                <a:cs typeface="Nunito Sans ExtraBold"/>
              </a:defRPr>
            </a:pPr>
            <a:r>
              <a:rPr sz="2100" b="1" dirty="0">
                <a:solidFill>
                  <a:srgbClr val="FFFFFF"/>
                </a:solidFill>
                <a:latin typeface="Nunito Sans ExtraBold"/>
                <a:ea typeface="Nunito Sans ExtraBold"/>
                <a:cs typeface="Nunito Sans ExtraBold"/>
              </a:rPr>
              <a:t>2.07 calls</a:t>
            </a:r>
          </a:p>
          <a:p>
            <a:pPr algn="ctr">
              <a:defRPr sz="2100" b="1">
                <a:solidFill>
                  <a:srgbClr val="FFFFFF"/>
                </a:solidFill>
                <a:latin typeface="Nunito Sans ExtraBold"/>
                <a:ea typeface="Nunito Sans ExtraBold"/>
                <a:cs typeface="Nunito Sans ExtraBold"/>
              </a:defRPr>
            </a:pPr>
            <a:r>
              <a:rPr sz="2100" b="1" dirty="0">
                <a:solidFill>
                  <a:srgbClr val="FFFFFF"/>
                </a:solidFill>
                <a:latin typeface="Nunito Sans ExtraBold"/>
                <a:ea typeface="Nunito Sans ExtraBold"/>
                <a:cs typeface="Nunito Sans ExtraBold"/>
              </a:rPr>
              <a:t>vs 3.07</a:t>
            </a:r>
          </a:p>
        </p:txBody>
      </p:sp>
      <p:sp>
        <p:nvSpPr>
          <p:cNvPr id="26" name="Rectangle 25">
            <a:extLst>
              <a:ext uri="{FF2B5EF4-FFF2-40B4-BE49-F238E27FC236}">
                <a16:creationId xmlns:a16="http://schemas.microsoft.com/office/drawing/2014/main" id="{9F7B07A4-4149-4C53-B9E5-E9C5EB1F414F}"/>
              </a:ext>
            </a:extLst>
          </p:cNvPr>
          <p:cNvSpPr>
            <a:spLocks noGrp="1"/>
          </p:cNvSpPr>
          <p:nvPr/>
        </p:nvSpPr>
        <p:spPr>
          <a:xfrm>
            <a:off x="8629650" y="4991100"/>
            <a:ext cx="22479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C9D7E5"/>
                </a:solidFill>
                <a:latin typeface="Nunito Sans"/>
                <a:ea typeface="Nunito Sans"/>
                <a:cs typeface="Nunito Sans"/>
              </a:defRPr>
            </a:pPr>
            <a:r>
              <a:rPr sz="825" b="0">
                <a:solidFill>
                  <a:srgbClr val="C9D7E5"/>
                </a:solidFill>
                <a:latin typeface="Nunito Sans"/>
                <a:ea typeface="Nunito Sans"/>
                <a:cs typeface="Nunito Sans"/>
              </a:rPr>
              <a:t>Main suite: soa-workflow-focus-v2, DOM observation, gpt-4o-mini</a:t>
            </a:r>
          </a:p>
        </p:txBody>
      </p:sp>
    </p:spTree>
    <p:extLst>
      <p:ext uri="{BB962C8B-B14F-4D97-AF65-F5344CB8AC3E}">
        <p14:creationId xmlns:p14="http://schemas.microsoft.com/office/powerpoint/2010/main" val="477978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FC61B2-2EF4-4F40-B98E-3E2DF67111FC}"/>
              </a:ext>
            </a:extLst>
          </p:cNvPr>
          <p:cNvSpPr>
            <a:spLocks noGrp="1"/>
          </p:cNvSpPr>
          <p:nvPr/>
        </p:nvSpPr>
        <p:spPr>
          <a:xfrm>
            <a:off x="533400" y="571500"/>
            <a:ext cx="11125200" cy="19050"/>
          </a:xfrm>
          <a:prstGeom prst="rect">
            <a:avLst/>
          </a:prstGeom>
          <a:solidFill>
            <a:srgbClr val="1E5AA8"/>
          </a:solidFill>
          <a:ln w="0">
            <a:solidFill>
              <a:srgbClr val="1E5AA8"/>
            </a:solidFill>
            <a:prstDash val="solid"/>
          </a:ln>
        </p:spPr>
        <p:txBody>
          <a:bodyPr/>
          <a:lstStyle/>
          <a:p>
            <a:endParaRPr lang="en-US"/>
          </a:p>
        </p:txBody>
      </p:sp>
      <p:sp>
        <p:nvSpPr>
          <p:cNvPr id="3" name="Rectangle 2">
            <a:extLst>
              <a:ext uri="{FF2B5EF4-FFF2-40B4-BE49-F238E27FC236}">
                <a16:creationId xmlns:a16="http://schemas.microsoft.com/office/drawing/2014/main" id="{02B6A869-5E2E-4526-9767-6A669D6DF20C}"/>
              </a:ext>
            </a:extLst>
          </p:cNvPr>
          <p:cNvSpPr>
            <a:spLocks noGrp="1"/>
          </p:cNvSpPr>
          <p:nvPr/>
        </p:nvSpPr>
        <p:spPr>
          <a:xfrm>
            <a:off x="571500" y="247650"/>
            <a:ext cx="7810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02A43"/>
                </a:solidFill>
                <a:latin typeface="Nunito Sans ExtraBold"/>
                <a:ea typeface="Nunito Sans ExtraBold"/>
                <a:cs typeface="Nunito Sans ExtraBold"/>
              </a:defRPr>
            </a:pPr>
            <a:r>
              <a:rPr sz="2100" b="1">
                <a:solidFill>
                  <a:srgbClr val="102A43"/>
                </a:solidFill>
                <a:latin typeface="Nunito Sans ExtraBold"/>
                <a:ea typeface="Nunito Sans ExtraBold"/>
                <a:cs typeface="Nunito Sans ExtraBold"/>
              </a:rPr>
              <a:t>Motivation</a:t>
            </a:r>
          </a:p>
        </p:txBody>
      </p:sp>
      <p:sp>
        <p:nvSpPr>
          <p:cNvPr id="4" name="Rectangle 3">
            <a:extLst>
              <a:ext uri="{FF2B5EF4-FFF2-40B4-BE49-F238E27FC236}">
                <a16:creationId xmlns:a16="http://schemas.microsoft.com/office/drawing/2014/main" id="{979B2E8A-8486-46AA-B1F9-3894945F21A6}"/>
              </a:ext>
            </a:extLst>
          </p:cNvPr>
          <p:cNvSpPr>
            <a:spLocks noGrp="1"/>
          </p:cNvSpPr>
          <p:nvPr/>
        </p:nvSpPr>
        <p:spPr>
          <a:xfrm>
            <a:off x="10572750" y="247650"/>
            <a:ext cx="1047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B6B82"/>
                </a:solidFill>
                <a:latin typeface="Nunito Sans"/>
                <a:ea typeface="Nunito Sans"/>
                <a:cs typeface="Nunito Sans"/>
              </a:defRPr>
            </a:pPr>
            <a:r>
              <a:rPr sz="825" b="1">
                <a:solidFill>
                  <a:srgbClr val="5B6B82"/>
                </a:solidFill>
                <a:latin typeface="Nunito Sans"/>
                <a:ea typeface="Nunito Sans"/>
                <a:cs typeface="Nunito Sans"/>
              </a:rPr>
              <a:t>02 / 12</a:t>
            </a:r>
          </a:p>
        </p:txBody>
      </p:sp>
      <p:sp>
        <p:nvSpPr>
          <p:cNvPr id="5" name="Rectangle 4">
            <a:extLst>
              <a:ext uri="{FF2B5EF4-FFF2-40B4-BE49-F238E27FC236}">
                <a16:creationId xmlns:a16="http://schemas.microsoft.com/office/drawing/2014/main" id="{B4492123-C665-450F-BAAD-01D40AD19837}"/>
              </a:ext>
            </a:extLst>
          </p:cNvPr>
          <p:cNvSpPr>
            <a:spLocks noGrp="1"/>
          </p:cNvSpPr>
          <p:nvPr/>
        </p:nvSpPr>
        <p:spPr>
          <a:xfrm>
            <a:off x="571500" y="6553200"/>
            <a:ext cx="3429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Selective Observation for Browser Agents</a:t>
            </a:r>
          </a:p>
        </p:txBody>
      </p:sp>
      <p:sp>
        <p:nvSpPr>
          <p:cNvPr id="6" name="Rectangle 5">
            <a:extLst>
              <a:ext uri="{FF2B5EF4-FFF2-40B4-BE49-F238E27FC236}">
                <a16:creationId xmlns:a16="http://schemas.microsoft.com/office/drawing/2014/main" id="{49AD961C-8FB0-4E78-817E-83DDA9CFAF06}"/>
              </a:ext>
            </a:extLst>
          </p:cNvPr>
          <p:cNvSpPr>
            <a:spLocks noGrp="1"/>
          </p:cNvSpPr>
          <p:nvPr/>
        </p:nvSpPr>
        <p:spPr>
          <a:xfrm>
            <a:off x="9810750" y="6553200"/>
            <a:ext cx="180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1">
                <a:solidFill>
                  <a:srgbClr val="1E5AA8"/>
                </a:solidFill>
                <a:latin typeface="Nunito Sans"/>
                <a:ea typeface="Nunito Sans"/>
                <a:cs typeface="Nunito Sans"/>
              </a:defRPr>
            </a:pPr>
            <a:r>
              <a:rPr sz="675" b="1">
                <a:solidFill>
                  <a:srgbClr val="1E5AA8"/>
                </a:solidFill>
                <a:latin typeface="Nunito Sans"/>
                <a:ea typeface="Nunito Sans"/>
                <a:cs typeface="Nunito Sans"/>
              </a:rPr>
              <a:t>UC SANTA BARBARA</a:t>
            </a:r>
          </a:p>
        </p:txBody>
      </p:sp>
      <p:sp>
        <p:nvSpPr>
          <p:cNvPr id="7" name="Rectangle 6">
            <a:extLst>
              <a:ext uri="{FF2B5EF4-FFF2-40B4-BE49-F238E27FC236}">
                <a16:creationId xmlns:a16="http://schemas.microsoft.com/office/drawing/2014/main" id="{6E51AC88-1D60-4139-89A9-5756AFF39B17}"/>
              </a:ext>
            </a:extLst>
          </p:cNvPr>
          <p:cNvSpPr>
            <a:spLocks noGrp="1"/>
          </p:cNvSpPr>
          <p:nvPr/>
        </p:nvSpPr>
        <p:spPr>
          <a:xfrm>
            <a:off x="571500" y="914400"/>
            <a:ext cx="7239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A43"/>
                </a:solidFill>
                <a:latin typeface="Nunito Sans ExtraBold"/>
                <a:ea typeface="Nunito Sans ExtraBold"/>
                <a:cs typeface="Nunito Sans ExtraBold"/>
              </a:defRPr>
            </a:pPr>
            <a:r>
              <a:rPr sz="2250" b="1">
                <a:solidFill>
                  <a:srgbClr val="102A43"/>
                </a:solidFill>
                <a:latin typeface="Nunito Sans ExtraBold"/>
                <a:ea typeface="Nunito Sans ExtraBold"/>
                <a:cs typeface="Nunito Sans ExtraBold"/>
              </a:rPr>
              <a:t>Browser agents overpay for safety when they observe before every action.</a:t>
            </a:r>
          </a:p>
        </p:txBody>
      </p:sp>
      <p:sp>
        <p:nvSpPr>
          <p:cNvPr id="8" name="Rounded Rectangle 7">
            <a:extLst>
              <a:ext uri="{FF2B5EF4-FFF2-40B4-BE49-F238E27FC236}">
                <a16:creationId xmlns:a16="http://schemas.microsoft.com/office/drawing/2014/main" id="{691120DE-0E86-47E6-9116-EA3E3DEE30EB}"/>
              </a:ext>
            </a:extLst>
          </p:cNvPr>
          <p:cNvSpPr>
            <a:spLocks noGrp="1"/>
          </p:cNvSpPr>
          <p:nvPr/>
        </p:nvSpPr>
        <p:spPr>
          <a:xfrm>
            <a:off x="571500" y="2103031"/>
            <a:ext cx="5029200" cy="3573869"/>
          </a:xfrm>
          <a:prstGeom prst="roundRect">
            <a:avLst>
              <a:gd name="adj" fmla="val 2857"/>
            </a:avLst>
          </a:prstGeom>
          <a:solidFill>
            <a:srgbClr val="FFFFFF"/>
          </a:solidFill>
          <a:ln w="9525">
            <a:solidFill>
              <a:srgbClr val="D8E1ED"/>
            </a:solidFill>
            <a:prstDash val="solid"/>
          </a:ln>
        </p:spPr>
        <p:txBody>
          <a:bodyPr/>
          <a:lstStyle/>
          <a:p>
            <a:endParaRPr lang="en-US"/>
          </a:p>
        </p:txBody>
      </p:sp>
      <p:sp>
        <p:nvSpPr>
          <p:cNvPr id="9" name="Rectangle 8">
            <a:extLst>
              <a:ext uri="{FF2B5EF4-FFF2-40B4-BE49-F238E27FC236}">
                <a16:creationId xmlns:a16="http://schemas.microsoft.com/office/drawing/2014/main" id="{FF10F822-F575-4084-BC98-E71844A7EC4F}"/>
              </a:ext>
            </a:extLst>
          </p:cNvPr>
          <p:cNvSpPr>
            <a:spLocks noGrp="1"/>
          </p:cNvSpPr>
          <p:nvPr/>
        </p:nvSpPr>
        <p:spPr>
          <a:xfrm>
            <a:off x="800100" y="2331632"/>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E5AA8"/>
                </a:solidFill>
                <a:latin typeface="Nunito Sans"/>
                <a:ea typeface="Nunito Sans"/>
                <a:cs typeface="Nunito Sans"/>
              </a:defRPr>
            </a:pPr>
            <a:r>
              <a:rPr sz="975" b="1">
                <a:solidFill>
                  <a:srgbClr val="1E5AA8"/>
                </a:solidFill>
                <a:latin typeface="Nunito Sans"/>
                <a:ea typeface="Nunito Sans"/>
                <a:cs typeface="Nunito Sans"/>
              </a:rPr>
              <a:t>Standard loop</a:t>
            </a:r>
          </a:p>
        </p:txBody>
      </p:sp>
      <p:sp>
        <p:nvSpPr>
          <p:cNvPr id="10" name="Rounded Rectangle 9">
            <a:extLst>
              <a:ext uri="{FF2B5EF4-FFF2-40B4-BE49-F238E27FC236}">
                <a16:creationId xmlns:a16="http://schemas.microsoft.com/office/drawing/2014/main" id="{096C8010-11D5-4C33-A2EA-28ED32C11A69}"/>
              </a:ext>
            </a:extLst>
          </p:cNvPr>
          <p:cNvSpPr>
            <a:spLocks noGrp="1"/>
          </p:cNvSpPr>
          <p:nvPr/>
        </p:nvSpPr>
        <p:spPr>
          <a:xfrm>
            <a:off x="838200" y="2845982"/>
            <a:ext cx="1047750" cy="800100"/>
          </a:xfrm>
          <a:prstGeom prst="roundRect">
            <a:avLst>
              <a:gd name="adj" fmla="val 9524"/>
            </a:avLst>
          </a:prstGeom>
          <a:solidFill>
            <a:srgbClr val="F8FBFF"/>
          </a:solidFill>
          <a:ln w="9525">
            <a:solidFill>
              <a:srgbClr val="1E5AA8"/>
            </a:solidFill>
            <a:prstDash val="solid"/>
          </a:ln>
        </p:spPr>
        <p:txBody>
          <a:bodyPr/>
          <a:lstStyle/>
          <a:p>
            <a:endParaRPr lang="en-US"/>
          </a:p>
        </p:txBody>
      </p:sp>
      <p:sp>
        <p:nvSpPr>
          <p:cNvPr id="11" name="Rectangle 10">
            <a:extLst>
              <a:ext uri="{FF2B5EF4-FFF2-40B4-BE49-F238E27FC236}">
                <a16:creationId xmlns:a16="http://schemas.microsoft.com/office/drawing/2014/main" id="{D0C322F8-DF55-402A-8E89-10EAE7235299}"/>
              </a:ext>
            </a:extLst>
          </p:cNvPr>
          <p:cNvSpPr>
            <a:spLocks noGrp="1"/>
          </p:cNvSpPr>
          <p:nvPr/>
        </p:nvSpPr>
        <p:spPr>
          <a:xfrm>
            <a:off x="895350" y="3036482"/>
            <a:ext cx="8763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02A43"/>
                </a:solidFill>
                <a:latin typeface="Nunito Sans ExtraBold"/>
                <a:ea typeface="Nunito Sans ExtraBold"/>
                <a:cs typeface="Nunito Sans ExtraBold"/>
              </a:defRPr>
            </a:pPr>
            <a:r>
              <a:rPr sz="1350" b="1" dirty="0">
                <a:solidFill>
                  <a:srgbClr val="102A43"/>
                </a:solidFill>
                <a:latin typeface="Nunito Sans ExtraBold"/>
                <a:ea typeface="Nunito Sans ExtraBold"/>
                <a:cs typeface="Nunito Sans ExtraBold"/>
              </a:rPr>
              <a:t>OBSERVE</a:t>
            </a:r>
          </a:p>
        </p:txBody>
      </p:sp>
      <p:sp>
        <p:nvSpPr>
          <p:cNvPr id="12" name="Rectangle 11">
            <a:extLst>
              <a:ext uri="{FF2B5EF4-FFF2-40B4-BE49-F238E27FC236}">
                <a16:creationId xmlns:a16="http://schemas.microsoft.com/office/drawing/2014/main" id="{E70AD4F9-E1B7-483F-8DB1-90142B41AE02}"/>
              </a:ext>
            </a:extLst>
          </p:cNvPr>
          <p:cNvSpPr>
            <a:spLocks noGrp="1"/>
          </p:cNvSpPr>
          <p:nvPr/>
        </p:nvSpPr>
        <p:spPr>
          <a:xfrm>
            <a:off x="1000125" y="3322232"/>
            <a:ext cx="7239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5B6B82"/>
                </a:solidFill>
                <a:latin typeface="Nunito Sans"/>
                <a:ea typeface="Nunito Sans"/>
                <a:cs typeface="Nunito Sans"/>
              </a:defRPr>
            </a:pPr>
            <a:r>
              <a:rPr sz="825" b="0" dirty="0">
                <a:solidFill>
                  <a:srgbClr val="5B6B82"/>
                </a:solidFill>
                <a:latin typeface="Nunito Sans"/>
                <a:ea typeface="Nunito Sans"/>
                <a:cs typeface="Nunito Sans"/>
              </a:rPr>
              <a:t>+1 LLM call</a:t>
            </a:r>
          </a:p>
        </p:txBody>
      </p:sp>
      <p:sp>
        <p:nvSpPr>
          <p:cNvPr id="13" name="Rectangle 12">
            <a:extLst>
              <a:ext uri="{FF2B5EF4-FFF2-40B4-BE49-F238E27FC236}">
                <a16:creationId xmlns:a16="http://schemas.microsoft.com/office/drawing/2014/main" id="{4EE36FAD-2495-4832-BD33-66B9B50C8C67}"/>
              </a:ext>
            </a:extLst>
          </p:cNvPr>
          <p:cNvSpPr>
            <a:spLocks noGrp="1"/>
          </p:cNvSpPr>
          <p:nvPr/>
        </p:nvSpPr>
        <p:spPr>
          <a:xfrm>
            <a:off x="1898738" y="3226982"/>
            <a:ext cx="171450" cy="19050"/>
          </a:xfrm>
          <a:prstGeom prst="rect">
            <a:avLst/>
          </a:prstGeom>
          <a:solidFill>
            <a:srgbClr val="D8E1ED"/>
          </a:solidFill>
          <a:ln w="0">
            <a:solidFill>
              <a:srgbClr val="D8E1ED"/>
            </a:solidFill>
            <a:prstDash val="solid"/>
          </a:ln>
        </p:spPr>
        <p:txBody>
          <a:bodyPr/>
          <a:lstStyle/>
          <a:p>
            <a:endParaRPr lang="en-US"/>
          </a:p>
        </p:txBody>
      </p:sp>
      <p:sp>
        <p:nvSpPr>
          <p:cNvPr id="14" name="Rounded Rectangle 13">
            <a:extLst>
              <a:ext uri="{FF2B5EF4-FFF2-40B4-BE49-F238E27FC236}">
                <a16:creationId xmlns:a16="http://schemas.microsoft.com/office/drawing/2014/main" id="{B60CD5BE-58C2-4F56-827B-C0C58E48D17A}"/>
              </a:ext>
            </a:extLst>
          </p:cNvPr>
          <p:cNvSpPr>
            <a:spLocks noGrp="1"/>
          </p:cNvSpPr>
          <p:nvPr/>
        </p:nvSpPr>
        <p:spPr>
          <a:xfrm>
            <a:off x="2076450" y="2845982"/>
            <a:ext cx="933450" cy="800100"/>
          </a:xfrm>
          <a:prstGeom prst="roundRect">
            <a:avLst>
              <a:gd name="adj" fmla="val 9524"/>
            </a:avLst>
          </a:prstGeom>
          <a:solidFill>
            <a:srgbClr val="F8FBFF"/>
          </a:solidFill>
          <a:ln w="9525">
            <a:solidFill>
              <a:srgbClr val="12799B"/>
            </a:solidFill>
            <a:prstDash val="solid"/>
          </a:ln>
        </p:spPr>
        <p:txBody>
          <a:bodyPr/>
          <a:lstStyle/>
          <a:p>
            <a:endParaRPr lang="en-US"/>
          </a:p>
        </p:txBody>
      </p:sp>
      <p:sp>
        <p:nvSpPr>
          <p:cNvPr id="15" name="Rectangle 14">
            <a:extLst>
              <a:ext uri="{FF2B5EF4-FFF2-40B4-BE49-F238E27FC236}">
                <a16:creationId xmlns:a16="http://schemas.microsoft.com/office/drawing/2014/main" id="{75BB9723-8007-4351-AA78-155B7F87F58D}"/>
              </a:ext>
            </a:extLst>
          </p:cNvPr>
          <p:cNvSpPr>
            <a:spLocks noGrp="1"/>
          </p:cNvSpPr>
          <p:nvPr/>
        </p:nvSpPr>
        <p:spPr>
          <a:xfrm>
            <a:off x="2133600" y="3036482"/>
            <a:ext cx="762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02A43"/>
                </a:solidFill>
                <a:latin typeface="Nunito Sans ExtraBold"/>
                <a:ea typeface="Nunito Sans ExtraBold"/>
                <a:cs typeface="Nunito Sans ExtraBold"/>
              </a:defRPr>
            </a:pPr>
            <a:r>
              <a:rPr sz="1350" b="1">
                <a:solidFill>
                  <a:srgbClr val="102A43"/>
                </a:solidFill>
                <a:latin typeface="Nunito Sans ExtraBold"/>
                <a:ea typeface="Nunito Sans ExtraBold"/>
                <a:cs typeface="Nunito Sans ExtraBold"/>
              </a:rPr>
              <a:t>PLAN</a:t>
            </a:r>
          </a:p>
        </p:txBody>
      </p:sp>
      <p:sp>
        <p:nvSpPr>
          <p:cNvPr id="16" name="Rectangle 15">
            <a:extLst>
              <a:ext uri="{FF2B5EF4-FFF2-40B4-BE49-F238E27FC236}">
                <a16:creationId xmlns:a16="http://schemas.microsoft.com/office/drawing/2014/main" id="{A4DA3669-FF08-4E8C-80BD-831D4501D5CA}"/>
              </a:ext>
            </a:extLst>
          </p:cNvPr>
          <p:cNvSpPr>
            <a:spLocks noGrp="1"/>
          </p:cNvSpPr>
          <p:nvPr/>
        </p:nvSpPr>
        <p:spPr>
          <a:xfrm>
            <a:off x="2152650" y="3322232"/>
            <a:ext cx="7239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5B6B82"/>
                </a:solidFill>
                <a:latin typeface="Nunito Sans"/>
                <a:ea typeface="Nunito Sans"/>
                <a:cs typeface="Nunito Sans"/>
              </a:defRPr>
            </a:pPr>
            <a:r>
              <a:rPr sz="825" b="0">
                <a:solidFill>
                  <a:srgbClr val="5B6B82"/>
                </a:solidFill>
                <a:latin typeface="Nunito Sans"/>
                <a:ea typeface="Nunito Sans"/>
                <a:cs typeface="Nunito Sans"/>
              </a:rPr>
              <a:t>action sequence</a:t>
            </a:r>
          </a:p>
        </p:txBody>
      </p:sp>
      <p:sp>
        <p:nvSpPr>
          <p:cNvPr id="17" name="Rectangle 16">
            <a:extLst>
              <a:ext uri="{FF2B5EF4-FFF2-40B4-BE49-F238E27FC236}">
                <a16:creationId xmlns:a16="http://schemas.microsoft.com/office/drawing/2014/main" id="{92380D58-E9D9-4FE3-817A-D5253A7E6D33}"/>
              </a:ext>
            </a:extLst>
          </p:cNvPr>
          <p:cNvSpPr>
            <a:spLocks noGrp="1"/>
          </p:cNvSpPr>
          <p:nvPr/>
        </p:nvSpPr>
        <p:spPr>
          <a:xfrm>
            <a:off x="3022688" y="3226982"/>
            <a:ext cx="171450" cy="19050"/>
          </a:xfrm>
          <a:prstGeom prst="rect">
            <a:avLst/>
          </a:prstGeom>
          <a:solidFill>
            <a:srgbClr val="D8E1ED"/>
          </a:solidFill>
          <a:ln w="0">
            <a:solidFill>
              <a:srgbClr val="D8E1ED"/>
            </a:solidFill>
            <a:prstDash val="solid"/>
          </a:ln>
        </p:spPr>
        <p:txBody>
          <a:bodyPr/>
          <a:lstStyle/>
          <a:p>
            <a:endParaRPr lang="en-US"/>
          </a:p>
        </p:txBody>
      </p:sp>
      <p:sp>
        <p:nvSpPr>
          <p:cNvPr id="18" name="Rounded Rectangle 17">
            <a:extLst>
              <a:ext uri="{FF2B5EF4-FFF2-40B4-BE49-F238E27FC236}">
                <a16:creationId xmlns:a16="http://schemas.microsoft.com/office/drawing/2014/main" id="{A9BE4D04-1345-4EC1-B732-CA3256B2B724}"/>
              </a:ext>
            </a:extLst>
          </p:cNvPr>
          <p:cNvSpPr>
            <a:spLocks noGrp="1"/>
          </p:cNvSpPr>
          <p:nvPr/>
        </p:nvSpPr>
        <p:spPr>
          <a:xfrm>
            <a:off x="3200400" y="2845982"/>
            <a:ext cx="933450" cy="800100"/>
          </a:xfrm>
          <a:prstGeom prst="roundRect">
            <a:avLst>
              <a:gd name="adj" fmla="val 9524"/>
            </a:avLst>
          </a:prstGeom>
          <a:solidFill>
            <a:srgbClr val="F8FBFF"/>
          </a:solidFill>
          <a:ln w="9525">
            <a:solidFill>
              <a:srgbClr val="C9832B"/>
            </a:solidFill>
            <a:prstDash val="solid"/>
          </a:ln>
        </p:spPr>
        <p:txBody>
          <a:bodyPr/>
          <a:lstStyle/>
          <a:p>
            <a:endParaRPr lang="en-US"/>
          </a:p>
        </p:txBody>
      </p:sp>
      <p:sp>
        <p:nvSpPr>
          <p:cNvPr id="19" name="Rectangle 18">
            <a:extLst>
              <a:ext uri="{FF2B5EF4-FFF2-40B4-BE49-F238E27FC236}">
                <a16:creationId xmlns:a16="http://schemas.microsoft.com/office/drawing/2014/main" id="{5DD676AB-C7FF-4F55-AAA2-11163C96410A}"/>
              </a:ext>
            </a:extLst>
          </p:cNvPr>
          <p:cNvSpPr>
            <a:spLocks noGrp="1"/>
          </p:cNvSpPr>
          <p:nvPr/>
        </p:nvSpPr>
        <p:spPr>
          <a:xfrm>
            <a:off x="3257550" y="3036482"/>
            <a:ext cx="762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02A43"/>
                </a:solidFill>
                <a:latin typeface="Nunito Sans ExtraBold"/>
                <a:ea typeface="Nunito Sans ExtraBold"/>
                <a:cs typeface="Nunito Sans ExtraBold"/>
              </a:defRPr>
            </a:pPr>
            <a:r>
              <a:rPr sz="1350" b="1">
                <a:solidFill>
                  <a:srgbClr val="102A43"/>
                </a:solidFill>
                <a:latin typeface="Nunito Sans ExtraBold"/>
                <a:ea typeface="Nunito Sans ExtraBold"/>
                <a:cs typeface="Nunito Sans ExtraBold"/>
              </a:rPr>
              <a:t>ACT</a:t>
            </a:r>
          </a:p>
        </p:txBody>
      </p:sp>
      <p:sp>
        <p:nvSpPr>
          <p:cNvPr id="20" name="Rectangle 19">
            <a:extLst>
              <a:ext uri="{FF2B5EF4-FFF2-40B4-BE49-F238E27FC236}">
                <a16:creationId xmlns:a16="http://schemas.microsoft.com/office/drawing/2014/main" id="{FFB3E6FA-7C69-4749-82FD-3B48237CA60E}"/>
              </a:ext>
            </a:extLst>
          </p:cNvPr>
          <p:cNvSpPr>
            <a:spLocks noGrp="1"/>
          </p:cNvSpPr>
          <p:nvPr/>
        </p:nvSpPr>
        <p:spPr>
          <a:xfrm>
            <a:off x="3276600" y="3322232"/>
            <a:ext cx="7239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5B6B82"/>
                </a:solidFill>
                <a:latin typeface="Nunito Sans"/>
                <a:ea typeface="Nunito Sans"/>
                <a:cs typeface="Nunito Sans"/>
              </a:defRPr>
            </a:pPr>
            <a:r>
              <a:rPr sz="825" b="0">
                <a:solidFill>
                  <a:srgbClr val="5B6B82"/>
                </a:solidFill>
                <a:latin typeface="Nunito Sans"/>
                <a:ea typeface="Nunito Sans"/>
                <a:cs typeface="Nunito Sans"/>
              </a:rPr>
              <a:t>click / fill / select</a:t>
            </a:r>
          </a:p>
        </p:txBody>
      </p:sp>
      <p:sp>
        <p:nvSpPr>
          <p:cNvPr id="21" name="Rectangle 20">
            <a:extLst>
              <a:ext uri="{FF2B5EF4-FFF2-40B4-BE49-F238E27FC236}">
                <a16:creationId xmlns:a16="http://schemas.microsoft.com/office/drawing/2014/main" id="{FAEEE658-859D-4862-A56A-D608C0D3890F}"/>
              </a:ext>
            </a:extLst>
          </p:cNvPr>
          <p:cNvSpPr>
            <a:spLocks noGrp="1"/>
          </p:cNvSpPr>
          <p:nvPr/>
        </p:nvSpPr>
        <p:spPr>
          <a:xfrm>
            <a:off x="4146638" y="3226982"/>
            <a:ext cx="171450" cy="19050"/>
          </a:xfrm>
          <a:prstGeom prst="rect">
            <a:avLst/>
          </a:prstGeom>
          <a:solidFill>
            <a:srgbClr val="D8E1ED"/>
          </a:solidFill>
          <a:ln w="0">
            <a:solidFill>
              <a:srgbClr val="D8E1ED"/>
            </a:solidFill>
            <a:prstDash val="solid"/>
          </a:ln>
        </p:spPr>
        <p:txBody>
          <a:bodyPr/>
          <a:lstStyle/>
          <a:p>
            <a:endParaRPr lang="en-US"/>
          </a:p>
        </p:txBody>
      </p:sp>
      <p:sp>
        <p:nvSpPr>
          <p:cNvPr id="22" name="Rounded Rectangle 21">
            <a:extLst>
              <a:ext uri="{FF2B5EF4-FFF2-40B4-BE49-F238E27FC236}">
                <a16:creationId xmlns:a16="http://schemas.microsoft.com/office/drawing/2014/main" id="{D41F39C5-54E5-49B8-9836-2D8C8525A01B}"/>
              </a:ext>
            </a:extLst>
          </p:cNvPr>
          <p:cNvSpPr>
            <a:spLocks noGrp="1"/>
          </p:cNvSpPr>
          <p:nvPr/>
        </p:nvSpPr>
        <p:spPr>
          <a:xfrm>
            <a:off x="4324350" y="2845982"/>
            <a:ext cx="990600" cy="800100"/>
          </a:xfrm>
          <a:prstGeom prst="roundRect">
            <a:avLst>
              <a:gd name="adj" fmla="val 9524"/>
            </a:avLst>
          </a:prstGeom>
          <a:solidFill>
            <a:srgbClr val="F8FBFF"/>
          </a:solidFill>
          <a:ln w="9525">
            <a:solidFill>
              <a:srgbClr val="1E5AA8"/>
            </a:solidFill>
            <a:prstDash val="solid"/>
          </a:ln>
        </p:spPr>
        <p:txBody>
          <a:bodyPr/>
          <a:lstStyle/>
          <a:p>
            <a:endParaRPr lang="en-US"/>
          </a:p>
        </p:txBody>
      </p:sp>
      <p:sp>
        <p:nvSpPr>
          <p:cNvPr id="23" name="Rectangle 22">
            <a:extLst>
              <a:ext uri="{FF2B5EF4-FFF2-40B4-BE49-F238E27FC236}">
                <a16:creationId xmlns:a16="http://schemas.microsoft.com/office/drawing/2014/main" id="{4C9ADB07-5CC4-4A26-9405-0842B947BC52}"/>
              </a:ext>
            </a:extLst>
          </p:cNvPr>
          <p:cNvSpPr>
            <a:spLocks noGrp="1"/>
          </p:cNvSpPr>
          <p:nvPr/>
        </p:nvSpPr>
        <p:spPr>
          <a:xfrm>
            <a:off x="4406439" y="3036482"/>
            <a:ext cx="819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02A43"/>
                </a:solidFill>
                <a:latin typeface="Nunito Sans ExtraBold"/>
                <a:ea typeface="Nunito Sans ExtraBold"/>
                <a:cs typeface="Nunito Sans ExtraBold"/>
              </a:defRPr>
            </a:pPr>
            <a:r>
              <a:rPr sz="1350" b="1" dirty="0">
                <a:solidFill>
                  <a:srgbClr val="102A43"/>
                </a:solidFill>
                <a:latin typeface="Nunito Sans ExtraBold"/>
                <a:ea typeface="Nunito Sans ExtraBold"/>
                <a:cs typeface="Nunito Sans ExtraBold"/>
              </a:rPr>
              <a:t>OBSERVE</a:t>
            </a:r>
          </a:p>
        </p:txBody>
      </p:sp>
      <p:sp>
        <p:nvSpPr>
          <p:cNvPr id="24" name="Rectangle 23">
            <a:extLst>
              <a:ext uri="{FF2B5EF4-FFF2-40B4-BE49-F238E27FC236}">
                <a16:creationId xmlns:a16="http://schemas.microsoft.com/office/drawing/2014/main" id="{A678ADA3-6A7E-4270-8B3B-F400B408FAA3}"/>
              </a:ext>
            </a:extLst>
          </p:cNvPr>
          <p:cNvSpPr>
            <a:spLocks noGrp="1"/>
          </p:cNvSpPr>
          <p:nvPr/>
        </p:nvSpPr>
        <p:spPr>
          <a:xfrm>
            <a:off x="4457700" y="3322232"/>
            <a:ext cx="7239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0">
                <a:solidFill>
                  <a:srgbClr val="5B6B82"/>
                </a:solidFill>
                <a:latin typeface="Nunito Sans"/>
                <a:ea typeface="Nunito Sans"/>
                <a:cs typeface="Nunito Sans"/>
              </a:defRPr>
            </a:pPr>
            <a:r>
              <a:rPr sz="825" b="0" dirty="0">
                <a:solidFill>
                  <a:srgbClr val="5B6B82"/>
                </a:solidFill>
                <a:latin typeface="Nunito Sans"/>
                <a:ea typeface="Nunito Sans"/>
                <a:cs typeface="Nunito Sans"/>
              </a:rPr>
              <a:t>repeat</a:t>
            </a:r>
          </a:p>
        </p:txBody>
      </p:sp>
      <p:sp>
        <p:nvSpPr>
          <p:cNvPr id="25" name="Rectangle 24">
            <a:extLst>
              <a:ext uri="{FF2B5EF4-FFF2-40B4-BE49-F238E27FC236}">
                <a16:creationId xmlns:a16="http://schemas.microsoft.com/office/drawing/2014/main" id="{BC442149-2CFB-4336-9202-9907C8F63F06}"/>
              </a:ext>
            </a:extLst>
          </p:cNvPr>
          <p:cNvSpPr>
            <a:spLocks noGrp="1"/>
          </p:cNvSpPr>
          <p:nvPr/>
        </p:nvSpPr>
        <p:spPr>
          <a:xfrm>
            <a:off x="800100" y="4719527"/>
            <a:ext cx="44005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5B6B82"/>
                </a:solidFill>
                <a:latin typeface="Nunito Sans"/>
                <a:ea typeface="Nunito Sans"/>
                <a:cs typeface="Nunito Sans"/>
              </a:defRPr>
            </a:pPr>
            <a:r>
              <a:rPr sz="1350" b="0" dirty="0">
                <a:solidFill>
                  <a:srgbClr val="5B6B82"/>
                </a:solidFill>
                <a:latin typeface="Nunito Sans"/>
                <a:ea typeface="Nunito Sans"/>
                <a:cs typeface="Nunito Sans"/>
              </a:rPr>
              <a:t>Observation is safe, but it dominates latency and cost.</a:t>
            </a:r>
          </a:p>
          <a:p>
            <a:pPr algn="l">
              <a:defRPr sz="1350" b="0">
                <a:solidFill>
                  <a:srgbClr val="5B6B82"/>
                </a:solidFill>
                <a:latin typeface="Nunito Sans"/>
                <a:ea typeface="Nunito Sans"/>
                <a:cs typeface="Nunito Sans"/>
              </a:defRPr>
            </a:pPr>
            <a:r>
              <a:rPr sz="1350" b="0" dirty="0">
                <a:solidFill>
                  <a:srgbClr val="5B6B82"/>
                </a:solidFill>
                <a:latin typeface="Nunito Sans"/>
                <a:ea typeface="Nunito Sans"/>
                <a:cs typeface="Nunito Sans"/>
              </a:rPr>
              <a:t>The efficiency lever is deciding when another read is actually worth it.</a:t>
            </a:r>
          </a:p>
        </p:txBody>
      </p:sp>
      <p:sp>
        <p:nvSpPr>
          <p:cNvPr id="26" name="Rounded Rectangle 25">
            <a:extLst>
              <a:ext uri="{FF2B5EF4-FFF2-40B4-BE49-F238E27FC236}">
                <a16:creationId xmlns:a16="http://schemas.microsoft.com/office/drawing/2014/main" id="{CDBAB80C-7E5E-40EF-8F7E-D1DC1EE3C07E}"/>
              </a:ext>
            </a:extLst>
          </p:cNvPr>
          <p:cNvSpPr>
            <a:spLocks noGrp="1"/>
          </p:cNvSpPr>
          <p:nvPr/>
        </p:nvSpPr>
        <p:spPr>
          <a:xfrm>
            <a:off x="6172200" y="2103031"/>
            <a:ext cx="5105400" cy="3573869"/>
          </a:xfrm>
          <a:prstGeom prst="roundRect">
            <a:avLst>
              <a:gd name="adj" fmla="val 2857"/>
            </a:avLst>
          </a:prstGeom>
          <a:solidFill>
            <a:srgbClr val="FFFFFF"/>
          </a:solidFill>
          <a:ln w="9525">
            <a:solidFill>
              <a:srgbClr val="D8E1ED"/>
            </a:solidFill>
            <a:prstDash val="solid"/>
          </a:ln>
        </p:spPr>
        <p:txBody>
          <a:bodyPr/>
          <a:lstStyle/>
          <a:p>
            <a:endParaRPr lang="en-US"/>
          </a:p>
        </p:txBody>
      </p:sp>
      <p:sp>
        <p:nvSpPr>
          <p:cNvPr id="27" name="Rectangle 26">
            <a:extLst>
              <a:ext uri="{FF2B5EF4-FFF2-40B4-BE49-F238E27FC236}">
                <a16:creationId xmlns:a16="http://schemas.microsoft.com/office/drawing/2014/main" id="{68D97141-3A21-4E23-90CB-4CDA1DBF9985}"/>
              </a:ext>
            </a:extLst>
          </p:cNvPr>
          <p:cNvSpPr>
            <a:spLocks noGrp="1"/>
          </p:cNvSpPr>
          <p:nvPr/>
        </p:nvSpPr>
        <p:spPr>
          <a:xfrm>
            <a:off x="6400800" y="2331632"/>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E5AA8"/>
                </a:solidFill>
                <a:latin typeface="Nunito Sans"/>
                <a:ea typeface="Nunito Sans"/>
                <a:cs typeface="Nunito Sans"/>
              </a:defRPr>
            </a:pPr>
            <a:r>
              <a:rPr sz="975" b="1">
                <a:solidFill>
                  <a:srgbClr val="1E5AA8"/>
                </a:solidFill>
                <a:latin typeface="Nunito Sans"/>
                <a:ea typeface="Nunito Sans"/>
                <a:cs typeface="Nunito Sans"/>
              </a:rPr>
              <a:t>Cost-success frontier</a:t>
            </a:r>
          </a:p>
        </p:txBody>
      </p:sp>
      <p:sp>
        <p:nvSpPr>
          <p:cNvPr id="28" name="Rectangle 27">
            <a:extLst>
              <a:ext uri="{FF2B5EF4-FFF2-40B4-BE49-F238E27FC236}">
                <a16:creationId xmlns:a16="http://schemas.microsoft.com/office/drawing/2014/main" id="{9020D2E1-D5ED-4D0F-94FF-EA6DB85EA6A2}"/>
              </a:ext>
            </a:extLst>
          </p:cNvPr>
          <p:cNvSpPr>
            <a:spLocks noGrp="1"/>
          </p:cNvSpPr>
          <p:nvPr/>
        </p:nvSpPr>
        <p:spPr>
          <a:xfrm>
            <a:off x="6572250" y="2922182"/>
            <a:ext cx="171450" cy="28575"/>
          </a:xfrm>
          <a:prstGeom prst="rect">
            <a:avLst/>
          </a:prstGeom>
          <a:solidFill>
            <a:srgbClr val="1E5AA8"/>
          </a:solidFill>
          <a:ln w="0">
            <a:solidFill>
              <a:srgbClr val="1E5AA8"/>
            </a:solidFill>
            <a:prstDash val="solid"/>
          </a:ln>
        </p:spPr>
        <p:txBody>
          <a:bodyPr/>
          <a:lstStyle/>
          <a:p>
            <a:endParaRPr lang="en-US"/>
          </a:p>
        </p:txBody>
      </p:sp>
      <p:sp>
        <p:nvSpPr>
          <p:cNvPr id="29" name="Rectangle 28">
            <a:extLst>
              <a:ext uri="{FF2B5EF4-FFF2-40B4-BE49-F238E27FC236}">
                <a16:creationId xmlns:a16="http://schemas.microsoft.com/office/drawing/2014/main" id="{F8969934-FDB2-4B0E-AEC1-6F773D2B8521}"/>
              </a:ext>
            </a:extLst>
          </p:cNvPr>
          <p:cNvSpPr>
            <a:spLocks noGrp="1"/>
          </p:cNvSpPr>
          <p:nvPr/>
        </p:nvSpPr>
        <p:spPr>
          <a:xfrm>
            <a:off x="6858000" y="2807882"/>
            <a:ext cx="1428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02A43"/>
                </a:solidFill>
                <a:latin typeface="Nunito Sans ExtraBold"/>
                <a:ea typeface="Nunito Sans ExtraBold"/>
                <a:cs typeface="Nunito Sans ExtraBold"/>
              </a:defRPr>
            </a:pPr>
            <a:r>
              <a:rPr sz="1200" b="1">
                <a:solidFill>
                  <a:srgbClr val="102A43"/>
                </a:solidFill>
                <a:latin typeface="Nunito Sans ExtraBold"/>
                <a:ea typeface="Nunito Sans ExtraBold"/>
                <a:cs typeface="Nunito Sans ExtraBold"/>
              </a:rPr>
              <a:t>always-observe</a:t>
            </a:r>
          </a:p>
        </p:txBody>
      </p:sp>
      <p:sp>
        <p:nvSpPr>
          <p:cNvPr id="30" name="Rectangle 29">
            <a:extLst>
              <a:ext uri="{FF2B5EF4-FFF2-40B4-BE49-F238E27FC236}">
                <a16:creationId xmlns:a16="http://schemas.microsoft.com/office/drawing/2014/main" id="{2A8DE549-2474-4A86-8F9C-9D3D355B6C07}"/>
              </a:ext>
            </a:extLst>
          </p:cNvPr>
          <p:cNvSpPr>
            <a:spLocks noGrp="1"/>
          </p:cNvSpPr>
          <p:nvPr/>
        </p:nvSpPr>
        <p:spPr>
          <a:xfrm>
            <a:off x="8382000" y="2807882"/>
            <a:ext cx="857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D936C"/>
                </a:solidFill>
                <a:latin typeface="Nunito Sans"/>
                <a:ea typeface="Nunito Sans"/>
                <a:cs typeface="Nunito Sans"/>
              </a:defRPr>
            </a:pPr>
            <a:r>
              <a:rPr sz="1050" b="1">
                <a:solidFill>
                  <a:srgbClr val="2D936C"/>
                </a:solidFill>
                <a:latin typeface="Nunito Sans"/>
                <a:ea typeface="Nunito Sans"/>
                <a:cs typeface="Nunito Sans"/>
              </a:rPr>
              <a:t>Reliable</a:t>
            </a:r>
          </a:p>
        </p:txBody>
      </p:sp>
      <p:sp>
        <p:nvSpPr>
          <p:cNvPr id="31" name="Rectangle 30">
            <a:extLst>
              <a:ext uri="{FF2B5EF4-FFF2-40B4-BE49-F238E27FC236}">
                <a16:creationId xmlns:a16="http://schemas.microsoft.com/office/drawing/2014/main" id="{81E204AF-461B-4FF5-B254-95F13FFD45C8}"/>
              </a:ext>
            </a:extLst>
          </p:cNvPr>
          <p:cNvSpPr>
            <a:spLocks noGrp="1"/>
          </p:cNvSpPr>
          <p:nvPr/>
        </p:nvSpPr>
        <p:spPr>
          <a:xfrm>
            <a:off x="9429750" y="2807882"/>
            <a:ext cx="1238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B6B82"/>
                </a:solidFill>
                <a:latin typeface="Nunito Sans"/>
                <a:ea typeface="Nunito Sans"/>
                <a:cs typeface="Nunito Sans"/>
              </a:defRPr>
            </a:pPr>
            <a:r>
              <a:rPr sz="1050" b="0">
                <a:solidFill>
                  <a:srgbClr val="5B6B82"/>
                </a:solidFill>
                <a:latin typeface="Nunito Sans"/>
                <a:ea typeface="Nunito Sans"/>
                <a:cs typeface="Nunito Sans"/>
              </a:rPr>
              <a:t>Costly</a:t>
            </a:r>
          </a:p>
        </p:txBody>
      </p:sp>
      <p:sp>
        <p:nvSpPr>
          <p:cNvPr id="32" name="Rectangle 31">
            <a:extLst>
              <a:ext uri="{FF2B5EF4-FFF2-40B4-BE49-F238E27FC236}">
                <a16:creationId xmlns:a16="http://schemas.microsoft.com/office/drawing/2014/main" id="{C51FA60A-047C-448F-8A4A-27E6B93D52EF}"/>
              </a:ext>
            </a:extLst>
          </p:cNvPr>
          <p:cNvSpPr>
            <a:spLocks noGrp="1"/>
          </p:cNvSpPr>
          <p:nvPr/>
        </p:nvSpPr>
        <p:spPr>
          <a:xfrm>
            <a:off x="6572250" y="3360332"/>
            <a:ext cx="171450" cy="28575"/>
          </a:xfrm>
          <a:prstGeom prst="rect">
            <a:avLst/>
          </a:prstGeom>
          <a:solidFill>
            <a:srgbClr val="D1495B"/>
          </a:solidFill>
          <a:ln w="0">
            <a:solidFill>
              <a:srgbClr val="D1495B"/>
            </a:solidFill>
            <a:prstDash val="solid"/>
          </a:ln>
        </p:spPr>
        <p:txBody>
          <a:bodyPr/>
          <a:lstStyle/>
          <a:p>
            <a:endParaRPr lang="en-US"/>
          </a:p>
        </p:txBody>
      </p:sp>
      <p:sp>
        <p:nvSpPr>
          <p:cNvPr id="33" name="Rectangle 32">
            <a:extLst>
              <a:ext uri="{FF2B5EF4-FFF2-40B4-BE49-F238E27FC236}">
                <a16:creationId xmlns:a16="http://schemas.microsoft.com/office/drawing/2014/main" id="{AEC96493-054F-4CB8-98C4-93691CE6E182}"/>
              </a:ext>
            </a:extLst>
          </p:cNvPr>
          <p:cNvSpPr>
            <a:spLocks noGrp="1"/>
          </p:cNvSpPr>
          <p:nvPr/>
        </p:nvSpPr>
        <p:spPr>
          <a:xfrm>
            <a:off x="6858000" y="3246032"/>
            <a:ext cx="1428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02A43"/>
                </a:solidFill>
                <a:latin typeface="Nunito Sans ExtraBold"/>
                <a:ea typeface="Nunito Sans ExtraBold"/>
                <a:cs typeface="Nunito Sans ExtraBold"/>
              </a:defRPr>
            </a:pPr>
            <a:r>
              <a:rPr sz="1200" b="1">
                <a:solidFill>
                  <a:srgbClr val="102A43"/>
                </a:solidFill>
                <a:latin typeface="Nunito Sans ExtraBold"/>
                <a:ea typeface="Nunito Sans ExtraBold"/>
                <a:cs typeface="Nunito Sans ExtraBold"/>
              </a:rPr>
              <a:t>never-observe</a:t>
            </a:r>
          </a:p>
        </p:txBody>
      </p:sp>
      <p:sp>
        <p:nvSpPr>
          <p:cNvPr id="34" name="Rectangle 33">
            <a:extLst>
              <a:ext uri="{FF2B5EF4-FFF2-40B4-BE49-F238E27FC236}">
                <a16:creationId xmlns:a16="http://schemas.microsoft.com/office/drawing/2014/main" id="{374EA43D-049E-408B-A3E9-E6CD288B0359}"/>
              </a:ext>
            </a:extLst>
          </p:cNvPr>
          <p:cNvSpPr>
            <a:spLocks noGrp="1"/>
          </p:cNvSpPr>
          <p:nvPr/>
        </p:nvSpPr>
        <p:spPr>
          <a:xfrm>
            <a:off x="8382000" y="3246032"/>
            <a:ext cx="857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D936C"/>
                </a:solidFill>
                <a:latin typeface="Nunito Sans"/>
                <a:ea typeface="Nunito Sans"/>
                <a:cs typeface="Nunito Sans"/>
              </a:defRPr>
            </a:pPr>
            <a:r>
              <a:rPr sz="1050" b="1">
                <a:solidFill>
                  <a:srgbClr val="2D936C"/>
                </a:solidFill>
                <a:latin typeface="Nunito Sans"/>
                <a:ea typeface="Nunito Sans"/>
                <a:cs typeface="Nunito Sans"/>
              </a:rPr>
              <a:t>Cheap</a:t>
            </a:r>
          </a:p>
        </p:txBody>
      </p:sp>
      <p:sp>
        <p:nvSpPr>
          <p:cNvPr id="35" name="Rectangle 34">
            <a:extLst>
              <a:ext uri="{FF2B5EF4-FFF2-40B4-BE49-F238E27FC236}">
                <a16:creationId xmlns:a16="http://schemas.microsoft.com/office/drawing/2014/main" id="{14DB2C11-4109-48B3-AB07-494E32641985}"/>
              </a:ext>
            </a:extLst>
          </p:cNvPr>
          <p:cNvSpPr>
            <a:spLocks noGrp="1"/>
          </p:cNvSpPr>
          <p:nvPr/>
        </p:nvSpPr>
        <p:spPr>
          <a:xfrm>
            <a:off x="9429750" y="3246032"/>
            <a:ext cx="1238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B6B82"/>
                </a:solidFill>
                <a:latin typeface="Nunito Sans"/>
                <a:ea typeface="Nunito Sans"/>
                <a:cs typeface="Nunito Sans"/>
              </a:defRPr>
            </a:pPr>
            <a:r>
              <a:rPr sz="1050" b="0">
                <a:solidFill>
                  <a:srgbClr val="5B6B82"/>
                </a:solidFill>
                <a:latin typeface="Nunito Sans"/>
                <a:ea typeface="Nunito Sans"/>
                <a:cs typeface="Nunito Sans"/>
              </a:rPr>
              <a:t>Brittle</a:t>
            </a:r>
          </a:p>
        </p:txBody>
      </p:sp>
      <p:sp>
        <p:nvSpPr>
          <p:cNvPr id="36" name="Rectangle 35">
            <a:extLst>
              <a:ext uri="{FF2B5EF4-FFF2-40B4-BE49-F238E27FC236}">
                <a16:creationId xmlns:a16="http://schemas.microsoft.com/office/drawing/2014/main" id="{E0D711A6-AD0A-4DE2-BB4D-37B7CE06E774}"/>
              </a:ext>
            </a:extLst>
          </p:cNvPr>
          <p:cNvSpPr>
            <a:spLocks noGrp="1"/>
          </p:cNvSpPr>
          <p:nvPr/>
        </p:nvSpPr>
        <p:spPr>
          <a:xfrm>
            <a:off x="6572250" y="3798482"/>
            <a:ext cx="171450" cy="28575"/>
          </a:xfrm>
          <a:prstGeom prst="rect">
            <a:avLst/>
          </a:prstGeom>
          <a:solidFill>
            <a:srgbClr val="C9832B"/>
          </a:solidFill>
          <a:ln w="0">
            <a:solidFill>
              <a:srgbClr val="C9832B"/>
            </a:solidFill>
            <a:prstDash val="solid"/>
          </a:ln>
        </p:spPr>
        <p:txBody>
          <a:bodyPr/>
          <a:lstStyle/>
          <a:p>
            <a:endParaRPr lang="en-US"/>
          </a:p>
        </p:txBody>
      </p:sp>
      <p:sp>
        <p:nvSpPr>
          <p:cNvPr id="37" name="Rectangle 36">
            <a:extLst>
              <a:ext uri="{FF2B5EF4-FFF2-40B4-BE49-F238E27FC236}">
                <a16:creationId xmlns:a16="http://schemas.microsoft.com/office/drawing/2014/main" id="{A0FF3811-1FE1-445A-A4D3-722BD1E12856}"/>
              </a:ext>
            </a:extLst>
          </p:cNvPr>
          <p:cNvSpPr>
            <a:spLocks noGrp="1"/>
          </p:cNvSpPr>
          <p:nvPr/>
        </p:nvSpPr>
        <p:spPr>
          <a:xfrm>
            <a:off x="6858000" y="3684182"/>
            <a:ext cx="1428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02A43"/>
                </a:solidFill>
                <a:latin typeface="Nunito Sans ExtraBold"/>
                <a:ea typeface="Nunito Sans ExtraBold"/>
                <a:cs typeface="Nunito Sans ExtraBold"/>
              </a:defRPr>
            </a:pPr>
            <a:r>
              <a:rPr sz="1200" b="1">
                <a:solidFill>
                  <a:srgbClr val="102A43"/>
                </a:solidFill>
                <a:latin typeface="Nunito Sans ExtraBold"/>
                <a:ea typeface="Nunito Sans ExtraBold"/>
                <a:cs typeface="Nunito Sans ExtraBold"/>
              </a:rPr>
              <a:t>handrule</a:t>
            </a:r>
          </a:p>
        </p:txBody>
      </p:sp>
      <p:sp>
        <p:nvSpPr>
          <p:cNvPr id="38" name="Rectangle 37">
            <a:extLst>
              <a:ext uri="{FF2B5EF4-FFF2-40B4-BE49-F238E27FC236}">
                <a16:creationId xmlns:a16="http://schemas.microsoft.com/office/drawing/2014/main" id="{13FCE731-521D-4EAF-8A41-FD43C2F4A4C4}"/>
              </a:ext>
            </a:extLst>
          </p:cNvPr>
          <p:cNvSpPr>
            <a:spLocks noGrp="1"/>
          </p:cNvSpPr>
          <p:nvPr/>
        </p:nvSpPr>
        <p:spPr>
          <a:xfrm>
            <a:off x="8382000" y="3684182"/>
            <a:ext cx="857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D936C"/>
                </a:solidFill>
                <a:latin typeface="Nunito Sans"/>
                <a:ea typeface="Nunito Sans"/>
                <a:cs typeface="Nunito Sans"/>
              </a:defRPr>
            </a:pPr>
            <a:r>
              <a:rPr sz="1050" b="1">
                <a:solidFill>
                  <a:srgbClr val="2D936C"/>
                </a:solidFill>
                <a:latin typeface="Nunito Sans"/>
                <a:ea typeface="Nunito Sans"/>
                <a:cs typeface="Nunito Sans"/>
              </a:rPr>
              <a:t>Practical</a:t>
            </a:r>
          </a:p>
        </p:txBody>
      </p:sp>
      <p:sp>
        <p:nvSpPr>
          <p:cNvPr id="39" name="Rectangle 38">
            <a:extLst>
              <a:ext uri="{FF2B5EF4-FFF2-40B4-BE49-F238E27FC236}">
                <a16:creationId xmlns:a16="http://schemas.microsoft.com/office/drawing/2014/main" id="{A5B51E69-3E1D-4763-91AD-55191FC5560A}"/>
              </a:ext>
            </a:extLst>
          </p:cNvPr>
          <p:cNvSpPr>
            <a:spLocks noGrp="1"/>
          </p:cNvSpPr>
          <p:nvPr/>
        </p:nvSpPr>
        <p:spPr>
          <a:xfrm>
            <a:off x="9429750" y="3684182"/>
            <a:ext cx="1238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B6B82"/>
                </a:solidFill>
                <a:latin typeface="Nunito Sans"/>
                <a:ea typeface="Nunito Sans"/>
                <a:cs typeface="Nunito Sans"/>
              </a:defRPr>
            </a:pPr>
            <a:r>
              <a:rPr sz="1050" b="0">
                <a:solidFill>
                  <a:srgbClr val="5B6B82"/>
                </a:solidFill>
                <a:latin typeface="Nunito Sans"/>
                <a:ea typeface="Nunito Sans"/>
                <a:cs typeface="Nunito Sans"/>
              </a:rPr>
              <a:t>Over-observes</a:t>
            </a:r>
          </a:p>
        </p:txBody>
      </p:sp>
      <p:sp>
        <p:nvSpPr>
          <p:cNvPr id="40" name="Rectangle 39">
            <a:extLst>
              <a:ext uri="{FF2B5EF4-FFF2-40B4-BE49-F238E27FC236}">
                <a16:creationId xmlns:a16="http://schemas.microsoft.com/office/drawing/2014/main" id="{352A6C57-4E0A-4768-8AFA-A2C02C72B1E7}"/>
              </a:ext>
            </a:extLst>
          </p:cNvPr>
          <p:cNvSpPr>
            <a:spLocks noGrp="1"/>
          </p:cNvSpPr>
          <p:nvPr/>
        </p:nvSpPr>
        <p:spPr>
          <a:xfrm>
            <a:off x="6572250" y="4236632"/>
            <a:ext cx="171450" cy="28575"/>
          </a:xfrm>
          <a:prstGeom prst="rect">
            <a:avLst/>
          </a:prstGeom>
          <a:solidFill>
            <a:srgbClr val="2D936C"/>
          </a:solidFill>
          <a:ln w="0">
            <a:solidFill>
              <a:srgbClr val="2D936C"/>
            </a:solidFill>
            <a:prstDash val="solid"/>
          </a:ln>
        </p:spPr>
        <p:txBody>
          <a:bodyPr/>
          <a:lstStyle/>
          <a:p>
            <a:endParaRPr lang="en-US"/>
          </a:p>
        </p:txBody>
      </p:sp>
      <p:sp>
        <p:nvSpPr>
          <p:cNvPr id="41" name="Rectangle 40">
            <a:extLst>
              <a:ext uri="{FF2B5EF4-FFF2-40B4-BE49-F238E27FC236}">
                <a16:creationId xmlns:a16="http://schemas.microsoft.com/office/drawing/2014/main" id="{B360EAB3-95F8-4618-BE32-C759CF2284A6}"/>
              </a:ext>
            </a:extLst>
          </p:cNvPr>
          <p:cNvSpPr>
            <a:spLocks noGrp="1"/>
          </p:cNvSpPr>
          <p:nvPr/>
        </p:nvSpPr>
        <p:spPr>
          <a:xfrm>
            <a:off x="6858000" y="4122332"/>
            <a:ext cx="1428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02A43"/>
                </a:solidFill>
                <a:latin typeface="Nunito Sans ExtraBold"/>
                <a:ea typeface="Nunito Sans ExtraBold"/>
                <a:cs typeface="Nunito Sans ExtraBold"/>
              </a:defRPr>
            </a:pPr>
            <a:r>
              <a:rPr sz="1200" b="1">
                <a:solidFill>
                  <a:srgbClr val="102A43"/>
                </a:solidFill>
                <a:latin typeface="Nunito Sans ExtraBold"/>
                <a:ea typeface="Nunito Sans ExtraBold"/>
                <a:cs typeface="Nunito Sans ExtraBold"/>
              </a:rPr>
              <a:t>learned gate</a:t>
            </a:r>
          </a:p>
        </p:txBody>
      </p:sp>
      <p:sp>
        <p:nvSpPr>
          <p:cNvPr id="42" name="Rectangle 41">
            <a:extLst>
              <a:ext uri="{FF2B5EF4-FFF2-40B4-BE49-F238E27FC236}">
                <a16:creationId xmlns:a16="http://schemas.microsoft.com/office/drawing/2014/main" id="{2AA00EDE-D814-4BDF-8676-EFA1BFA92B29}"/>
              </a:ext>
            </a:extLst>
          </p:cNvPr>
          <p:cNvSpPr>
            <a:spLocks noGrp="1"/>
          </p:cNvSpPr>
          <p:nvPr/>
        </p:nvSpPr>
        <p:spPr>
          <a:xfrm>
            <a:off x="8382000" y="4122332"/>
            <a:ext cx="857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D936C"/>
                </a:solidFill>
                <a:latin typeface="Nunito Sans"/>
                <a:ea typeface="Nunito Sans"/>
                <a:cs typeface="Nunito Sans"/>
              </a:defRPr>
            </a:pPr>
            <a:r>
              <a:rPr sz="1050" b="1">
                <a:solidFill>
                  <a:srgbClr val="2D936C"/>
                </a:solidFill>
                <a:latin typeface="Nunito Sans"/>
                <a:ea typeface="Nunito Sans"/>
                <a:cs typeface="Nunito Sans"/>
              </a:rPr>
              <a:t>Equal success</a:t>
            </a:r>
          </a:p>
        </p:txBody>
      </p:sp>
      <p:sp>
        <p:nvSpPr>
          <p:cNvPr id="43" name="Rectangle 42">
            <a:extLst>
              <a:ext uri="{FF2B5EF4-FFF2-40B4-BE49-F238E27FC236}">
                <a16:creationId xmlns:a16="http://schemas.microsoft.com/office/drawing/2014/main" id="{EB99C138-6584-4BA2-9355-975CEF7D65DB}"/>
              </a:ext>
            </a:extLst>
          </p:cNvPr>
          <p:cNvSpPr>
            <a:spLocks noGrp="1"/>
          </p:cNvSpPr>
          <p:nvPr/>
        </p:nvSpPr>
        <p:spPr>
          <a:xfrm>
            <a:off x="9429750" y="4122332"/>
            <a:ext cx="1238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D936C"/>
                </a:solidFill>
                <a:latin typeface="Nunito Sans"/>
                <a:ea typeface="Nunito Sans"/>
                <a:cs typeface="Nunito Sans"/>
              </a:defRPr>
            </a:pPr>
            <a:r>
              <a:rPr sz="1050" b="1">
                <a:solidFill>
                  <a:srgbClr val="2D936C"/>
                </a:solidFill>
                <a:latin typeface="Nunito Sans"/>
                <a:ea typeface="Nunito Sans"/>
                <a:cs typeface="Nunito Sans"/>
              </a:rPr>
              <a:t>Fewer calls</a:t>
            </a:r>
          </a:p>
        </p:txBody>
      </p:sp>
      <p:sp>
        <p:nvSpPr>
          <p:cNvPr id="44" name="Rectangle 43">
            <a:extLst>
              <a:ext uri="{FF2B5EF4-FFF2-40B4-BE49-F238E27FC236}">
                <a16:creationId xmlns:a16="http://schemas.microsoft.com/office/drawing/2014/main" id="{2E9BFDD7-8D55-4AF1-9852-F33DE6ECCAB2}"/>
              </a:ext>
            </a:extLst>
          </p:cNvPr>
          <p:cNvSpPr>
            <a:spLocks noGrp="1"/>
          </p:cNvSpPr>
          <p:nvPr/>
        </p:nvSpPr>
        <p:spPr>
          <a:xfrm>
            <a:off x="6438900" y="4719527"/>
            <a:ext cx="43434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5B6B82"/>
                </a:solidFill>
                <a:latin typeface="Nunito Sans"/>
                <a:ea typeface="Nunito Sans"/>
                <a:cs typeface="Nunito Sans"/>
              </a:defRPr>
            </a:pPr>
            <a:r>
              <a:rPr sz="1275" b="0" dirty="0">
                <a:solidFill>
                  <a:srgbClr val="5B6B82"/>
                </a:solidFill>
                <a:latin typeface="Nunito Sans"/>
                <a:ea typeface="Nunito Sans"/>
                <a:cs typeface="Nunito Sans"/>
              </a:rPr>
              <a:t>This talk asks whether a learned gate can beat the hand rule on the success-cost frontier, not whether browser agents work in the abstract.</a:t>
            </a:r>
          </a:p>
        </p:txBody>
      </p:sp>
    </p:spTree>
    <p:extLst>
      <p:ext uri="{BB962C8B-B14F-4D97-AF65-F5344CB8AC3E}">
        <p14:creationId xmlns:p14="http://schemas.microsoft.com/office/powerpoint/2010/main" val="1680716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6284DF-3B7F-44FC-AF91-2507FE262EA7}"/>
              </a:ext>
            </a:extLst>
          </p:cNvPr>
          <p:cNvSpPr>
            <a:spLocks noGrp="1"/>
          </p:cNvSpPr>
          <p:nvPr/>
        </p:nvSpPr>
        <p:spPr>
          <a:xfrm>
            <a:off x="533400" y="571500"/>
            <a:ext cx="11125200" cy="19050"/>
          </a:xfrm>
          <a:prstGeom prst="rect">
            <a:avLst/>
          </a:prstGeom>
          <a:solidFill>
            <a:srgbClr val="1E5AA8"/>
          </a:solidFill>
          <a:ln w="0">
            <a:solidFill>
              <a:srgbClr val="1E5AA8"/>
            </a:solidFill>
            <a:prstDash val="solid"/>
          </a:ln>
        </p:spPr>
        <p:txBody>
          <a:bodyPr/>
          <a:lstStyle/>
          <a:p>
            <a:endParaRPr lang="en-US"/>
          </a:p>
        </p:txBody>
      </p:sp>
      <p:sp>
        <p:nvSpPr>
          <p:cNvPr id="3" name="Rectangle 2">
            <a:extLst>
              <a:ext uri="{FF2B5EF4-FFF2-40B4-BE49-F238E27FC236}">
                <a16:creationId xmlns:a16="http://schemas.microsoft.com/office/drawing/2014/main" id="{D367638F-8499-4103-ADED-57BB3F1FB150}"/>
              </a:ext>
            </a:extLst>
          </p:cNvPr>
          <p:cNvSpPr>
            <a:spLocks noGrp="1"/>
          </p:cNvSpPr>
          <p:nvPr/>
        </p:nvSpPr>
        <p:spPr>
          <a:xfrm>
            <a:off x="571500" y="247650"/>
            <a:ext cx="7810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02A43"/>
                </a:solidFill>
                <a:latin typeface="Nunito Sans ExtraBold"/>
                <a:ea typeface="Nunito Sans ExtraBold"/>
                <a:cs typeface="Nunito Sans ExtraBold"/>
              </a:defRPr>
            </a:pPr>
            <a:r>
              <a:rPr sz="2100" b="1">
                <a:solidFill>
                  <a:srgbClr val="102A43"/>
                </a:solidFill>
                <a:latin typeface="Nunito Sans ExtraBold"/>
                <a:ea typeface="Nunito Sans ExtraBold"/>
                <a:cs typeface="Nunito Sans ExtraBold"/>
              </a:rPr>
              <a:t>Main Result</a:t>
            </a:r>
          </a:p>
        </p:txBody>
      </p:sp>
      <p:sp>
        <p:nvSpPr>
          <p:cNvPr id="4" name="Rectangle 3">
            <a:extLst>
              <a:ext uri="{FF2B5EF4-FFF2-40B4-BE49-F238E27FC236}">
                <a16:creationId xmlns:a16="http://schemas.microsoft.com/office/drawing/2014/main" id="{CD77ABC3-4016-4AC3-8CD5-98002EB770AA}"/>
              </a:ext>
            </a:extLst>
          </p:cNvPr>
          <p:cNvSpPr>
            <a:spLocks noGrp="1"/>
          </p:cNvSpPr>
          <p:nvPr/>
        </p:nvSpPr>
        <p:spPr>
          <a:xfrm>
            <a:off x="10572750" y="247650"/>
            <a:ext cx="1047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B6B82"/>
                </a:solidFill>
                <a:latin typeface="Nunito Sans"/>
                <a:ea typeface="Nunito Sans"/>
                <a:cs typeface="Nunito Sans"/>
              </a:defRPr>
            </a:pPr>
            <a:r>
              <a:rPr sz="825" b="1">
                <a:solidFill>
                  <a:srgbClr val="5B6B82"/>
                </a:solidFill>
                <a:latin typeface="Nunito Sans"/>
                <a:ea typeface="Nunito Sans"/>
                <a:cs typeface="Nunito Sans"/>
              </a:rPr>
              <a:t>03 / 12</a:t>
            </a:r>
          </a:p>
        </p:txBody>
      </p:sp>
      <p:sp>
        <p:nvSpPr>
          <p:cNvPr id="5" name="Rectangle 4">
            <a:extLst>
              <a:ext uri="{FF2B5EF4-FFF2-40B4-BE49-F238E27FC236}">
                <a16:creationId xmlns:a16="http://schemas.microsoft.com/office/drawing/2014/main" id="{E242C2FD-6F5F-4AA1-95BF-9EB5E3DCC7BD}"/>
              </a:ext>
            </a:extLst>
          </p:cNvPr>
          <p:cNvSpPr>
            <a:spLocks noGrp="1"/>
          </p:cNvSpPr>
          <p:nvPr/>
        </p:nvSpPr>
        <p:spPr>
          <a:xfrm>
            <a:off x="571500" y="6553200"/>
            <a:ext cx="3429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Selective Observation for Browser Agents</a:t>
            </a:r>
          </a:p>
        </p:txBody>
      </p:sp>
      <p:sp>
        <p:nvSpPr>
          <p:cNvPr id="6" name="Rectangle 5">
            <a:extLst>
              <a:ext uri="{FF2B5EF4-FFF2-40B4-BE49-F238E27FC236}">
                <a16:creationId xmlns:a16="http://schemas.microsoft.com/office/drawing/2014/main" id="{A7612F36-7CDF-40D3-94B0-9C7F05432173}"/>
              </a:ext>
            </a:extLst>
          </p:cNvPr>
          <p:cNvSpPr>
            <a:spLocks noGrp="1"/>
          </p:cNvSpPr>
          <p:nvPr/>
        </p:nvSpPr>
        <p:spPr>
          <a:xfrm>
            <a:off x="9810750" y="6553200"/>
            <a:ext cx="180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1">
                <a:solidFill>
                  <a:srgbClr val="1E5AA8"/>
                </a:solidFill>
                <a:latin typeface="Nunito Sans"/>
                <a:ea typeface="Nunito Sans"/>
                <a:cs typeface="Nunito Sans"/>
              </a:defRPr>
            </a:pPr>
            <a:r>
              <a:rPr sz="675" b="1">
                <a:solidFill>
                  <a:srgbClr val="1E5AA8"/>
                </a:solidFill>
                <a:latin typeface="Nunito Sans"/>
                <a:ea typeface="Nunito Sans"/>
                <a:cs typeface="Nunito Sans"/>
              </a:rPr>
              <a:t>UC SANTA BARBARA</a:t>
            </a:r>
          </a:p>
        </p:txBody>
      </p:sp>
      <p:sp>
        <p:nvSpPr>
          <p:cNvPr id="7" name="Rectangle 6">
            <a:extLst>
              <a:ext uri="{FF2B5EF4-FFF2-40B4-BE49-F238E27FC236}">
                <a16:creationId xmlns:a16="http://schemas.microsoft.com/office/drawing/2014/main" id="{47EA17BF-F2D4-4CC0-A112-F686BC0B0E7C}"/>
              </a:ext>
            </a:extLst>
          </p:cNvPr>
          <p:cNvSpPr>
            <a:spLocks noGrp="1"/>
          </p:cNvSpPr>
          <p:nvPr/>
        </p:nvSpPr>
        <p:spPr>
          <a:xfrm>
            <a:off x="571500" y="914400"/>
            <a:ext cx="81915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02A43"/>
                </a:solidFill>
                <a:latin typeface="Nunito Sans ExtraBold"/>
                <a:ea typeface="Nunito Sans ExtraBold"/>
                <a:cs typeface="Nunito Sans ExtraBold"/>
              </a:defRPr>
            </a:pPr>
            <a:r>
              <a:rPr sz="2100" b="1" dirty="0">
                <a:solidFill>
                  <a:srgbClr val="102A43"/>
                </a:solidFill>
                <a:latin typeface="Nunito Sans ExtraBold"/>
                <a:ea typeface="Nunito Sans ExtraBold"/>
                <a:cs typeface="Nunito Sans ExtraBold"/>
              </a:rPr>
              <a:t>The learned gate matches the best success baselines and uses fewer model calls.</a:t>
            </a:r>
          </a:p>
        </p:txBody>
      </p:sp>
      <p:sp>
        <p:nvSpPr>
          <p:cNvPr id="8" name="Rectangle 7">
            <a:extLst>
              <a:ext uri="{FF2B5EF4-FFF2-40B4-BE49-F238E27FC236}">
                <a16:creationId xmlns:a16="http://schemas.microsoft.com/office/drawing/2014/main" id="{B8632D8A-9C2F-48EC-BDEF-2E16FCCDA289}"/>
              </a:ext>
            </a:extLst>
          </p:cNvPr>
          <p:cNvSpPr>
            <a:spLocks noGrp="1"/>
          </p:cNvSpPr>
          <p:nvPr/>
        </p:nvSpPr>
        <p:spPr>
          <a:xfrm>
            <a:off x="590550" y="1619250"/>
            <a:ext cx="3619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5B6B82"/>
                </a:solidFill>
                <a:latin typeface="Nunito Sans"/>
                <a:ea typeface="Nunito Sans"/>
                <a:cs typeface="Nunito Sans"/>
              </a:defRPr>
            </a:pPr>
            <a:r>
              <a:rPr sz="900" b="1">
                <a:solidFill>
                  <a:srgbClr val="5B6B82"/>
                </a:solidFill>
                <a:latin typeface="Nunito Sans"/>
                <a:ea typeface="Nunito Sans"/>
                <a:cs typeface="Nunito Sans"/>
              </a:rPr>
              <a:t>15-task local suite  |  gpt-4o-mini  |  DOM observation</a:t>
            </a:r>
          </a:p>
        </p:txBody>
      </p:sp>
      <p:sp>
        <p:nvSpPr>
          <p:cNvPr id="9" name="Rectangle 8">
            <a:extLst>
              <a:ext uri="{FF2B5EF4-FFF2-40B4-BE49-F238E27FC236}">
                <a16:creationId xmlns:a16="http://schemas.microsoft.com/office/drawing/2014/main" id="{FE407B2C-FF54-4CB4-BA26-42E836F25F5F}"/>
              </a:ext>
            </a:extLst>
          </p:cNvPr>
          <p:cNvSpPr>
            <a:spLocks noGrp="1"/>
          </p:cNvSpPr>
          <p:nvPr/>
        </p:nvSpPr>
        <p:spPr>
          <a:xfrm>
            <a:off x="571500" y="2038350"/>
            <a:ext cx="1583531" cy="323850"/>
          </a:xfrm>
          <a:prstGeom prst="rect">
            <a:avLst/>
          </a:prstGeom>
          <a:solidFill>
            <a:srgbClr val="102A43"/>
          </a:solidFill>
          <a:ln w="0">
            <a:solidFill>
              <a:srgbClr val="102A43"/>
            </a:solidFill>
            <a:prstDash val="solid"/>
          </a:ln>
        </p:spPr>
        <p:txBody>
          <a:bodyPr/>
          <a:lstStyle/>
          <a:p>
            <a:endParaRPr lang="en-US"/>
          </a:p>
        </p:txBody>
      </p:sp>
      <p:sp>
        <p:nvSpPr>
          <p:cNvPr id="10" name="Rectangle 9">
            <a:extLst>
              <a:ext uri="{FF2B5EF4-FFF2-40B4-BE49-F238E27FC236}">
                <a16:creationId xmlns:a16="http://schemas.microsoft.com/office/drawing/2014/main" id="{2E4F1017-193E-46A8-978C-1675BD27003B}"/>
              </a:ext>
            </a:extLst>
          </p:cNvPr>
          <p:cNvSpPr>
            <a:spLocks noGrp="1"/>
          </p:cNvSpPr>
          <p:nvPr/>
        </p:nvSpPr>
        <p:spPr>
          <a:xfrm>
            <a:off x="666750" y="2114550"/>
            <a:ext cx="2095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FFFFF"/>
                </a:solidFill>
                <a:latin typeface="Nunito Sans"/>
                <a:ea typeface="Nunito Sans"/>
                <a:cs typeface="Nunito Sans"/>
              </a:defRPr>
            </a:pPr>
            <a:r>
              <a:rPr sz="975" b="1">
                <a:solidFill>
                  <a:srgbClr val="FFFFFF"/>
                </a:solidFill>
                <a:latin typeface="Nunito Sans"/>
                <a:ea typeface="Nunito Sans"/>
                <a:cs typeface="Nunito Sans"/>
              </a:rPr>
              <a:t>Policy</a:t>
            </a:r>
          </a:p>
        </p:txBody>
      </p:sp>
      <p:sp>
        <p:nvSpPr>
          <p:cNvPr id="11" name="Rectangle 10">
            <a:extLst>
              <a:ext uri="{FF2B5EF4-FFF2-40B4-BE49-F238E27FC236}">
                <a16:creationId xmlns:a16="http://schemas.microsoft.com/office/drawing/2014/main" id="{5CA79FA3-DF31-40BE-80B0-C0389DC6401C}"/>
              </a:ext>
            </a:extLst>
          </p:cNvPr>
          <p:cNvSpPr>
            <a:spLocks noGrp="1"/>
          </p:cNvSpPr>
          <p:nvPr/>
        </p:nvSpPr>
        <p:spPr>
          <a:xfrm>
            <a:off x="2161223" y="2038350"/>
            <a:ext cx="1143000" cy="323850"/>
          </a:xfrm>
          <a:prstGeom prst="rect">
            <a:avLst/>
          </a:prstGeom>
          <a:solidFill>
            <a:srgbClr val="102A43"/>
          </a:solidFill>
          <a:ln w="0">
            <a:solidFill>
              <a:srgbClr val="102A43"/>
            </a:solidFill>
            <a:prstDash val="solid"/>
          </a:ln>
        </p:spPr>
        <p:txBody>
          <a:bodyPr/>
          <a:lstStyle/>
          <a:p>
            <a:endParaRPr lang="en-US"/>
          </a:p>
        </p:txBody>
      </p:sp>
      <p:sp>
        <p:nvSpPr>
          <p:cNvPr id="12" name="Rectangle 11">
            <a:extLst>
              <a:ext uri="{FF2B5EF4-FFF2-40B4-BE49-F238E27FC236}">
                <a16:creationId xmlns:a16="http://schemas.microsoft.com/office/drawing/2014/main" id="{D029B925-8BC0-4E4F-B1EA-B9D95E81B8C5}"/>
              </a:ext>
            </a:extLst>
          </p:cNvPr>
          <p:cNvSpPr>
            <a:spLocks noGrp="1"/>
          </p:cNvSpPr>
          <p:nvPr/>
        </p:nvSpPr>
        <p:spPr>
          <a:xfrm>
            <a:off x="2256473" y="2114550"/>
            <a:ext cx="95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latin typeface="Nunito Sans"/>
                <a:ea typeface="Nunito Sans"/>
                <a:cs typeface="Nunito Sans"/>
              </a:defRPr>
            </a:pPr>
            <a:r>
              <a:rPr sz="975" b="1">
                <a:solidFill>
                  <a:srgbClr val="FFFFFF"/>
                </a:solidFill>
                <a:latin typeface="Nunito Sans"/>
                <a:ea typeface="Nunito Sans"/>
                <a:cs typeface="Nunito Sans"/>
              </a:rPr>
              <a:t>Success</a:t>
            </a:r>
          </a:p>
        </p:txBody>
      </p:sp>
      <p:sp>
        <p:nvSpPr>
          <p:cNvPr id="13" name="Rectangle 12">
            <a:extLst>
              <a:ext uri="{FF2B5EF4-FFF2-40B4-BE49-F238E27FC236}">
                <a16:creationId xmlns:a16="http://schemas.microsoft.com/office/drawing/2014/main" id="{48C1B947-FF25-4FF4-9A89-A59DAD42954E}"/>
              </a:ext>
            </a:extLst>
          </p:cNvPr>
          <p:cNvSpPr>
            <a:spLocks noGrp="1"/>
          </p:cNvSpPr>
          <p:nvPr/>
        </p:nvSpPr>
        <p:spPr>
          <a:xfrm>
            <a:off x="3304223" y="2038350"/>
            <a:ext cx="1047750" cy="323850"/>
          </a:xfrm>
          <a:prstGeom prst="rect">
            <a:avLst/>
          </a:prstGeom>
          <a:solidFill>
            <a:srgbClr val="102A43"/>
          </a:solidFill>
          <a:ln w="0">
            <a:solidFill>
              <a:srgbClr val="102A43"/>
            </a:solidFill>
            <a:prstDash val="solid"/>
          </a:ln>
        </p:spPr>
        <p:txBody>
          <a:bodyPr/>
          <a:lstStyle/>
          <a:p>
            <a:endParaRPr lang="en-US"/>
          </a:p>
        </p:txBody>
      </p:sp>
      <p:sp>
        <p:nvSpPr>
          <p:cNvPr id="14" name="Rectangle 13">
            <a:extLst>
              <a:ext uri="{FF2B5EF4-FFF2-40B4-BE49-F238E27FC236}">
                <a16:creationId xmlns:a16="http://schemas.microsoft.com/office/drawing/2014/main" id="{A6AE77D8-82AC-4809-9520-80238A161F7B}"/>
              </a:ext>
            </a:extLst>
          </p:cNvPr>
          <p:cNvSpPr>
            <a:spLocks noGrp="1"/>
          </p:cNvSpPr>
          <p:nvPr/>
        </p:nvSpPr>
        <p:spPr>
          <a:xfrm>
            <a:off x="3399473" y="2114550"/>
            <a:ext cx="857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latin typeface="Nunito Sans"/>
                <a:ea typeface="Nunito Sans"/>
                <a:cs typeface="Nunito Sans"/>
              </a:defRPr>
            </a:pPr>
            <a:r>
              <a:rPr sz="975" b="1">
                <a:solidFill>
                  <a:srgbClr val="FFFFFF"/>
                </a:solidFill>
                <a:latin typeface="Nunito Sans"/>
                <a:ea typeface="Nunito Sans"/>
                <a:cs typeface="Nunito Sans"/>
              </a:rPr>
              <a:t>Calls</a:t>
            </a:r>
          </a:p>
        </p:txBody>
      </p:sp>
      <p:sp>
        <p:nvSpPr>
          <p:cNvPr id="15" name="Rectangle 14">
            <a:extLst>
              <a:ext uri="{FF2B5EF4-FFF2-40B4-BE49-F238E27FC236}">
                <a16:creationId xmlns:a16="http://schemas.microsoft.com/office/drawing/2014/main" id="{7AC6D05F-35DB-4E15-BCBD-12AAA2354944}"/>
              </a:ext>
            </a:extLst>
          </p:cNvPr>
          <p:cNvSpPr>
            <a:spLocks noGrp="1"/>
          </p:cNvSpPr>
          <p:nvPr/>
        </p:nvSpPr>
        <p:spPr>
          <a:xfrm>
            <a:off x="571500" y="2362200"/>
            <a:ext cx="1583531" cy="400050"/>
          </a:xfrm>
          <a:prstGeom prst="rect">
            <a:avLst/>
          </a:prstGeom>
          <a:solidFill>
            <a:srgbClr val="FFFFFF"/>
          </a:solidFill>
          <a:ln w="9525">
            <a:solidFill>
              <a:srgbClr val="D8E1ED"/>
            </a:solidFill>
            <a:prstDash val="solid"/>
          </a:ln>
        </p:spPr>
        <p:txBody>
          <a:bodyPr/>
          <a:lstStyle/>
          <a:p>
            <a:endParaRPr lang="en-US"/>
          </a:p>
        </p:txBody>
      </p:sp>
      <p:sp>
        <p:nvSpPr>
          <p:cNvPr id="16" name="Rectangle 15">
            <a:extLst>
              <a:ext uri="{FF2B5EF4-FFF2-40B4-BE49-F238E27FC236}">
                <a16:creationId xmlns:a16="http://schemas.microsoft.com/office/drawing/2014/main" id="{E3285FEF-7ABE-4069-BE3B-A017A2D2C40A}"/>
              </a:ext>
            </a:extLst>
          </p:cNvPr>
          <p:cNvSpPr>
            <a:spLocks noGrp="1"/>
          </p:cNvSpPr>
          <p:nvPr/>
        </p:nvSpPr>
        <p:spPr>
          <a:xfrm>
            <a:off x="666750" y="2466975"/>
            <a:ext cx="1295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02A43"/>
                </a:solidFill>
                <a:latin typeface="Nunito Sans"/>
                <a:ea typeface="Nunito Sans"/>
                <a:cs typeface="Nunito Sans"/>
              </a:defRPr>
            </a:pPr>
            <a:r>
              <a:rPr sz="1050" b="1">
                <a:solidFill>
                  <a:srgbClr val="102A43"/>
                </a:solidFill>
                <a:latin typeface="Nunito Sans"/>
                <a:ea typeface="Nunito Sans"/>
                <a:cs typeface="Nunito Sans"/>
              </a:rPr>
              <a:t>always</a:t>
            </a:r>
          </a:p>
        </p:txBody>
      </p:sp>
      <p:sp>
        <p:nvSpPr>
          <p:cNvPr id="17" name="Rectangle 16">
            <a:extLst>
              <a:ext uri="{FF2B5EF4-FFF2-40B4-BE49-F238E27FC236}">
                <a16:creationId xmlns:a16="http://schemas.microsoft.com/office/drawing/2014/main" id="{5D899591-6D05-4EBC-945F-C4ED9F4531F0}"/>
              </a:ext>
            </a:extLst>
          </p:cNvPr>
          <p:cNvSpPr>
            <a:spLocks noGrp="1"/>
          </p:cNvSpPr>
          <p:nvPr/>
        </p:nvSpPr>
        <p:spPr>
          <a:xfrm>
            <a:off x="2161223" y="2362200"/>
            <a:ext cx="1143000" cy="400050"/>
          </a:xfrm>
          <a:prstGeom prst="rect">
            <a:avLst/>
          </a:prstGeom>
          <a:solidFill>
            <a:srgbClr val="FFFFFF"/>
          </a:solidFill>
          <a:ln w="9525">
            <a:solidFill>
              <a:srgbClr val="D8E1ED"/>
            </a:solidFill>
            <a:prstDash val="solid"/>
          </a:ln>
        </p:spPr>
        <p:txBody>
          <a:bodyPr/>
          <a:lstStyle/>
          <a:p>
            <a:endParaRPr lang="en-US"/>
          </a:p>
        </p:txBody>
      </p:sp>
      <p:sp>
        <p:nvSpPr>
          <p:cNvPr id="18" name="Rectangle 17">
            <a:extLst>
              <a:ext uri="{FF2B5EF4-FFF2-40B4-BE49-F238E27FC236}">
                <a16:creationId xmlns:a16="http://schemas.microsoft.com/office/drawing/2014/main" id="{B5251337-B8A8-4A94-A683-E7BCAB4F32EF}"/>
              </a:ext>
            </a:extLst>
          </p:cNvPr>
          <p:cNvSpPr>
            <a:spLocks noGrp="1"/>
          </p:cNvSpPr>
          <p:nvPr/>
        </p:nvSpPr>
        <p:spPr>
          <a:xfrm>
            <a:off x="2256473" y="2466975"/>
            <a:ext cx="95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102A43"/>
                </a:solidFill>
                <a:latin typeface="Nunito Sans"/>
                <a:ea typeface="Nunito Sans"/>
                <a:cs typeface="Nunito Sans"/>
              </a:defRPr>
            </a:pPr>
            <a:r>
              <a:rPr sz="1050" b="0">
                <a:solidFill>
                  <a:srgbClr val="102A43"/>
                </a:solidFill>
                <a:latin typeface="Nunito Sans"/>
                <a:ea typeface="Nunito Sans"/>
                <a:cs typeface="Nunito Sans"/>
              </a:rPr>
              <a:t>100%</a:t>
            </a:r>
          </a:p>
        </p:txBody>
      </p:sp>
      <p:sp>
        <p:nvSpPr>
          <p:cNvPr id="19" name="Rectangle 18">
            <a:extLst>
              <a:ext uri="{FF2B5EF4-FFF2-40B4-BE49-F238E27FC236}">
                <a16:creationId xmlns:a16="http://schemas.microsoft.com/office/drawing/2014/main" id="{60F3FD3B-D44E-47AA-B901-BA00D8A125DA}"/>
              </a:ext>
            </a:extLst>
          </p:cNvPr>
          <p:cNvSpPr>
            <a:spLocks noGrp="1"/>
          </p:cNvSpPr>
          <p:nvPr/>
        </p:nvSpPr>
        <p:spPr>
          <a:xfrm>
            <a:off x="3304223" y="2362200"/>
            <a:ext cx="1047750" cy="400050"/>
          </a:xfrm>
          <a:prstGeom prst="rect">
            <a:avLst/>
          </a:prstGeom>
          <a:solidFill>
            <a:srgbClr val="FFFFFF"/>
          </a:solidFill>
          <a:ln w="9525">
            <a:solidFill>
              <a:srgbClr val="D8E1ED"/>
            </a:solidFill>
            <a:prstDash val="solid"/>
          </a:ln>
        </p:spPr>
        <p:txBody>
          <a:bodyPr/>
          <a:lstStyle/>
          <a:p>
            <a:endParaRPr lang="en-US"/>
          </a:p>
        </p:txBody>
      </p:sp>
      <p:sp>
        <p:nvSpPr>
          <p:cNvPr id="20" name="Rectangle 19">
            <a:extLst>
              <a:ext uri="{FF2B5EF4-FFF2-40B4-BE49-F238E27FC236}">
                <a16:creationId xmlns:a16="http://schemas.microsoft.com/office/drawing/2014/main" id="{15023F4F-7201-457C-B31F-568E3BF3A35D}"/>
              </a:ext>
            </a:extLst>
          </p:cNvPr>
          <p:cNvSpPr>
            <a:spLocks noGrp="1"/>
          </p:cNvSpPr>
          <p:nvPr/>
        </p:nvSpPr>
        <p:spPr>
          <a:xfrm>
            <a:off x="3399473" y="2466975"/>
            <a:ext cx="857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102A43"/>
                </a:solidFill>
                <a:latin typeface="Nunito Sans"/>
                <a:ea typeface="Nunito Sans"/>
                <a:cs typeface="Nunito Sans"/>
              </a:defRPr>
            </a:pPr>
            <a:r>
              <a:rPr sz="1050" b="0">
                <a:solidFill>
                  <a:srgbClr val="102A43"/>
                </a:solidFill>
                <a:latin typeface="Nunito Sans"/>
                <a:ea typeface="Nunito Sans"/>
                <a:cs typeface="Nunito Sans"/>
              </a:rPr>
              <a:t>3.53</a:t>
            </a:r>
          </a:p>
        </p:txBody>
      </p:sp>
      <p:sp>
        <p:nvSpPr>
          <p:cNvPr id="21" name="Rectangle 20">
            <a:extLst>
              <a:ext uri="{FF2B5EF4-FFF2-40B4-BE49-F238E27FC236}">
                <a16:creationId xmlns:a16="http://schemas.microsoft.com/office/drawing/2014/main" id="{DAF33CC3-567B-48A3-B364-366373C183B5}"/>
              </a:ext>
            </a:extLst>
          </p:cNvPr>
          <p:cNvSpPr>
            <a:spLocks noGrp="1"/>
          </p:cNvSpPr>
          <p:nvPr/>
        </p:nvSpPr>
        <p:spPr>
          <a:xfrm>
            <a:off x="571500" y="2762250"/>
            <a:ext cx="1583531" cy="400050"/>
          </a:xfrm>
          <a:prstGeom prst="rect">
            <a:avLst/>
          </a:prstGeom>
          <a:solidFill>
            <a:srgbClr val="F8FAFD"/>
          </a:solidFill>
          <a:ln w="9525">
            <a:solidFill>
              <a:srgbClr val="D8E1ED"/>
            </a:solidFill>
            <a:prstDash val="solid"/>
          </a:ln>
        </p:spPr>
        <p:txBody>
          <a:bodyPr/>
          <a:lstStyle/>
          <a:p>
            <a:endParaRPr lang="en-US"/>
          </a:p>
        </p:txBody>
      </p:sp>
      <p:sp>
        <p:nvSpPr>
          <p:cNvPr id="22" name="Rectangle 21">
            <a:extLst>
              <a:ext uri="{FF2B5EF4-FFF2-40B4-BE49-F238E27FC236}">
                <a16:creationId xmlns:a16="http://schemas.microsoft.com/office/drawing/2014/main" id="{9548493C-C450-4E0C-8AAC-BDA927DC910D}"/>
              </a:ext>
            </a:extLst>
          </p:cNvPr>
          <p:cNvSpPr>
            <a:spLocks noGrp="1"/>
          </p:cNvSpPr>
          <p:nvPr/>
        </p:nvSpPr>
        <p:spPr>
          <a:xfrm>
            <a:off x="666750" y="2867025"/>
            <a:ext cx="1353502"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02A43"/>
                </a:solidFill>
                <a:latin typeface="Nunito Sans"/>
                <a:ea typeface="Nunito Sans"/>
                <a:cs typeface="Nunito Sans"/>
              </a:defRPr>
            </a:pPr>
            <a:r>
              <a:rPr sz="1050" b="1">
                <a:solidFill>
                  <a:srgbClr val="102A43"/>
                </a:solidFill>
                <a:latin typeface="Nunito Sans"/>
                <a:ea typeface="Nunito Sans"/>
                <a:cs typeface="Nunito Sans"/>
              </a:rPr>
              <a:t>never</a:t>
            </a:r>
          </a:p>
        </p:txBody>
      </p:sp>
      <p:sp>
        <p:nvSpPr>
          <p:cNvPr id="23" name="Rectangle 22">
            <a:extLst>
              <a:ext uri="{FF2B5EF4-FFF2-40B4-BE49-F238E27FC236}">
                <a16:creationId xmlns:a16="http://schemas.microsoft.com/office/drawing/2014/main" id="{EBE4CF9F-DBFD-4A8F-8FC1-EFB7FD87F397}"/>
              </a:ext>
            </a:extLst>
          </p:cNvPr>
          <p:cNvSpPr>
            <a:spLocks noGrp="1"/>
          </p:cNvSpPr>
          <p:nvPr/>
        </p:nvSpPr>
        <p:spPr>
          <a:xfrm>
            <a:off x="2161223" y="2762250"/>
            <a:ext cx="1143000" cy="400050"/>
          </a:xfrm>
          <a:prstGeom prst="rect">
            <a:avLst/>
          </a:prstGeom>
          <a:solidFill>
            <a:srgbClr val="F8FAFD"/>
          </a:solidFill>
          <a:ln w="9525">
            <a:solidFill>
              <a:srgbClr val="D8E1ED"/>
            </a:solidFill>
            <a:prstDash val="solid"/>
          </a:ln>
        </p:spPr>
        <p:txBody>
          <a:bodyPr/>
          <a:lstStyle/>
          <a:p>
            <a:endParaRPr lang="en-US"/>
          </a:p>
        </p:txBody>
      </p:sp>
      <p:sp>
        <p:nvSpPr>
          <p:cNvPr id="24" name="Rectangle 23">
            <a:extLst>
              <a:ext uri="{FF2B5EF4-FFF2-40B4-BE49-F238E27FC236}">
                <a16:creationId xmlns:a16="http://schemas.microsoft.com/office/drawing/2014/main" id="{659CBD47-0801-4FFB-BAE4-37A2F3A42481}"/>
              </a:ext>
            </a:extLst>
          </p:cNvPr>
          <p:cNvSpPr>
            <a:spLocks noGrp="1"/>
          </p:cNvSpPr>
          <p:nvPr/>
        </p:nvSpPr>
        <p:spPr>
          <a:xfrm>
            <a:off x="2256473" y="2867025"/>
            <a:ext cx="95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102A43"/>
                </a:solidFill>
                <a:latin typeface="Nunito Sans"/>
                <a:ea typeface="Nunito Sans"/>
                <a:cs typeface="Nunito Sans"/>
              </a:defRPr>
            </a:pPr>
            <a:r>
              <a:rPr sz="1050" b="0">
                <a:solidFill>
                  <a:srgbClr val="102A43"/>
                </a:solidFill>
                <a:latin typeface="Nunito Sans"/>
                <a:ea typeface="Nunito Sans"/>
                <a:cs typeface="Nunito Sans"/>
              </a:rPr>
              <a:t>93.3%</a:t>
            </a:r>
          </a:p>
        </p:txBody>
      </p:sp>
      <p:sp>
        <p:nvSpPr>
          <p:cNvPr id="25" name="Rectangle 24">
            <a:extLst>
              <a:ext uri="{FF2B5EF4-FFF2-40B4-BE49-F238E27FC236}">
                <a16:creationId xmlns:a16="http://schemas.microsoft.com/office/drawing/2014/main" id="{DA8F31A0-926F-4E8D-89C4-DF18D2119EC6}"/>
              </a:ext>
            </a:extLst>
          </p:cNvPr>
          <p:cNvSpPr>
            <a:spLocks noGrp="1"/>
          </p:cNvSpPr>
          <p:nvPr/>
        </p:nvSpPr>
        <p:spPr>
          <a:xfrm>
            <a:off x="3304223" y="2762250"/>
            <a:ext cx="1047750" cy="400050"/>
          </a:xfrm>
          <a:prstGeom prst="rect">
            <a:avLst/>
          </a:prstGeom>
          <a:solidFill>
            <a:srgbClr val="F8FAFD"/>
          </a:solidFill>
          <a:ln w="9525">
            <a:solidFill>
              <a:srgbClr val="D8E1ED"/>
            </a:solidFill>
            <a:prstDash val="solid"/>
          </a:ln>
        </p:spPr>
        <p:txBody>
          <a:bodyPr/>
          <a:lstStyle/>
          <a:p>
            <a:endParaRPr lang="en-US"/>
          </a:p>
        </p:txBody>
      </p:sp>
      <p:sp>
        <p:nvSpPr>
          <p:cNvPr id="26" name="Rectangle 25">
            <a:extLst>
              <a:ext uri="{FF2B5EF4-FFF2-40B4-BE49-F238E27FC236}">
                <a16:creationId xmlns:a16="http://schemas.microsoft.com/office/drawing/2014/main" id="{8D96447E-D6C3-4652-87F2-02CD95B26777}"/>
              </a:ext>
            </a:extLst>
          </p:cNvPr>
          <p:cNvSpPr>
            <a:spLocks noGrp="1"/>
          </p:cNvSpPr>
          <p:nvPr/>
        </p:nvSpPr>
        <p:spPr>
          <a:xfrm>
            <a:off x="3399473" y="2867025"/>
            <a:ext cx="857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102A43"/>
                </a:solidFill>
                <a:latin typeface="Nunito Sans"/>
                <a:ea typeface="Nunito Sans"/>
                <a:cs typeface="Nunito Sans"/>
              </a:defRPr>
            </a:pPr>
            <a:r>
              <a:rPr sz="1050" b="0">
                <a:solidFill>
                  <a:srgbClr val="102A43"/>
                </a:solidFill>
                <a:latin typeface="Nunito Sans"/>
                <a:ea typeface="Nunito Sans"/>
                <a:cs typeface="Nunito Sans"/>
              </a:rPr>
              <a:t>1.80</a:t>
            </a:r>
          </a:p>
        </p:txBody>
      </p:sp>
      <p:sp>
        <p:nvSpPr>
          <p:cNvPr id="27" name="Rectangle 26">
            <a:extLst>
              <a:ext uri="{FF2B5EF4-FFF2-40B4-BE49-F238E27FC236}">
                <a16:creationId xmlns:a16="http://schemas.microsoft.com/office/drawing/2014/main" id="{9C10D5F0-5CE1-4BE9-8945-A03FB11258BB}"/>
              </a:ext>
            </a:extLst>
          </p:cNvPr>
          <p:cNvSpPr>
            <a:spLocks noGrp="1"/>
          </p:cNvSpPr>
          <p:nvPr/>
        </p:nvSpPr>
        <p:spPr>
          <a:xfrm>
            <a:off x="571500" y="3162300"/>
            <a:ext cx="1583531" cy="400050"/>
          </a:xfrm>
          <a:prstGeom prst="rect">
            <a:avLst/>
          </a:prstGeom>
          <a:solidFill>
            <a:srgbClr val="FFFFFF"/>
          </a:solidFill>
          <a:ln w="9525">
            <a:solidFill>
              <a:srgbClr val="D8E1ED"/>
            </a:solidFill>
            <a:prstDash val="solid"/>
          </a:ln>
        </p:spPr>
        <p:txBody>
          <a:bodyPr/>
          <a:lstStyle/>
          <a:p>
            <a:endParaRPr lang="en-US"/>
          </a:p>
        </p:txBody>
      </p:sp>
      <p:sp>
        <p:nvSpPr>
          <p:cNvPr id="28" name="Rectangle 27">
            <a:extLst>
              <a:ext uri="{FF2B5EF4-FFF2-40B4-BE49-F238E27FC236}">
                <a16:creationId xmlns:a16="http://schemas.microsoft.com/office/drawing/2014/main" id="{29B8FBFB-1202-42C6-BCC3-4E829998F791}"/>
              </a:ext>
            </a:extLst>
          </p:cNvPr>
          <p:cNvSpPr>
            <a:spLocks noGrp="1"/>
          </p:cNvSpPr>
          <p:nvPr/>
        </p:nvSpPr>
        <p:spPr>
          <a:xfrm>
            <a:off x="666750" y="3267075"/>
            <a:ext cx="1353502"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02A43"/>
                </a:solidFill>
                <a:latin typeface="Nunito Sans"/>
                <a:ea typeface="Nunito Sans"/>
                <a:cs typeface="Nunito Sans"/>
              </a:defRPr>
            </a:pPr>
            <a:r>
              <a:rPr sz="1050" b="1">
                <a:solidFill>
                  <a:srgbClr val="102A43"/>
                </a:solidFill>
                <a:latin typeface="Nunito Sans"/>
                <a:ea typeface="Nunito Sans"/>
                <a:cs typeface="Nunito Sans"/>
              </a:rPr>
              <a:t>handrule</a:t>
            </a:r>
          </a:p>
        </p:txBody>
      </p:sp>
      <p:sp>
        <p:nvSpPr>
          <p:cNvPr id="29" name="Rectangle 28">
            <a:extLst>
              <a:ext uri="{FF2B5EF4-FFF2-40B4-BE49-F238E27FC236}">
                <a16:creationId xmlns:a16="http://schemas.microsoft.com/office/drawing/2014/main" id="{05B287F4-CD56-4C25-94F8-65B28D2BAAB7}"/>
              </a:ext>
            </a:extLst>
          </p:cNvPr>
          <p:cNvSpPr>
            <a:spLocks noGrp="1"/>
          </p:cNvSpPr>
          <p:nvPr/>
        </p:nvSpPr>
        <p:spPr>
          <a:xfrm>
            <a:off x="2161223" y="3162300"/>
            <a:ext cx="1143000" cy="400050"/>
          </a:xfrm>
          <a:prstGeom prst="rect">
            <a:avLst/>
          </a:prstGeom>
          <a:solidFill>
            <a:srgbClr val="FFFFFF"/>
          </a:solidFill>
          <a:ln w="9525">
            <a:solidFill>
              <a:srgbClr val="D8E1ED"/>
            </a:solidFill>
            <a:prstDash val="solid"/>
          </a:ln>
        </p:spPr>
        <p:txBody>
          <a:bodyPr/>
          <a:lstStyle/>
          <a:p>
            <a:endParaRPr lang="en-US"/>
          </a:p>
        </p:txBody>
      </p:sp>
      <p:sp>
        <p:nvSpPr>
          <p:cNvPr id="30" name="Rectangle 29">
            <a:extLst>
              <a:ext uri="{FF2B5EF4-FFF2-40B4-BE49-F238E27FC236}">
                <a16:creationId xmlns:a16="http://schemas.microsoft.com/office/drawing/2014/main" id="{C2B4E5DA-4E14-41C6-B890-7F381A3E63B9}"/>
              </a:ext>
            </a:extLst>
          </p:cNvPr>
          <p:cNvSpPr>
            <a:spLocks noGrp="1"/>
          </p:cNvSpPr>
          <p:nvPr/>
        </p:nvSpPr>
        <p:spPr>
          <a:xfrm>
            <a:off x="2256473" y="3267075"/>
            <a:ext cx="95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102A43"/>
                </a:solidFill>
                <a:latin typeface="Nunito Sans"/>
                <a:ea typeface="Nunito Sans"/>
                <a:cs typeface="Nunito Sans"/>
              </a:defRPr>
            </a:pPr>
            <a:r>
              <a:rPr sz="1050" b="0">
                <a:solidFill>
                  <a:srgbClr val="102A43"/>
                </a:solidFill>
                <a:latin typeface="Nunito Sans"/>
                <a:ea typeface="Nunito Sans"/>
                <a:cs typeface="Nunito Sans"/>
              </a:rPr>
              <a:t>100%</a:t>
            </a:r>
          </a:p>
        </p:txBody>
      </p:sp>
      <p:sp>
        <p:nvSpPr>
          <p:cNvPr id="31" name="Rectangle 30">
            <a:extLst>
              <a:ext uri="{FF2B5EF4-FFF2-40B4-BE49-F238E27FC236}">
                <a16:creationId xmlns:a16="http://schemas.microsoft.com/office/drawing/2014/main" id="{038F9FEA-C601-4BCC-AE28-E85BAFB19CDC}"/>
              </a:ext>
            </a:extLst>
          </p:cNvPr>
          <p:cNvSpPr>
            <a:spLocks noGrp="1"/>
          </p:cNvSpPr>
          <p:nvPr/>
        </p:nvSpPr>
        <p:spPr>
          <a:xfrm>
            <a:off x="3304223" y="3162300"/>
            <a:ext cx="1047750" cy="400050"/>
          </a:xfrm>
          <a:prstGeom prst="rect">
            <a:avLst/>
          </a:prstGeom>
          <a:solidFill>
            <a:srgbClr val="FFFFFF"/>
          </a:solidFill>
          <a:ln w="9525">
            <a:solidFill>
              <a:srgbClr val="D8E1ED"/>
            </a:solidFill>
            <a:prstDash val="solid"/>
          </a:ln>
        </p:spPr>
        <p:txBody>
          <a:bodyPr/>
          <a:lstStyle/>
          <a:p>
            <a:endParaRPr lang="en-US"/>
          </a:p>
        </p:txBody>
      </p:sp>
      <p:sp>
        <p:nvSpPr>
          <p:cNvPr id="32" name="Rectangle 31">
            <a:extLst>
              <a:ext uri="{FF2B5EF4-FFF2-40B4-BE49-F238E27FC236}">
                <a16:creationId xmlns:a16="http://schemas.microsoft.com/office/drawing/2014/main" id="{DC17638D-A9A0-47C3-89D1-80419761ED63}"/>
              </a:ext>
            </a:extLst>
          </p:cNvPr>
          <p:cNvSpPr>
            <a:spLocks noGrp="1"/>
          </p:cNvSpPr>
          <p:nvPr/>
        </p:nvSpPr>
        <p:spPr>
          <a:xfrm>
            <a:off x="3399473" y="3267075"/>
            <a:ext cx="857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102A43"/>
                </a:solidFill>
                <a:latin typeface="Nunito Sans"/>
                <a:ea typeface="Nunito Sans"/>
                <a:cs typeface="Nunito Sans"/>
              </a:defRPr>
            </a:pPr>
            <a:r>
              <a:rPr sz="1050" b="0">
                <a:solidFill>
                  <a:srgbClr val="102A43"/>
                </a:solidFill>
                <a:latin typeface="Nunito Sans"/>
                <a:ea typeface="Nunito Sans"/>
                <a:cs typeface="Nunito Sans"/>
              </a:rPr>
              <a:t>3.07</a:t>
            </a:r>
          </a:p>
        </p:txBody>
      </p:sp>
      <p:sp>
        <p:nvSpPr>
          <p:cNvPr id="33" name="Rectangle 32">
            <a:extLst>
              <a:ext uri="{FF2B5EF4-FFF2-40B4-BE49-F238E27FC236}">
                <a16:creationId xmlns:a16="http://schemas.microsoft.com/office/drawing/2014/main" id="{58059D7E-2FF9-44AD-9890-71C92EDC0D27}"/>
              </a:ext>
            </a:extLst>
          </p:cNvPr>
          <p:cNvSpPr>
            <a:spLocks noGrp="1"/>
          </p:cNvSpPr>
          <p:nvPr/>
        </p:nvSpPr>
        <p:spPr>
          <a:xfrm>
            <a:off x="571500" y="3562350"/>
            <a:ext cx="1583531" cy="400050"/>
          </a:xfrm>
          <a:prstGeom prst="rect">
            <a:avLst/>
          </a:prstGeom>
          <a:solidFill>
            <a:srgbClr val="EAF8F4"/>
          </a:solidFill>
          <a:ln w="9525">
            <a:solidFill>
              <a:srgbClr val="D8E1ED"/>
            </a:solidFill>
            <a:prstDash val="solid"/>
          </a:ln>
        </p:spPr>
        <p:txBody>
          <a:bodyPr/>
          <a:lstStyle/>
          <a:p>
            <a:endParaRPr lang="en-US"/>
          </a:p>
        </p:txBody>
      </p:sp>
      <p:sp>
        <p:nvSpPr>
          <p:cNvPr id="34" name="Rectangle 33">
            <a:extLst>
              <a:ext uri="{FF2B5EF4-FFF2-40B4-BE49-F238E27FC236}">
                <a16:creationId xmlns:a16="http://schemas.microsoft.com/office/drawing/2014/main" id="{A2ED622B-DB41-4DB9-9286-8CD7412C7E25}"/>
              </a:ext>
            </a:extLst>
          </p:cNvPr>
          <p:cNvSpPr>
            <a:spLocks noGrp="1"/>
          </p:cNvSpPr>
          <p:nvPr/>
        </p:nvSpPr>
        <p:spPr>
          <a:xfrm>
            <a:off x="666750" y="3667125"/>
            <a:ext cx="1208722"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D936C"/>
                </a:solidFill>
                <a:latin typeface="Nunito Sans"/>
                <a:ea typeface="Nunito Sans"/>
                <a:cs typeface="Nunito Sans"/>
              </a:defRPr>
            </a:pPr>
            <a:r>
              <a:rPr sz="1050" b="1" dirty="0">
                <a:solidFill>
                  <a:srgbClr val="2D936C"/>
                </a:solidFill>
                <a:latin typeface="Nunito Sans"/>
                <a:ea typeface="Nunito Sans"/>
                <a:cs typeface="Nunito Sans"/>
              </a:rPr>
              <a:t>learned@0.2</a:t>
            </a:r>
          </a:p>
        </p:txBody>
      </p:sp>
      <p:sp>
        <p:nvSpPr>
          <p:cNvPr id="35" name="Rectangle 34">
            <a:extLst>
              <a:ext uri="{FF2B5EF4-FFF2-40B4-BE49-F238E27FC236}">
                <a16:creationId xmlns:a16="http://schemas.microsoft.com/office/drawing/2014/main" id="{F37667EB-8E69-4291-BFF9-5C1B1EE0105E}"/>
              </a:ext>
            </a:extLst>
          </p:cNvPr>
          <p:cNvSpPr>
            <a:spLocks noGrp="1"/>
          </p:cNvSpPr>
          <p:nvPr/>
        </p:nvSpPr>
        <p:spPr>
          <a:xfrm>
            <a:off x="2161223" y="3562350"/>
            <a:ext cx="1143000" cy="400050"/>
          </a:xfrm>
          <a:prstGeom prst="rect">
            <a:avLst/>
          </a:prstGeom>
          <a:solidFill>
            <a:srgbClr val="EAF8F4"/>
          </a:solidFill>
          <a:ln w="9525">
            <a:solidFill>
              <a:srgbClr val="D8E1ED"/>
            </a:solidFill>
            <a:prstDash val="solid"/>
          </a:ln>
        </p:spPr>
        <p:txBody>
          <a:bodyPr/>
          <a:lstStyle/>
          <a:p>
            <a:endParaRPr lang="en-US"/>
          </a:p>
        </p:txBody>
      </p:sp>
      <p:sp>
        <p:nvSpPr>
          <p:cNvPr id="36" name="Rectangle 35">
            <a:extLst>
              <a:ext uri="{FF2B5EF4-FFF2-40B4-BE49-F238E27FC236}">
                <a16:creationId xmlns:a16="http://schemas.microsoft.com/office/drawing/2014/main" id="{6F86BDA8-6817-41F4-8C0F-092D98592C65}"/>
              </a:ext>
            </a:extLst>
          </p:cNvPr>
          <p:cNvSpPr>
            <a:spLocks noGrp="1"/>
          </p:cNvSpPr>
          <p:nvPr/>
        </p:nvSpPr>
        <p:spPr>
          <a:xfrm>
            <a:off x="2256473" y="3667125"/>
            <a:ext cx="95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102A43"/>
                </a:solidFill>
                <a:latin typeface="Nunito Sans"/>
                <a:ea typeface="Nunito Sans"/>
                <a:cs typeface="Nunito Sans"/>
              </a:defRPr>
            </a:pPr>
            <a:r>
              <a:rPr sz="1050" b="1">
                <a:solidFill>
                  <a:srgbClr val="102A43"/>
                </a:solidFill>
                <a:latin typeface="Nunito Sans"/>
                <a:ea typeface="Nunito Sans"/>
                <a:cs typeface="Nunito Sans"/>
              </a:rPr>
              <a:t>100%</a:t>
            </a:r>
          </a:p>
        </p:txBody>
      </p:sp>
      <p:sp>
        <p:nvSpPr>
          <p:cNvPr id="37" name="Rectangle 36">
            <a:extLst>
              <a:ext uri="{FF2B5EF4-FFF2-40B4-BE49-F238E27FC236}">
                <a16:creationId xmlns:a16="http://schemas.microsoft.com/office/drawing/2014/main" id="{63DBF730-100B-450C-8820-A9F2DB4C23D2}"/>
              </a:ext>
            </a:extLst>
          </p:cNvPr>
          <p:cNvSpPr>
            <a:spLocks noGrp="1"/>
          </p:cNvSpPr>
          <p:nvPr/>
        </p:nvSpPr>
        <p:spPr>
          <a:xfrm>
            <a:off x="3304223" y="3562350"/>
            <a:ext cx="1047750" cy="400050"/>
          </a:xfrm>
          <a:prstGeom prst="rect">
            <a:avLst/>
          </a:prstGeom>
          <a:solidFill>
            <a:srgbClr val="EAF8F4"/>
          </a:solidFill>
          <a:ln w="9525">
            <a:solidFill>
              <a:srgbClr val="D8E1ED"/>
            </a:solidFill>
            <a:prstDash val="solid"/>
          </a:ln>
        </p:spPr>
        <p:txBody>
          <a:bodyPr/>
          <a:lstStyle/>
          <a:p>
            <a:endParaRPr lang="en-US"/>
          </a:p>
        </p:txBody>
      </p:sp>
      <p:sp>
        <p:nvSpPr>
          <p:cNvPr id="38" name="Rectangle 37">
            <a:extLst>
              <a:ext uri="{FF2B5EF4-FFF2-40B4-BE49-F238E27FC236}">
                <a16:creationId xmlns:a16="http://schemas.microsoft.com/office/drawing/2014/main" id="{AE4E2E5B-98F2-4A5C-ABA7-54535DD6A352}"/>
              </a:ext>
            </a:extLst>
          </p:cNvPr>
          <p:cNvSpPr>
            <a:spLocks noGrp="1"/>
          </p:cNvSpPr>
          <p:nvPr/>
        </p:nvSpPr>
        <p:spPr>
          <a:xfrm>
            <a:off x="3399473" y="3667125"/>
            <a:ext cx="857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102A43"/>
                </a:solidFill>
                <a:latin typeface="Nunito Sans"/>
                <a:ea typeface="Nunito Sans"/>
                <a:cs typeface="Nunito Sans"/>
              </a:defRPr>
            </a:pPr>
            <a:r>
              <a:rPr sz="1050" b="1">
                <a:solidFill>
                  <a:srgbClr val="102A43"/>
                </a:solidFill>
                <a:latin typeface="Nunito Sans"/>
                <a:ea typeface="Nunito Sans"/>
                <a:cs typeface="Nunito Sans"/>
              </a:rPr>
              <a:t>2.07</a:t>
            </a:r>
          </a:p>
        </p:txBody>
      </p:sp>
      <p:sp>
        <p:nvSpPr>
          <p:cNvPr id="39" name="Rectangle 38">
            <a:extLst>
              <a:ext uri="{FF2B5EF4-FFF2-40B4-BE49-F238E27FC236}">
                <a16:creationId xmlns:a16="http://schemas.microsoft.com/office/drawing/2014/main" id="{C9C0A5AB-D3B0-4C54-BC3B-0D7669CC223E}"/>
              </a:ext>
            </a:extLst>
          </p:cNvPr>
          <p:cNvSpPr>
            <a:spLocks noGrp="1"/>
          </p:cNvSpPr>
          <p:nvPr/>
        </p:nvSpPr>
        <p:spPr>
          <a:xfrm>
            <a:off x="5029200" y="1714500"/>
            <a:ext cx="6057900" cy="3028950"/>
          </a:xfrm>
          <a:prstGeom prst="rect">
            <a:avLst/>
          </a:prstGeom>
          <a:solidFill>
            <a:srgbClr val="FFFFFF"/>
          </a:solidFill>
          <a:ln w="9525">
            <a:solidFill>
              <a:srgbClr val="D8E1ED"/>
            </a:solidFill>
            <a:prstDash val="solid"/>
          </a:ln>
        </p:spPr>
        <p:txBody>
          <a:bodyPr/>
          <a:lstStyle/>
          <a:p>
            <a:endParaRPr lang="en-US"/>
          </a:p>
        </p:txBody>
      </p:sp>
      <p:sp>
        <p:nvSpPr>
          <p:cNvPr id="40" name="Rectangle 39">
            <a:extLst>
              <a:ext uri="{FF2B5EF4-FFF2-40B4-BE49-F238E27FC236}">
                <a16:creationId xmlns:a16="http://schemas.microsoft.com/office/drawing/2014/main" id="{D122BABE-9AFE-47EA-8049-E22BA14677B9}"/>
              </a:ext>
            </a:extLst>
          </p:cNvPr>
          <p:cNvSpPr>
            <a:spLocks noGrp="1"/>
          </p:cNvSpPr>
          <p:nvPr/>
        </p:nvSpPr>
        <p:spPr>
          <a:xfrm>
            <a:off x="5562600" y="4305300"/>
            <a:ext cx="5257800" cy="9525"/>
          </a:xfrm>
          <a:prstGeom prst="rect">
            <a:avLst/>
          </a:prstGeom>
          <a:solidFill>
            <a:srgbClr val="D8E1ED"/>
          </a:solidFill>
          <a:ln w="0">
            <a:solidFill>
              <a:srgbClr val="D8E1ED"/>
            </a:solidFill>
            <a:prstDash val="solid"/>
          </a:ln>
        </p:spPr>
        <p:txBody>
          <a:bodyPr/>
          <a:lstStyle/>
          <a:p>
            <a:endParaRPr lang="en-US"/>
          </a:p>
        </p:txBody>
      </p:sp>
      <p:sp>
        <p:nvSpPr>
          <p:cNvPr id="41" name="Rectangle 40">
            <a:extLst>
              <a:ext uri="{FF2B5EF4-FFF2-40B4-BE49-F238E27FC236}">
                <a16:creationId xmlns:a16="http://schemas.microsoft.com/office/drawing/2014/main" id="{E0C9F505-A5D0-4563-8517-807304F87FBF}"/>
              </a:ext>
            </a:extLst>
          </p:cNvPr>
          <p:cNvSpPr>
            <a:spLocks noGrp="1"/>
          </p:cNvSpPr>
          <p:nvPr/>
        </p:nvSpPr>
        <p:spPr>
          <a:xfrm>
            <a:off x="5562600" y="2152650"/>
            <a:ext cx="9525" cy="2152650"/>
          </a:xfrm>
          <a:prstGeom prst="rect">
            <a:avLst/>
          </a:prstGeom>
          <a:solidFill>
            <a:srgbClr val="D8E1ED"/>
          </a:solidFill>
          <a:ln w="0">
            <a:solidFill>
              <a:srgbClr val="D8E1ED"/>
            </a:solidFill>
            <a:prstDash val="solid"/>
          </a:ln>
        </p:spPr>
        <p:txBody>
          <a:bodyPr/>
          <a:lstStyle/>
          <a:p>
            <a:endParaRPr lang="en-US"/>
          </a:p>
        </p:txBody>
      </p:sp>
      <p:sp>
        <p:nvSpPr>
          <p:cNvPr id="42" name="Rectangle 41">
            <a:extLst>
              <a:ext uri="{FF2B5EF4-FFF2-40B4-BE49-F238E27FC236}">
                <a16:creationId xmlns:a16="http://schemas.microsoft.com/office/drawing/2014/main" id="{28C64DF0-C037-4F76-97B6-5E8F2167BBB7}"/>
              </a:ext>
            </a:extLst>
          </p:cNvPr>
          <p:cNvSpPr>
            <a:spLocks noGrp="1"/>
          </p:cNvSpPr>
          <p:nvPr/>
        </p:nvSpPr>
        <p:spPr>
          <a:xfrm>
            <a:off x="5886450" y="4514850"/>
            <a:ext cx="45339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B6B82"/>
                </a:solidFill>
                <a:latin typeface="Nunito Sans"/>
                <a:ea typeface="Nunito Sans"/>
                <a:cs typeface="Nunito Sans"/>
              </a:defRPr>
            </a:pPr>
            <a:r>
              <a:rPr sz="750" b="0">
                <a:solidFill>
                  <a:srgbClr val="5B6B82"/>
                </a:solidFill>
                <a:latin typeface="Nunito Sans"/>
                <a:ea typeface="Nunito Sans"/>
                <a:cs typeface="Nunito Sans"/>
              </a:rPr>
              <a:t>Avg model calls per task</a:t>
            </a:r>
          </a:p>
        </p:txBody>
      </p:sp>
      <p:sp>
        <p:nvSpPr>
          <p:cNvPr id="43" name="Rectangle 42">
            <a:extLst>
              <a:ext uri="{FF2B5EF4-FFF2-40B4-BE49-F238E27FC236}">
                <a16:creationId xmlns:a16="http://schemas.microsoft.com/office/drawing/2014/main" id="{BC3EAD78-2BF4-4F5C-9578-842A7F9D19E5}"/>
              </a:ext>
            </a:extLst>
          </p:cNvPr>
          <p:cNvSpPr>
            <a:spLocks noGrp="1"/>
          </p:cNvSpPr>
          <p:nvPr/>
        </p:nvSpPr>
        <p:spPr>
          <a:xfrm>
            <a:off x="5381625" y="1873250"/>
            <a:ext cx="476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5B6B82"/>
                </a:solidFill>
                <a:latin typeface="Nunito Sans"/>
                <a:ea typeface="Nunito Sans"/>
                <a:cs typeface="Nunito Sans"/>
              </a:defRPr>
            </a:pPr>
            <a:r>
              <a:rPr sz="750" b="0" dirty="0">
                <a:solidFill>
                  <a:srgbClr val="5B6B82"/>
                </a:solidFill>
                <a:latin typeface="Nunito Sans"/>
                <a:ea typeface="Nunito Sans"/>
                <a:cs typeface="Nunito Sans"/>
              </a:rPr>
              <a:t>Success</a:t>
            </a:r>
          </a:p>
        </p:txBody>
      </p:sp>
      <p:sp>
        <p:nvSpPr>
          <p:cNvPr id="44" name="Rectangle 43">
            <a:extLst>
              <a:ext uri="{FF2B5EF4-FFF2-40B4-BE49-F238E27FC236}">
                <a16:creationId xmlns:a16="http://schemas.microsoft.com/office/drawing/2014/main" id="{826F0B7C-EA30-4937-969B-ACEF9A67E1E3}"/>
              </a:ext>
            </a:extLst>
          </p:cNvPr>
          <p:cNvSpPr>
            <a:spLocks noGrp="1"/>
          </p:cNvSpPr>
          <p:nvPr/>
        </p:nvSpPr>
        <p:spPr>
          <a:xfrm>
            <a:off x="5429250" y="4362450"/>
            <a:ext cx="381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2.0</a:t>
            </a:r>
          </a:p>
        </p:txBody>
      </p:sp>
      <p:sp>
        <p:nvSpPr>
          <p:cNvPr id="45" name="Rectangle 44">
            <a:extLst>
              <a:ext uri="{FF2B5EF4-FFF2-40B4-BE49-F238E27FC236}">
                <a16:creationId xmlns:a16="http://schemas.microsoft.com/office/drawing/2014/main" id="{60A198A2-0550-4AE1-BD59-F4886172E706}"/>
              </a:ext>
            </a:extLst>
          </p:cNvPr>
          <p:cNvSpPr>
            <a:spLocks noGrp="1"/>
          </p:cNvSpPr>
          <p:nvPr/>
        </p:nvSpPr>
        <p:spPr>
          <a:xfrm>
            <a:off x="6743700" y="4362450"/>
            <a:ext cx="381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2.5</a:t>
            </a:r>
          </a:p>
        </p:txBody>
      </p:sp>
      <p:sp>
        <p:nvSpPr>
          <p:cNvPr id="46" name="Rectangle 45">
            <a:extLst>
              <a:ext uri="{FF2B5EF4-FFF2-40B4-BE49-F238E27FC236}">
                <a16:creationId xmlns:a16="http://schemas.microsoft.com/office/drawing/2014/main" id="{1EB55E08-DD74-4E20-9C25-985DBE4999E1}"/>
              </a:ext>
            </a:extLst>
          </p:cNvPr>
          <p:cNvSpPr>
            <a:spLocks noGrp="1"/>
          </p:cNvSpPr>
          <p:nvPr/>
        </p:nvSpPr>
        <p:spPr>
          <a:xfrm>
            <a:off x="8058150" y="4362450"/>
            <a:ext cx="381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3.0</a:t>
            </a:r>
          </a:p>
        </p:txBody>
      </p:sp>
      <p:sp>
        <p:nvSpPr>
          <p:cNvPr id="47" name="Rectangle 46">
            <a:extLst>
              <a:ext uri="{FF2B5EF4-FFF2-40B4-BE49-F238E27FC236}">
                <a16:creationId xmlns:a16="http://schemas.microsoft.com/office/drawing/2014/main" id="{FDD99859-9B19-4F95-973F-3F45A6A12C1B}"/>
              </a:ext>
            </a:extLst>
          </p:cNvPr>
          <p:cNvSpPr>
            <a:spLocks noGrp="1"/>
          </p:cNvSpPr>
          <p:nvPr/>
        </p:nvSpPr>
        <p:spPr>
          <a:xfrm>
            <a:off x="9372600" y="4362450"/>
            <a:ext cx="381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3.5</a:t>
            </a:r>
          </a:p>
        </p:txBody>
      </p:sp>
      <p:sp>
        <p:nvSpPr>
          <p:cNvPr id="48" name="Rectangle 47">
            <a:extLst>
              <a:ext uri="{FF2B5EF4-FFF2-40B4-BE49-F238E27FC236}">
                <a16:creationId xmlns:a16="http://schemas.microsoft.com/office/drawing/2014/main" id="{86EF3F7E-E6EA-4E74-9D15-098A419C1620}"/>
              </a:ext>
            </a:extLst>
          </p:cNvPr>
          <p:cNvSpPr>
            <a:spLocks noGrp="1"/>
          </p:cNvSpPr>
          <p:nvPr/>
        </p:nvSpPr>
        <p:spPr>
          <a:xfrm>
            <a:off x="10687050" y="4362450"/>
            <a:ext cx="381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4.0</a:t>
            </a:r>
          </a:p>
        </p:txBody>
      </p:sp>
      <p:sp>
        <p:nvSpPr>
          <p:cNvPr id="49" name="Rectangle 48">
            <a:extLst>
              <a:ext uri="{FF2B5EF4-FFF2-40B4-BE49-F238E27FC236}">
                <a16:creationId xmlns:a16="http://schemas.microsoft.com/office/drawing/2014/main" id="{88B27B01-C54A-41FC-BC7C-01A72E138339}"/>
              </a:ext>
            </a:extLst>
          </p:cNvPr>
          <p:cNvSpPr>
            <a:spLocks noGrp="1"/>
          </p:cNvSpPr>
          <p:nvPr/>
        </p:nvSpPr>
        <p:spPr>
          <a:xfrm>
            <a:off x="5067300" y="4248150"/>
            <a:ext cx="4000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0.85</a:t>
            </a:r>
          </a:p>
        </p:txBody>
      </p:sp>
      <p:sp>
        <p:nvSpPr>
          <p:cNvPr id="50" name="Rectangle 49">
            <a:extLst>
              <a:ext uri="{FF2B5EF4-FFF2-40B4-BE49-F238E27FC236}">
                <a16:creationId xmlns:a16="http://schemas.microsoft.com/office/drawing/2014/main" id="{F861CE20-A345-43D4-BC5A-B73E86221028}"/>
              </a:ext>
            </a:extLst>
          </p:cNvPr>
          <p:cNvSpPr>
            <a:spLocks noGrp="1"/>
          </p:cNvSpPr>
          <p:nvPr/>
        </p:nvSpPr>
        <p:spPr>
          <a:xfrm>
            <a:off x="5067300" y="3530600"/>
            <a:ext cx="4000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0.90</a:t>
            </a:r>
          </a:p>
        </p:txBody>
      </p:sp>
      <p:sp>
        <p:nvSpPr>
          <p:cNvPr id="51" name="Rectangle 50">
            <a:extLst>
              <a:ext uri="{FF2B5EF4-FFF2-40B4-BE49-F238E27FC236}">
                <a16:creationId xmlns:a16="http://schemas.microsoft.com/office/drawing/2014/main" id="{8B49803D-8C35-441C-B443-1ABD722B0023}"/>
              </a:ext>
            </a:extLst>
          </p:cNvPr>
          <p:cNvSpPr>
            <a:spLocks noGrp="1"/>
          </p:cNvSpPr>
          <p:nvPr/>
        </p:nvSpPr>
        <p:spPr>
          <a:xfrm>
            <a:off x="5067300" y="2813050"/>
            <a:ext cx="4000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0.95</a:t>
            </a:r>
          </a:p>
        </p:txBody>
      </p:sp>
      <p:sp>
        <p:nvSpPr>
          <p:cNvPr id="52" name="Rectangle 51">
            <a:extLst>
              <a:ext uri="{FF2B5EF4-FFF2-40B4-BE49-F238E27FC236}">
                <a16:creationId xmlns:a16="http://schemas.microsoft.com/office/drawing/2014/main" id="{0D163839-378F-4862-9209-AD375CCDC1F6}"/>
              </a:ext>
            </a:extLst>
          </p:cNvPr>
          <p:cNvSpPr>
            <a:spLocks noGrp="1"/>
          </p:cNvSpPr>
          <p:nvPr/>
        </p:nvSpPr>
        <p:spPr>
          <a:xfrm>
            <a:off x="5067300" y="2095500"/>
            <a:ext cx="4000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1.00</a:t>
            </a:r>
          </a:p>
        </p:txBody>
      </p:sp>
      <p:sp>
        <p:nvSpPr>
          <p:cNvPr id="53" name="Oval 52">
            <a:extLst>
              <a:ext uri="{FF2B5EF4-FFF2-40B4-BE49-F238E27FC236}">
                <a16:creationId xmlns:a16="http://schemas.microsoft.com/office/drawing/2014/main" id="{9B8C9879-79B8-426D-B4DF-24421BE1AD56}"/>
              </a:ext>
            </a:extLst>
          </p:cNvPr>
          <p:cNvSpPr>
            <a:spLocks noGrp="1"/>
          </p:cNvSpPr>
          <p:nvPr/>
        </p:nvSpPr>
        <p:spPr>
          <a:xfrm>
            <a:off x="9733598" y="2095500"/>
            <a:ext cx="114300" cy="114300"/>
          </a:xfrm>
          <a:prstGeom prst="ellipse">
            <a:avLst/>
          </a:prstGeom>
          <a:solidFill>
            <a:srgbClr val="1E5AA8"/>
          </a:solidFill>
          <a:ln w="9525">
            <a:solidFill>
              <a:srgbClr val="FFFFFF"/>
            </a:solidFill>
            <a:prstDash val="solid"/>
          </a:ln>
        </p:spPr>
        <p:txBody>
          <a:bodyPr/>
          <a:lstStyle/>
          <a:p>
            <a:endParaRPr lang="en-US"/>
          </a:p>
        </p:txBody>
      </p:sp>
      <p:sp>
        <p:nvSpPr>
          <p:cNvPr id="54" name="Rectangle 53">
            <a:extLst>
              <a:ext uri="{FF2B5EF4-FFF2-40B4-BE49-F238E27FC236}">
                <a16:creationId xmlns:a16="http://schemas.microsoft.com/office/drawing/2014/main" id="{376E411C-BA04-472B-A782-0B0720B235FB}"/>
              </a:ext>
            </a:extLst>
          </p:cNvPr>
          <p:cNvSpPr>
            <a:spLocks noGrp="1"/>
          </p:cNvSpPr>
          <p:nvPr/>
        </p:nvSpPr>
        <p:spPr>
          <a:xfrm>
            <a:off x="9866948" y="2057400"/>
            <a:ext cx="8763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102A43"/>
                </a:solidFill>
                <a:latin typeface="Nunito Sans"/>
                <a:ea typeface="Nunito Sans"/>
                <a:cs typeface="Nunito Sans"/>
              </a:defRPr>
            </a:pPr>
            <a:r>
              <a:rPr sz="750" b="0">
                <a:solidFill>
                  <a:srgbClr val="102A43"/>
                </a:solidFill>
                <a:latin typeface="Nunito Sans"/>
                <a:ea typeface="Nunito Sans"/>
                <a:cs typeface="Nunito Sans"/>
              </a:rPr>
              <a:t>always</a:t>
            </a:r>
          </a:p>
        </p:txBody>
      </p:sp>
      <p:sp>
        <p:nvSpPr>
          <p:cNvPr id="55" name="Oval 54">
            <a:extLst>
              <a:ext uri="{FF2B5EF4-FFF2-40B4-BE49-F238E27FC236}">
                <a16:creationId xmlns:a16="http://schemas.microsoft.com/office/drawing/2014/main" id="{5DB3C502-925C-4B35-B7E9-92AB3FBC0EB9}"/>
              </a:ext>
            </a:extLst>
          </p:cNvPr>
          <p:cNvSpPr>
            <a:spLocks noGrp="1"/>
          </p:cNvSpPr>
          <p:nvPr/>
        </p:nvSpPr>
        <p:spPr>
          <a:xfrm>
            <a:off x="5943600" y="3057017"/>
            <a:ext cx="114300" cy="114300"/>
          </a:xfrm>
          <a:prstGeom prst="ellipse">
            <a:avLst/>
          </a:prstGeom>
          <a:solidFill>
            <a:srgbClr val="D1495B"/>
          </a:solidFill>
          <a:ln w="9525">
            <a:solidFill>
              <a:srgbClr val="FFFFFF"/>
            </a:solidFill>
            <a:prstDash val="solid"/>
          </a:ln>
        </p:spPr>
        <p:txBody>
          <a:bodyPr/>
          <a:lstStyle/>
          <a:p>
            <a:endParaRPr lang="en-US"/>
          </a:p>
        </p:txBody>
      </p:sp>
      <p:sp>
        <p:nvSpPr>
          <p:cNvPr id="56" name="Rectangle 55">
            <a:extLst>
              <a:ext uri="{FF2B5EF4-FFF2-40B4-BE49-F238E27FC236}">
                <a16:creationId xmlns:a16="http://schemas.microsoft.com/office/drawing/2014/main" id="{B91A82A5-0B0A-4832-922B-359055774D91}"/>
              </a:ext>
            </a:extLst>
          </p:cNvPr>
          <p:cNvSpPr>
            <a:spLocks noGrp="1"/>
          </p:cNvSpPr>
          <p:nvPr/>
        </p:nvSpPr>
        <p:spPr>
          <a:xfrm>
            <a:off x="6076950" y="3018917"/>
            <a:ext cx="8763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102A43"/>
                </a:solidFill>
                <a:latin typeface="Nunito Sans"/>
                <a:ea typeface="Nunito Sans"/>
                <a:cs typeface="Nunito Sans"/>
              </a:defRPr>
            </a:pPr>
            <a:r>
              <a:rPr sz="750" b="0">
                <a:solidFill>
                  <a:srgbClr val="102A43"/>
                </a:solidFill>
                <a:latin typeface="Nunito Sans"/>
                <a:ea typeface="Nunito Sans"/>
                <a:cs typeface="Nunito Sans"/>
              </a:rPr>
              <a:t>never</a:t>
            </a:r>
          </a:p>
        </p:txBody>
      </p:sp>
      <p:sp>
        <p:nvSpPr>
          <p:cNvPr id="57" name="Oval 56">
            <a:extLst>
              <a:ext uri="{FF2B5EF4-FFF2-40B4-BE49-F238E27FC236}">
                <a16:creationId xmlns:a16="http://schemas.microsoft.com/office/drawing/2014/main" id="{0EEC33DE-610C-4713-A704-76552D15CD30}"/>
              </a:ext>
            </a:extLst>
          </p:cNvPr>
          <p:cNvSpPr>
            <a:spLocks noGrp="1"/>
          </p:cNvSpPr>
          <p:nvPr/>
        </p:nvSpPr>
        <p:spPr>
          <a:xfrm>
            <a:off x="8725853" y="2095500"/>
            <a:ext cx="114300" cy="114300"/>
          </a:xfrm>
          <a:prstGeom prst="ellipse">
            <a:avLst/>
          </a:prstGeom>
          <a:solidFill>
            <a:srgbClr val="C9832B"/>
          </a:solidFill>
          <a:ln w="9525">
            <a:solidFill>
              <a:srgbClr val="FFFFFF"/>
            </a:solidFill>
            <a:prstDash val="solid"/>
          </a:ln>
        </p:spPr>
        <p:txBody>
          <a:bodyPr/>
          <a:lstStyle/>
          <a:p>
            <a:endParaRPr lang="en-US"/>
          </a:p>
        </p:txBody>
      </p:sp>
      <p:sp>
        <p:nvSpPr>
          <p:cNvPr id="58" name="Rectangle 57">
            <a:extLst>
              <a:ext uri="{FF2B5EF4-FFF2-40B4-BE49-F238E27FC236}">
                <a16:creationId xmlns:a16="http://schemas.microsoft.com/office/drawing/2014/main" id="{D24B56AE-B0D6-4C04-85E8-C7E8043E5FBE}"/>
              </a:ext>
            </a:extLst>
          </p:cNvPr>
          <p:cNvSpPr>
            <a:spLocks noGrp="1"/>
          </p:cNvSpPr>
          <p:nvPr/>
        </p:nvSpPr>
        <p:spPr>
          <a:xfrm>
            <a:off x="8859203" y="2057400"/>
            <a:ext cx="8763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102A43"/>
                </a:solidFill>
                <a:latin typeface="Nunito Sans"/>
                <a:ea typeface="Nunito Sans"/>
                <a:cs typeface="Nunito Sans"/>
              </a:defRPr>
            </a:pPr>
            <a:r>
              <a:rPr sz="750" b="0">
                <a:solidFill>
                  <a:srgbClr val="102A43"/>
                </a:solidFill>
                <a:latin typeface="Nunito Sans"/>
                <a:ea typeface="Nunito Sans"/>
                <a:cs typeface="Nunito Sans"/>
              </a:rPr>
              <a:t>handrule</a:t>
            </a:r>
          </a:p>
        </p:txBody>
      </p:sp>
      <p:sp>
        <p:nvSpPr>
          <p:cNvPr id="59" name="Oval 58">
            <a:extLst>
              <a:ext uri="{FF2B5EF4-FFF2-40B4-BE49-F238E27FC236}">
                <a16:creationId xmlns:a16="http://schemas.microsoft.com/office/drawing/2014/main" id="{798685B4-0261-433D-8897-B036F9FB4E14}"/>
              </a:ext>
            </a:extLst>
          </p:cNvPr>
          <p:cNvSpPr>
            <a:spLocks noGrp="1"/>
          </p:cNvSpPr>
          <p:nvPr/>
        </p:nvSpPr>
        <p:spPr>
          <a:xfrm>
            <a:off x="6535102" y="2095500"/>
            <a:ext cx="114300" cy="114300"/>
          </a:xfrm>
          <a:prstGeom prst="ellipse">
            <a:avLst/>
          </a:prstGeom>
          <a:solidFill>
            <a:srgbClr val="2D936C"/>
          </a:solidFill>
          <a:ln w="9525">
            <a:solidFill>
              <a:srgbClr val="FFFFFF"/>
            </a:solidFill>
            <a:prstDash val="solid"/>
          </a:ln>
        </p:spPr>
        <p:txBody>
          <a:bodyPr/>
          <a:lstStyle/>
          <a:p>
            <a:endParaRPr lang="en-US"/>
          </a:p>
        </p:txBody>
      </p:sp>
      <p:sp>
        <p:nvSpPr>
          <p:cNvPr id="60" name="Rectangle 59">
            <a:extLst>
              <a:ext uri="{FF2B5EF4-FFF2-40B4-BE49-F238E27FC236}">
                <a16:creationId xmlns:a16="http://schemas.microsoft.com/office/drawing/2014/main" id="{35FA52CE-8671-46C5-87D9-8CF0B16545A0}"/>
              </a:ext>
            </a:extLst>
          </p:cNvPr>
          <p:cNvSpPr>
            <a:spLocks noGrp="1"/>
          </p:cNvSpPr>
          <p:nvPr/>
        </p:nvSpPr>
        <p:spPr>
          <a:xfrm>
            <a:off x="6668452" y="2057400"/>
            <a:ext cx="8763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102A43"/>
                </a:solidFill>
                <a:latin typeface="Nunito Sans"/>
                <a:ea typeface="Nunito Sans"/>
                <a:cs typeface="Nunito Sans"/>
              </a:defRPr>
            </a:pPr>
            <a:r>
              <a:rPr sz="750" b="0">
                <a:solidFill>
                  <a:srgbClr val="102A43"/>
                </a:solidFill>
                <a:latin typeface="Nunito Sans"/>
                <a:ea typeface="Nunito Sans"/>
                <a:cs typeface="Nunito Sans"/>
              </a:rPr>
              <a:t>learned@0.2</a:t>
            </a:r>
          </a:p>
        </p:txBody>
      </p:sp>
      <p:sp>
        <p:nvSpPr>
          <p:cNvPr id="61" name="Rounded Rectangle 60">
            <a:extLst>
              <a:ext uri="{FF2B5EF4-FFF2-40B4-BE49-F238E27FC236}">
                <a16:creationId xmlns:a16="http://schemas.microsoft.com/office/drawing/2014/main" id="{C28FD5B8-BAF9-437C-8484-47DE0F88CE2B}"/>
              </a:ext>
            </a:extLst>
          </p:cNvPr>
          <p:cNvSpPr>
            <a:spLocks noGrp="1"/>
          </p:cNvSpPr>
          <p:nvPr/>
        </p:nvSpPr>
        <p:spPr>
          <a:xfrm>
            <a:off x="571500" y="5181600"/>
            <a:ext cx="10515600" cy="876300"/>
          </a:xfrm>
          <a:prstGeom prst="roundRect">
            <a:avLst>
              <a:gd name="adj" fmla="val 8696"/>
            </a:avLst>
          </a:prstGeom>
          <a:solidFill>
            <a:srgbClr val="F2FBF7"/>
          </a:solidFill>
          <a:ln w="9525">
            <a:solidFill>
              <a:srgbClr val="D2ECDD"/>
            </a:solidFill>
            <a:prstDash val="solid"/>
          </a:ln>
        </p:spPr>
        <p:txBody>
          <a:bodyPr/>
          <a:lstStyle/>
          <a:p>
            <a:endParaRPr lang="en-US"/>
          </a:p>
        </p:txBody>
      </p:sp>
      <p:sp>
        <p:nvSpPr>
          <p:cNvPr id="62" name="Rectangle 61">
            <a:extLst>
              <a:ext uri="{FF2B5EF4-FFF2-40B4-BE49-F238E27FC236}">
                <a16:creationId xmlns:a16="http://schemas.microsoft.com/office/drawing/2014/main" id="{1DBC96AA-CDBC-48C7-80A6-2F0B3D4CCE5C}"/>
              </a:ext>
            </a:extLst>
          </p:cNvPr>
          <p:cNvSpPr>
            <a:spLocks noGrp="1"/>
          </p:cNvSpPr>
          <p:nvPr/>
        </p:nvSpPr>
        <p:spPr>
          <a:xfrm>
            <a:off x="819150" y="5334000"/>
            <a:ext cx="1143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2D936C"/>
                </a:solidFill>
                <a:latin typeface="Nunito Sans"/>
                <a:ea typeface="Nunito Sans"/>
                <a:cs typeface="Nunito Sans"/>
              </a:defRPr>
            </a:pPr>
            <a:r>
              <a:rPr sz="975" b="1">
                <a:solidFill>
                  <a:srgbClr val="2D936C"/>
                </a:solidFill>
                <a:latin typeface="Nunito Sans"/>
                <a:ea typeface="Nunito Sans"/>
                <a:cs typeface="Nunito Sans"/>
              </a:rPr>
              <a:t>Headline</a:t>
            </a:r>
          </a:p>
        </p:txBody>
      </p:sp>
      <p:sp>
        <p:nvSpPr>
          <p:cNvPr id="63" name="Rectangle 62">
            <a:extLst>
              <a:ext uri="{FF2B5EF4-FFF2-40B4-BE49-F238E27FC236}">
                <a16:creationId xmlns:a16="http://schemas.microsoft.com/office/drawing/2014/main" id="{FD56EF29-6CB5-4B69-9CF6-08B1CA7C29FF}"/>
              </a:ext>
            </a:extLst>
          </p:cNvPr>
          <p:cNvSpPr>
            <a:spLocks noGrp="1"/>
          </p:cNvSpPr>
          <p:nvPr/>
        </p:nvSpPr>
        <p:spPr>
          <a:xfrm>
            <a:off x="819150" y="5581650"/>
            <a:ext cx="9334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A43"/>
                </a:solidFill>
                <a:latin typeface="Nunito Sans ExtraBold"/>
                <a:ea typeface="Nunito Sans ExtraBold"/>
                <a:cs typeface="Nunito Sans ExtraBold"/>
              </a:defRPr>
            </a:pPr>
            <a:r>
              <a:rPr sz="1500" b="1">
                <a:solidFill>
                  <a:srgbClr val="102A43"/>
                </a:solidFill>
                <a:latin typeface="Nunito Sans ExtraBold"/>
                <a:ea typeface="Nunito Sans ExtraBold"/>
                <a:cs typeface="Nunito Sans ExtraBold"/>
              </a:rPr>
              <a:t>learned@0.2 Pareto-dominates handrule: same 100% success and 33% fewer model calls.</a:t>
            </a:r>
          </a:p>
        </p:txBody>
      </p:sp>
      <p:sp>
        <p:nvSpPr>
          <p:cNvPr id="64" name="Rectangle 63">
            <a:extLst>
              <a:ext uri="{FF2B5EF4-FFF2-40B4-BE49-F238E27FC236}">
                <a16:creationId xmlns:a16="http://schemas.microsoft.com/office/drawing/2014/main" id="{1EF1BAE0-B113-4BB7-8D9D-267E2D22232D}"/>
              </a:ext>
            </a:extLst>
          </p:cNvPr>
          <p:cNvSpPr>
            <a:spLocks noGrp="1"/>
          </p:cNvSpPr>
          <p:nvPr/>
        </p:nvSpPr>
        <p:spPr>
          <a:xfrm>
            <a:off x="838200" y="5810250"/>
            <a:ext cx="81915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5B6B82"/>
                </a:solidFill>
                <a:latin typeface="Nunito Sans"/>
                <a:ea typeface="Nunito Sans"/>
                <a:cs typeface="Nunito Sans"/>
              </a:defRPr>
            </a:pPr>
            <a:r>
              <a:rPr sz="900" b="0">
                <a:solidFill>
                  <a:srgbClr val="5B6B82"/>
                </a:solidFill>
                <a:latin typeface="Nunito Sans"/>
                <a:ea typeface="Nunito Sans"/>
                <a:cs typeface="Nunito Sans"/>
              </a:rPr>
              <a:t>handrule = 3.07 calls   |   learned@0.2 = 2.07 calls   |   no_check rate remains an auxiliary checkpoint audit</a:t>
            </a:r>
          </a:p>
        </p:txBody>
      </p:sp>
    </p:spTree>
    <p:extLst>
      <p:ext uri="{BB962C8B-B14F-4D97-AF65-F5344CB8AC3E}">
        <p14:creationId xmlns:p14="http://schemas.microsoft.com/office/powerpoint/2010/main" val="1172534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C03E8099-2E0E-4C91-8743-A1BC8DB995C5}"/>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en-US"/>
          </a:p>
        </p:txBody>
      </p:sp>
      <p:sp>
        <p:nvSpPr>
          <p:cNvPr id="2" name="Rectangle 1">
            <a:extLst>
              <a:ext uri="{FF2B5EF4-FFF2-40B4-BE49-F238E27FC236}">
                <a16:creationId xmlns:a16="http://schemas.microsoft.com/office/drawing/2014/main" id="{9941692F-A968-4590-B174-4A2DD05F4FA7}"/>
              </a:ext>
            </a:extLst>
          </p:cNvPr>
          <p:cNvSpPr>
            <a:spLocks noGrp="1"/>
          </p:cNvSpPr>
          <p:nvPr/>
        </p:nvSpPr>
        <p:spPr>
          <a:xfrm>
            <a:off x="533400" y="571500"/>
            <a:ext cx="11125200" cy="19050"/>
          </a:xfrm>
          <a:prstGeom prst="rect">
            <a:avLst/>
          </a:prstGeom>
          <a:solidFill>
            <a:srgbClr val="1E5AA8"/>
          </a:solidFill>
          <a:ln w="0">
            <a:solidFill>
              <a:srgbClr val="1E5AA8"/>
            </a:solidFill>
            <a:prstDash val="solid"/>
          </a:ln>
        </p:spPr>
        <p:txBody>
          <a:bodyPr/>
          <a:lstStyle/>
          <a:p>
            <a:endParaRPr lang="en-US"/>
          </a:p>
        </p:txBody>
      </p:sp>
      <p:sp>
        <p:nvSpPr>
          <p:cNvPr id="3" name="Rectangle 2">
            <a:extLst>
              <a:ext uri="{FF2B5EF4-FFF2-40B4-BE49-F238E27FC236}">
                <a16:creationId xmlns:a16="http://schemas.microsoft.com/office/drawing/2014/main" id="{DDE682E0-A951-4644-A14B-CEB689C0E964}"/>
              </a:ext>
            </a:extLst>
          </p:cNvPr>
          <p:cNvSpPr>
            <a:spLocks noGrp="1"/>
          </p:cNvSpPr>
          <p:nvPr/>
        </p:nvSpPr>
        <p:spPr>
          <a:xfrm>
            <a:off x="571500" y="247650"/>
            <a:ext cx="7810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02A43"/>
                </a:solidFill>
                <a:latin typeface="Nunito Sans ExtraBold"/>
                <a:ea typeface="Nunito Sans ExtraBold"/>
                <a:cs typeface="Nunito Sans ExtraBold"/>
              </a:defRPr>
            </a:pPr>
            <a:r>
              <a:rPr sz="2100" b="1">
                <a:solidFill>
                  <a:srgbClr val="102A43"/>
                </a:solidFill>
                <a:latin typeface="Nunito Sans ExtraBold"/>
                <a:ea typeface="Nunito Sans ExtraBold"/>
                <a:cs typeface="Nunito Sans ExtraBold"/>
              </a:rPr>
              <a:t>Core Idea: A Lightweight Observation Gate</a:t>
            </a:r>
          </a:p>
        </p:txBody>
      </p:sp>
      <p:sp>
        <p:nvSpPr>
          <p:cNvPr id="4" name="Rectangle 3">
            <a:extLst>
              <a:ext uri="{FF2B5EF4-FFF2-40B4-BE49-F238E27FC236}">
                <a16:creationId xmlns:a16="http://schemas.microsoft.com/office/drawing/2014/main" id="{99639055-6B8A-4CCA-832E-BFC63F729580}"/>
              </a:ext>
            </a:extLst>
          </p:cNvPr>
          <p:cNvSpPr>
            <a:spLocks noGrp="1"/>
          </p:cNvSpPr>
          <p:nvPr/>
        </p:nvSpPr>
        <p:spPr>
          <a:xfrm>
            <a:off x="10572750" y="247650"/>
            <a:ext cx="1047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B6B82"/>
                </a:solidFill>
                <a:latin typeface="Nunito Sans"/>
                <a:ea typeface="Nunito Sans"/>
                <a:cs typeface="Nunito Sans"/>
              </a:defRPr>
            </a:pPr>
            <a:r>
              <a:rPr sz="825" b="1">
                <a:solidFill>
                  <a:srgbClr val="5B6B82"/>
                </a:solidFill>
                <a:latin typeface="Nunito Sans"/>
                <a:ea typeface="Nunito Sans"/>
                <a:cs typeface="Nunito Sans"/>
              </a:rPr>
              <a:t>04 / 12</a:t>
            </a:r>
          </a:p>
        </p:txBody>
      </p:sp>
      <p:sp>
        <p:nvSpPr>
          <p:cNvPr id="5" name="Rectangle 4">
            <a:extLst>
              <a:ext uri="{FF2B5EF4-FFF2-40B4-BE49-F238E27FC236}">
                <a16:creationId xmlns:a16="http://schemas.microsoft.com/office/drawing/2014/main" id="{34446EA0-0223-4B5B-BC26-E9985AF3A755}"/>
              </a:ext>
            </a:extLst>
          </p:cNvPr>
          <p:cNvSpPr>
            <a:spLocks noGrp="1"/>
          </p:cNvSpPr>
          <p:nvPr/>
        </p:nvSpPr>
        <p:spPr>
          <a:xfrm>
            <a:off x="571500" y="6553200"/>
            <a:ext cx="3429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Selective Observation for Browser Agents</a:t>
            </a:r>
          </a:p>
        </p:txBody>
      </p:sp>
      <p:sp>
        <p:nvSpPr>
          <p:cNvPr id="6" name="Rectangle 5">
            <a:extLst>
              <a:ext uri="{FF2B5EF4-FFF2-40B4-BE49-F238E27FC236}">
                <a16:creationId xmlns:a16="http://schemas.microsoft.com/office/drawing/2014/main" id="{649520B0-ED32-48F8-BC5C-96FCA382ABEA}"/>
              </a:ext>
            </a:extLst>
          </p:cNvPr>
          <p:cNvSpPr>
            <a:spLocks noGrp="1"/>
          </p:cNvSpPr>
          <p:nvPr/>
        </p:nvSpPr>
        <p:spPr>
          <a:xfrm>
            <a:off x="9810750" y="6553200"/>
            <a:ext cx="180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1">
                <a:solidFill>
                  <a:srgbClr val="1E5AA8"/>
                </a:solidFill>
                <a:latin typeface="Nunito Sans"/>
                <a:ea typeface="Nunito Sans"/>
                <a:cs typeface="Nunito Sans"/>
              </a:defRPr>
            </a:pPr>
            <a:r>
              <a:rPr sz="675" b="1">
                <a:solidFill>
                  <a:srgbClr val="1E5AA8"/>
                </a:solidFill>
                <a:latin typeface="Nunito Sans"/>
                <a:ea typeface="Nunito Sans"/>
                <a:cs typeface="Nunito Sans"/>
              </a:rPr>
              <a:t>UC SANTA BARBARA</a:t>
            </a:r>
          </a:p>
        </p:txBody>
      </p:sp>
      <p:sp>
        <p:nvSpPr>
          <p:cNvPr id="7" name="Rectangle 6">
            <a:extLst>
              <a:ext uri="{FF2B5EF4-FFF2-40B4-BE49-F238E27FC236}">
                <a16:creationId xmlns:a16="http://schemas.microsoft.com/office/drawing/2014/main" id="{5417F529-535B-4460-A39F-507936298008}"/>
              </a:ext>
            </a:extLst>
          </p:cNvPr>
          <p:cNvSpPr>
            <a:spLocks noGrp="1"/>
          </p:cNvSpPr>
          <p:nvPr/>
        </p:nvSpPr>
        <p:spPr>
          <a:xfrm>
            <a:off x="571500" y="914400"/>
            <a:ext cx="60960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A43"/>
                </a:solidFill>
                <a:latin typeface="Nunito Sans ExtraBold"/>
                <a:ea typeface="Nunito Sans ExtraBold"/>
                <a:cs typeface="Nunito Sans ExtraBold"/>
              </a:defRPr>
            </a:pPr>
            <a:r>
              <a:rPr sz="2250" b="1">
                <a:solidFill>
                  <a:srgbClr val="102A43"/>
                </a:solidFill>
                <a:latin typeface="Nunito Sans ExtraBold"/>
                <a:ea typeface="Nunito Sans ExtraBold"/>
                <a:cs typeface="Nunito Sans ExtraBold"/>
              </a:rPr>
              <a:t>Separate planning from observation scheduling.</a:t>
            </a:r>
          </a:p>
        </p:txBody>
      </p:sp>
      <p:sp>
        <p:nvSpPr>
          <p:cNvPr id="8" name="Rounded Rectangle 7">
            <a:extLst>
              <a:ext uri="{FF2B5EF4-FFF2-40B4-BE49-F238E27FC236}">
                <a16:creationId xmlns:a16="http://schemas.microsoft.com/office/drawing/2014/main" id="{D4DBD458-EF17-43D3-BDA3-3D1599689FCD}"/>
              </a:ext>
            </a:extLst>
          </p:cNvPr>
          <p:cNvSpPr>
            <a:spLocks noGrp="1"/>
          </p:cNvSpPr>
          <p:nvPr/>
        </p:nvSpPr>
        <p:spPr>
          <a:xfrm>
            <a:off x="819150" y="2152650"/>
            <a:ext cx="1733550" cy="1257300"/>
          </a:xfrm>
          <a:prstGeom prst="roundRect">
            <a:avLst>
              <a:gd name="adj" fmla="val 6061"/>
            </a:avLst>
          </a:prstGeom>
          <a:solidFill>
            <a:srgbClr val="F8FBFF"/>
          </a:solidFill>
          <a:ln w="9525">
            <a:solidFill>
              <a:srgbClr val="D8E1ED"/>
            </a:solidFill>
            <a:prstDash val="solid"/>
          </a:ln>
        </p:spPr>
        <p:txBody>
          <a:bodyPr/>
          <a:lstStyle/>
          <a:p>
            <a:endParaRPr lang="en-US"/>
          </a:p>
        </p:txBody>
      </p:sp>
      <p:sp>
        <p:nvSpPr>
          <p:cNvPr id="9" name="Rectangle 8">
            <a:extLst>
              <a:ext uri="{FF2B5EF4-FFF2-40B4-BE49-F238E27FC236}">
                <a16:creationId xmlns:a16="http://schemas.microsoft.com/office/drawing/2014/main" id="{CAD95AC9-6E51-48AA-A4B6-398378B906EF}"/>
              </a:ext>
            </a:extLst>
          </p:cNvPr>
          <p:cNvSpPr>
            <a:spLocks noGrp="1"/>
          </p:cNvSpPr>
          <p:nvPr/>
        </p:nvSpPr>
        <p:spPr>
          <a:xfrm>
            <a:off x="933450" y="2324100"/>
            <a:ext cx="15049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102A43"/>
                </a:solidFill>
                <a:latin typeface="Nunito Sans ExtraBold"/>
                <a:ea typeface="Nunito Sans ExtraBold"/>
                <a:cs typeface="Nunito Sans ExtraBold"/>
              </a:defRPr>
            </a:pPr>
            <a:r>
              <a:rPr sz="1650" b="1">
                <a:solidFill>
                  <a:srgbClr val="102A43"/>
                </a:solidFill>
                <a:latin typeface="Nunito Sans ExtraBold"/>
                <a:ea typeface="Nunito Sans ExtraBold"/>
                <a:cs typeface="Nunito Sans ExtraBold"/>
              </a:rPr>
              <a:t>Cheap signals</a:t>
            </a:r>
          </a:p>
        </p:txBody>
      </p:sp>
      <p:sp>
        <p:nvSpPr>
          <p:cNvPr id="10" name="Rectangle 9">
            <a:extLst>
              <a:ext uri="{FF2B5EF4-FFF2-40B4-BE49-F238E27FC236}">
                <a16:creationId xmlns:a16="http://schemas.microsoft.com/office/drawing/2014/main" id="{553FCE72-AA38-450F-998C-FE7124B506A5}"/>
              </a:ext>
            </a:extLst>
          </p:cNvPr>
          <p:cNvSpPr>
            <a:spLocks noGrp="1"/>
          </p:cNvSpPr>
          <p:nvPr/>
        </p:nvSpPr>
        <p:spPr>
          <a:xfrm>
            <a:off x="1009650" y="2648146"/>
            <a:ext cx="13525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5B6B82"/>
                </a:solidFill>
                <a:latin typeface="Nunito Sans"/>
                <a:ea typeface="Nunito Sans"/>
                <a:cs typeface="Nunito Sans"/>
              </a:defRPr>
            </a:pPr>
            <a:r>
              <a:rPr sz="1050" b="0" dirty="0">
                <a:solidFill>
                  <a:srgbClr val="5B6B82"/>
                </a:solidFill>
                <a:latin typeface="Nunito Sans"/>
                <a:ea typeface="Nunito Sans"/>
                <a:cs typeface="Nunito Sans"/>
              </a:rPr>
              <a:t>screen change</a:t>
            </a:r>
          </a:p>
          <a:p>
            <a:pPr algn="ctr">
              <a:defRPr sz="1050" b="0">
                <a:solidFill>
                  <a:srgbClr val="5B6B82"/>
                </a:solidFill>
                <a:latin typeface="Nunito Sans"/>
                <a:ea typeface="Nunito Sans"/>
                <a:cs typeface="Nunito Sans"/>
              </a:defRPr>
            </a:pPr>
            <a:r>
              <a:rPr sz="1050" b="0" dirty="0">
                <a:solidFill>
                  <a:srgbClr val="5B6B82"/>
                </a:solidFill>
                <a:latin typeface="Nunito Sans"/>
                <a:ea typeface="Nunito Sans"/>
                <a:cs typeface="Nunito Sans"/>
              </a:rPr>
              <a:t>candidate change</a:t>
            </a:r>
          </a:p>
          <a:p>
            <a:pPr algn="ctr">
              <a:defRPr sz="1050" b="0">
                <a:solidFill>
                  <a:srgbClr val="5B6B82"/>
                </a:solidFill>
                <a:latin typeface="Nunito Sans"/>
                <a:ea typeface="Nunito Sans"/>
                <a:cs typeface="Nunito Sans"/>
              </a:defRPr>
            </a:pPr>
            <a:r>
              <a:rPr sz="1050" b="0" dirty="0">
                <a:solidFill>
                  <a:srgbClr val="5B6B82"/>
                </a:solidFill>
                <a:latin typeface="Nunito Sans"/>
                <a:ea typeface="Nunito Sans"/>
                <a:cs typeface="Nunito Sans"/>
              </a:rPr>
              <a:t>plan age</a:t>
            </a:r>
          </a:p>
          <a:p>
            <a:pPr algn="ctr">
              <a:defRPr sz="1050" b="0">
                <a:solidFill>
                  <a:srgbClr val="5B6B82"/>
                </a:solidFill>
                <a:latin typeface="Nunito Sans"/>
                <a:ea typeface="Nunito Sans"/>
                <a:cs typeface="Nunito Sans"/>
              </a:defRPr>
            </a:pPr>
            <a:r>
              <a:rPr sz="1050" b="0" dirty="0">
                <a:solidFill>
                  <a:srgbClr val="5B6B82"/>
                </a:solidFill>
                <a:latin typeface="Nunito Sans"/>
                <a:ea typeface="Nunito Sans"/>
                <a:cs typeface="Nunito Sans"/>
              </a:rPr>
              <a:t>confidence</a:t>
            </a:r>
          </a:p>
        </p:txBody>
      </p:sp>
      <p:sp>
        <p:nvSpPr>
          <p:cNvPr id="11" name="Rounded Rectangle 10">
            <a:extLst>
              <a:ext uri="{FF2B5EF4-FFF2-40B4-BE49-F238E27FC236}">
                <a16:creationId xmlns:a16="http://schemas.microsoft.com/office/drawing/2014/main" id="{B66B988C-33E4-40FE-9788-A4E497CBBD5E}"/>
              </a:ext>
            </a:extLst>
          </p:cNvPr>
          <p:cNvSpPr>
            <a:spLocks noGrp="1"/>
          </p:cNvSpPr>
          <p:nvPr/>
        </p:nvSpPr>
        <p:spPr>
          <a:xfrm>
            <a:off x="3143250" y="2095500"/>
            <a:ext cx="1905000" cy="1371600"/>
          </a:xfrm>
          <a:prstGeom prst="roundRect">
            <a:avLst>
              <a:gd name="adj" fmla="val 5556"/>
            </a:avLst>
          </a:prstGeom>
          <a:solidFill>
            <a:srgbClr val="FFFFFF"/>
          </a:solidFill>
          <a:ln w="19050">
            <a:solidFill>
              <a:srgbClr val="1E5AA8"/>
            </a:solidFill>
            <a:prstDash val="solid"/>
          </a:ln>
        </p:spPr>
        <p:txBody>
          <a:bodyPr/>
          <a:lstStyle/>
          <a:p>
            <a:endParaRPr lang="en-US"/>
          </a:p>
        </p:txBody>
      </p:sp>
      <p:sp>
        <p:nvSpPr>
          <p:cNvPr id="12" name="Rectangle 11">
            <a:extLst>
              <a:ext uri="{FF2B5EF4-FFF2-40B4-BE49-F238E27FC236}">
                <a16:creationId xmlns:a16="http://schemas.microsoft.com/office/drawing/2014/main" id="{C52F8FFF-EA5E-443D-8932-8F4FF8EA1B46}"/>
              </a:ext>
            </a:extLst>
          </p:cNvPr>
          <p:cNvSpPr>
            <a:spLocks noGrp="1"/>
          </p:cNvSpPr>
          <p:nvPr/>
        </p:nvSpPr>
        <p:spPr>
          <a:xfrm>
            <a:off x="3333750" y="2343150"/>
            <a:ext cx="1524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102A43"/>
                </a:solidFill>
                <a:latin typeface="Nunito Sans ExtraBold"/>
                <a:ea typeface="Nunito Sans ExtraBold"/>
                <a:cs typeface="Nunito Sans ExtraBold"/>
              </a:defRPr>
            </a:pPr>
            <a:r>
              <a:rPr sz="1800" b="1">
                <a:solidFill>
                  <a:srgbClr val="102A43"/>
                </a:solidFill>
                <a:latin typeface="Nunito Sans ExtraBold"/>
                <a:ea typeface="Nunito Sans ExtraBold"/>
                <a:cs typeface="Nunito Sans ExtraBold"/>
              </a:rPr>
              <a:t>Observation gate</a:t>
            </a:r>
          </a:p>
        </p:txBody>
      </p:sp>
      <p:sp>
        <p:nvSpPr>
          <p:cNvPr id="13" name="Rectangle 12">
            <a:extLst>
              <a:ext uri="{FF2B5EF4-FFF2-40B4-BE49-F238E27FC236}">
                <a16:creationId xmlns:a16="http://schemas.microsoft.com/office/drawing/2014/main" id="{CA7E7EC5-E442-4400-9A42-2C836EA2B033}"/>
              </a:ext>
            </a:extLst>
          </p:cNvPr>
          <p:cNvSpPr>
            <a:spLocks noGrp="1"/>
          </p:cNvSpPr>
          <p:nvPr/>
        </p:nvSpPr>
        <p:spPr>
          <a:xfrm>
            <a:off x="3295650" y="2934093"/>
            <a:ext cx="1600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1E5AA8"/>
                </a:solidFill>
                <a:latin typeface="Nunito Sans"/>
                <a:ea typeface="Nunito Sans"/>
                <a:cs typeface="Nunito Sans"/>
              </a:defRPr>
            </a:pPr>
            <a:r>
              <a:rPr sz="1200" b="1" dirty="0">
                <a:solidFill>
                  <a:srgbClr val="1E5AA8"/>
                </a:solidFill>
                <a:latin typeface="Nunito Sans"/>
                <a:ea typeface="Nunito Sans"/>
                <a:cs typeface="Nunito Sans"/>
              </a:rPr>
              <a:t>observe if P(</a:t>
            </a:r>
            <a:r>
              <a:rPr sz="1200" b="1" dirty="0" err="1">
                <a:solidFill>
                  <a:srgbClr val="1E5AA8"/>
                </a:solidFill>
                <a:latin typeface="Nunito Sans"/>
                <a:ea typeface="Nunito Sans"/>
                <a:cs typeface="Nunito Sans"/>
              </a:rPr>
              <a:t>obs</a:t>
            </a:r>
            <a:r>
              <a:rPr sz="1200" b="1" dirty="0">
                <a:solidFill>
                  <a:srgbClr val="1E5AA8"/>
                </a:solidFill>
                <a:latin typeface="Nunito Sans"/>
                <a:ea typeface="Nunito Sans"/>
                <a:cs typeface="Nunito Sans"/>
              </a:rPr>
              <a:t> needed) &gt;= T</a:t>
            </a:r>
          </a:p>
        </p:txBody>
      </p:sp>
      <p:sp>
        <p:nvSpPr>
          <p:cNvPr id="14" name="Rectangle 13">
            <a:extLst>
              <a:ext uri="{FF2B5EF4-FFF2-40B4-BE49-F238E27FC236}">
                <a16:creationId xmlns:a16="http://schemas.microsoft.com/office/drawing/2014/main" id="{34BD691F-ADC6-496B-8E36-998D10B30281}"/>
              </a:ext>
            </a:extLst>
          </p:cNvPr>
          <p:cNvSpPr>
            <a:spLocks noGrp="1"/>
          </p:cNvSpPr>
          <p:nvPr/>
        </p:nvSpPr>
        <p:spPr>
          <a:xfrm>
            <a:off x="2552700" y="2743200"/>
            <a:ext cx="552450" cy="19050"/>
          </a:xfrm>
          <a:prstGeom prst="rect">
            <a:avLst/>
          </a:prstGeom>
          <a:solidFill>
            <a:srgbClr val="D8E1ED"/>
          </a:solidFill>
          <a:ln w="0">
            <a:solidFill>
              <a:srgbClr val="D8E1ED"/>
            </a:solidFill>
            <a:prstDash val="solid"/>
          </a:ln>
        </p:spPr>
        <p:txBody>
          <a:bodyPr/>
          <a:lstStyle/>
          <a:p>
            <a:endParaRPr lang="en-US"/>
          </a:p>
        </p:txBody>
      </p:sp>
      <p:sp>
        <p:nvSpPr>
          <p:cNvPr id="15" name="Rectangle 14">
            <a:extLst>
              <a:ext uri="{FF2B5EF4-FFF2-40B4-BE49-F238E27FC236}">
                <a16:creationId xmlns:a16="http://schemas.microsoft.com/office/drawing/2014/main" id="{0D2CE1F7-B217-44B0-86A7-C92569908B1B}"/>
              </a:ext>
            </a:extLst>
          </p:cNvPr>
          <p:cNvSpPr>
            <a:spLocks noGrp="1"/>
          </p:cNvSpPr>
          <p:nvPr/>
        </p:nvSpPr>
        <p:spPr>
          <a:xfrm>
            <a:off x="5048250" y="2743200"/>
            <a:ext cx="552450" cy="19050"/>
          </a:xfrm>
          <a:prstGeom prst="rect">
            <a:avLst/>
          </a:prstGeom>
          <a:solidFill>
            <a:srgbClr val="D8E1ED"/>
          </a:solidFill>
          <a:ln w="0">
            <a:solidFill>
              <a:srgbClr val="D8E1ED"/>
            </a:solidFill>
            <a:prstDash val="solid"/>
          </a:ln>
        </p:spPr>
        <p:txBody>
          <a:bodyPr/>
          <a:lstStyle/>
          <a:p>
            <a:endParaRPr lang="en-US"/>
          </a:p>
        </p:txBody>
      </p:sp>
      <p:sp>
        <p:nvSpPr>
          <p:cNvPr id="16" name="Rounded Rectangle 15">
            <a:extLst>
              <a:ext uri="{FF2B5EF4-FFF2-40B4-BE49-F238E27FC236}">
                <a16:creationId xmlns:a16="http://schemas.microsoft.com/office/drawing/2014/main" id="{34B40196-040A-44E9-A259-7811590D9337}"/>
              </a:ext>
            </a:extLst>
          </p:cNvPr>
          <p:cNvSpPr>
            <a:spLocks noGrp="1"/>
          </p:cNvSpPr>
          <p:nvPr/>
        </p:nvSpPr>
        <p:spPr>
          <a:xfrm>
            <a:off x="5600700" y="1809750"/>
            <a:ext cx="1866900" cy="1085850"/>
          </a:xfrm>
          <a:prstGeom prst="roundRect">
            <a:avLst>
              <a:gd name="adj" fmla="val 7018"/>
            </a:avLst>
          </a:prstGeom>
          <a:solidFill>
            <a:srgbClr val="F4FBF6"/>
          </a:solidFill>
          <a:ln w="9525">
            <a:solidFill>
              <a:srgbClr val="D9EFE4"/>
            </a:solidFill>
            <a:prstDash val="solid"/>
          </a:ln>
        </p:spPr>
        <p:txBody>
          <a:bodyPr/>
          <a:lstStyle/>
          <a:p>
            <a:endParaRPr lang="en-US"/>
          </a:p>
        </p:txBody>
      </p:sp>
      <p:sp>
        <p:nvSpPr>
          <p:cNvPr id="17" name="Rectangle 16">
            <a:extLst>
              <a:ext uri="{FF2B5EF4-FFF2-40B4-BE49-F238E27FC236}">
                <a16:creationId xmlns:a16="http://schemas.microsoft.com/office/drawing/2014/main" id="{8BDD96DF-524A-4122-9F85-58693B6F1BDC}"/>
              </a:ext>
            </a:extLst>
          </p:cNvPr>
          <p:cNvSpPr>
            <a:spLocks noGrp="1"/>
          </p:cNvSpPr>
          <p:nvPr/>
        </p:nvSpPr>
        <p:spPr>
          <a:xfrm>
            <a:off x="5876925" y="1945849"/>
            <a:ext cx="12954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100" b="1">
                <a:solidFill>
                  <a:srgbClr val="2D936C"/>
                </a:solidFill>
                <a:latin typeface="Nunito Sans ExtraBold"/>
                <a:ea typeface="Nunito Sans ExtraBold"/>
                <a:cs typeface="Nunito Sans ExtraBold"/>
              </a:defRPr>
            </a:pPr>
            <a:r>
              <a:rPr sz="2100" b="1" dirty="0">
                <a:solidFill>
                  <a:srgbClr val="2D936C"/>
                </a:solidFill>
                <a:latin typeface="Nunito Sans ExtraBold"/>
                <a:ea typeface="Nunito Sans ExtraBold"/>
                <a:cs typeface="Nunito Sans ExtraBold"/>
              </a:rPr>
              <a:t>OBSERVE</a:t>
            </a:r>
          </a:p>
        </p:txBody>
      </p:sp>
      <p:sp>
        <p:nvSpPr>
          <p:cNvPr id="18" name="Rectangle 17">
            <a:extLst>
              <a:ext uri="{FF2B5EF4-FFF2-40B4-BE49-F238E27FC236}">
                <a16:creationId xmlns:a16="http://schemas.microsoft.com/office/drawing/2014/main" id="{4D0FFCAA-005E-4A97-9791-8A95729BA5E2}"/>
              </a:ext>
            </a:extLst>
          </p:cNvPr>
          <p:cNvSpPr>
            <a:spLocks noGrp="1"/>
          </p:cNvSpPr>
          <p:nvPr/>
        </p:nvSpPr>
        <p:spPr>
          <a:xfrm>
            <a:off x="5905500" y="2307799"/>
            <a:ext cx="1238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5B6B82"/>
                </a:solidFill>
                <a:latin typeface="Nunito Sans"/>
                <a:ea typeface="Nunito Sans"/>
                <a:cs typeface="Nunito Sans"/>
              </a:defRPr>
            </a:pPr>
            <a:r>
              <a:rPr sz="1050" b="1" dirty="0">
                <a:solidFill>
                  <a:srgbClr val="5B6B82"/>
                </a:solidFill>
                <a:latin typeface="Nunito Sans"/>
                <a:ea typeface="Nunito Sans"/>
                <a:cs typeface="Nunito Sans"/>
              </a:rPr>
              <a:t>+1 call</a:t>
            </a:r>
          </a:p>
          <a:p>
            <a:pPr algn="ctr">
              <a:defRPr sz="1050" b="1">
                <a:solidFill>
                  <a:srgbClr val="5B6B82"/>
                </a:solidFill>
                <a:latin typeface="Nunito Sans"/>
                <a:ea typeface="Nunito Sans"/>
                <a:cs typeface="Nunito Sans"/>
              </a:defRPr>
            </a:pPr>
            <a:r>
              <a:rPr sz="1050" b="1" dirty="0">
                <a:solidFill>
                  <a:srgbClr val="5B6B82"/>
                </a:solidFill>
                <a:latin typeface="Nunito Sans"/>
                <a:ea typeface="Nunito Sans"/>
                <a:cs typeface="Nunito Sans"/>
              </a:rPr>
              <a:t>re-plan with fresh DOM</a:t>
            </a:r>
          </a:p>
        </p:txBody>
      </p:sp>
      <p:sp>
        <p:nvSpPr>
          <p:cNvPr id="19" name="Rounded Rectangle 18">
            <a:extLst>
              <a:ext uri="{FF2B5EF4-FFF2-40B4-BE49-F238E27FC236}">
                <a16:creationId xmlns:a16="http://schemas.microsoft.com/office/drawing/2014/main" id="{07CA8061-6A77-4BDB-9B97-EEC12102011B}"/>
              </a:ext>
            </a:extLst>
          </p:cNvPr>
          <p:cNvSpPr>
            <a:spLocks noGrp="1"/>
          </p:cNvSpPr>
          <p:nvPr/>
        </p:nvSpPr>
        <p:spPr>
          <a:xfrm>
            <a:off x="5600700" y="3105150"/>
            <a:ext cx="1866900" cy="1085850"/>
          </a:xfrm>
          <a:prstGeom prst="roundRect">
            <a:avLst>
              <a:gd name="adj" fmla="val 7018"/>
            </a:avLst>
          </a:prstGeom>
          <a:solidFill>
            <a:srgbClr val="FFF9F2"/>
          </a:solidFill>
          <a:ln w="9525">
            <a:solidFill>
              <a:srgbClr val="F1DEC1"/>
            </a:solidFill>
            <a:prstDash val="solid"/>
          </a:ln>
        </p:spPr>
        <p:txBody>
          <a:bodyPr/>
          <a:lstStyle/>
          <a:p>
            <a:endParaRPr lang="en-US"/>
          </a:p>
        </p:txBody>
      </p:sp>
      <p:sp>
        <p:nvSpPr>
          <p:cNvPr id="20" name="Rectangle 19">
            <a:extLst>
              <a:ext uri="{FF2B5EF4-FFF2-40B4-BE49-F238E27FC236}">
                <a16:creationId xmlns:a16="http://schemas.microsoft.com/office/drawing/2014/main" id="{D6A77D8B-25E7-4A7B-B80D-7908D56F23E4}"/>
              </a:ext>
            </a:extLst>
          </p:cNvPr>
          <p:cNvSpPr>
            <a:spLocks noGrp="1"/>
          </p:cNvSpPr>
          <p:nvPr/>
        </p:nvSpPr>
        <p:spPr>
          <a:xfrm>
            <a:off x="6000750" y="3305175"/>
            <a:ext cx="10668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100" b="1">
                <a:solidFill>
                  <a:srgbClr val="C9832B"/>
                </a:solidFill>
                <a:latin typeface="Nunito Sans ExtraBold"/>
                <a:ea typeface="Nunito Sans ExtraBold"/>
                <a:cs typeface="Nunito Sans ExtraBold"/>
              </a:defRPr>
            </a:pPr>
            <a:r>
              <a:rPr sz="2100" b="1">
                <a:solidFill>
                  <a:srgbClr val="C9832B"/>
                </a:solidFill>
                <a:latin typeface="Nunito Sans ExtraBold"/>
                <a:ea typeface="Nunito Sans ExtraBold"/>
                <a:cs typeface="Nunito Sans ExtraBold"/>
              </a:rPr>
              <a:t>COAST</a:t>
            </a:r>
          </a:p>
        </p:txBody>
      </p:sp>
      <p:sp>
        <p:nvSpPr>
          <p:cNvPr id="21" name="Rectangle 20">
            <a:extLst>
              <a:ext uri="{FF2B5EF4-FFF2-40B4-BE49-F238E27FC236}">
                <a16:creationId xmlns:a16="http://schemas.microsoft.com/office/drawing/2014/main" id="{7A2FD778-078B-4CDA-BB45-844DE6480B23}"/>
              </a:ext>
            </a:extLst>
          </p:cNvPr>
          <p:cNvSpPr>
            <a:spLocks noGrp="1"/>
          </p:cNvSpPr>
          <p:nvPr/>
        </p:nvSpPr>
        <p:spPr>
          <a:xfrm>
            <a:off x="5905500" y="3667125"/>
            <a:ext cx="1238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5B6B82"/>
                </a:solidFill>
                <a:latin typeface="Nunito Sans"/>
                <a:ea typeface="Nunito Sans"/>
                <a:cs typeface="Nunito Sans"/>
              </a:defRPr>
            </a:pPr>
            <a:r>
              <a:rPr sz="1050" b="1" dirty="0">
                <a:solidFill>
                  <a:srgbClr val="5B6B82"/>
                </a:solidFill>
                <a:latin typeface="Nunito Sans"/>
                <a:ea typeface="Nunito Sans"/>
                <a:cs typeface="Nunito Sans"/>
              </a:rPr>
              <a:t>+0 calls</a:t>
            </a:r>
          </a:p>
          <a:p>
            <a:pPr algn="ctr">
              <a:defRPr sz="1050" b="1">
                <a:solidFill>
                  <a:srgbClr val="5B6B82"/>
                </a:solidFill>
                <a:latin typeface="Nunito Sans"/>
                <a:ea typeface="Nunito Sans"/>
                <a:cs typeface="Nunito Sans"/>
              </a:defRPr>
            </a:pPr>
            <a:r>
              <a:rPr sz="1050" b="1" dirty="0">
                <a:solidFill>
                  <a:srgbClr val="5B6B82"/>
                </a:solidFill>
                <a:latin typeface="Nunito Sans"/>
                <a:ea typeface="Nunito Sans"/>
                <a:cs typeface="Nunito Sans"/>
              </a:rPr>
              <a:t>reuse current plan</a:t>
            </a:r>
          </a:p>
        </p:txBody>
      </p:sp>
      <p:sp>
        <p:nvSpPr>
          <p:cNvPr id="22" name="Rounded Rectangle 21">
            <a:extLst>
              <a:ext uri="{FF2B5EF4-FFF2-40B4-BE49-F238E27FC236}">
                <a16:creationId xmlns:a16="http://schemas.microsoft.com/office/drawing/2014/main" id="{637B757F-5FAE-44FA-8AE6-4EA41D5E420A}"/>
              </a:ext>
            </a:extLst>
          </p:cNvPr>
          <p:cNvSpPr>
            <a:spLocks noGrp="1"/>
          </p:cNvSpPr>
          <p:nvPr/>
        </p:nvSpPr>
        <p:spPr>
          <a:xfrm>
            <a:off x="8058150" y="1866900"/>
            <a:ext cx="2743200" cy="2324100"/>
          </a:xfrm>
          <a:prstGeom prst="roundRect">
            <a:avLst>
              <a:gd name="adj" fmla="val 4082"/>
            </a:avLst>
          </a:prstGeom>
          <a:solidFill>
            <a:srgbClr val="0F172A"/>
          </a:solidFill>
          <a:ln w="0">
            <a:solidFill>
              <a:srgbClr val="0F172A"/>
            </a:solidFill>
            <a:prstDash val="solid"/>
          </a:ln>
        </p:spPr>
        <p:txBody>
          <a:bodyPr/>
          <a:lstStyle/>
          <a:p>
            <a:endParaRPr lang="en-US"/>
          </a:p>
        </p:txBody>
      </p:sp>
      <p:sp>
        <p:nvSpPr>
          <p:cNvPr id="23" name="Rectangle 22">
            <a:extLst>
              <a:ext uri="{FF2B5EF4-FFF2-40B4-BE49-F238E27FC236}">
                <a16:creationId xmlns:a16="http://schemas.microsoft.com/office/drawing/2014/main" id="{D6D281D5-8127-40B2-A496-77DCE86EC7A0}"/>
              </a:ext>
            </a:extLst>
          </p:cNvPr>
          <p:cNvSpPr>
            <a:spLocks noGrp="1"/>
          </p:cNvSpPr>
          <p:nvPr/>
        </p:nvSpPr>
        <p:spPr>
          <a:xfrm>
            <a:off x="8839200" y="2171700"/>
            <a:ext cx="11811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B7C7D9"/>
                </a:solidFill>
                <a:latin typeface="Nunito Sans"/>
                <a:ea typeface="Nunito Sans"/>
                <a:cs typeface="Nunito Sans"/>
              </a:defRPr>
            </a:pPr>
            <a:r>
              <a:rPr sz="975" b="1">
                <a:solidFill>
                  <a:srgbClr val="B7C7D9"/>
                </a:solidFill>
                <a:latin typeface="Nunito Sans"/>
                <a:ea typeface="Nunito Sans"/>
                <a:cs typeface="Nunito Sans"/>
              </a:rPr>
              <a:t>Auxiliary audit</a:t>
            </a:r>
          </a:p>
        </p:txBody>
      </p:sp>
      <p:sp>
        <p:nvSpPr>
          <p:cNvPr id="24" name="Rectangle 23">
            <a:extLst>
              <a:ext uri="{FF2B5EF4-FFF2-40B4-BE49-F238E27FC236}">
                <a16:creationId xmlns:a16="http://schemas.microsoft.com/office/drawing/2014/main" id="{E92063A4-BB11-4EFD-8CA0-01930FB3B6BF}"/>
              </a:ext>
            </a:extLst>
          </p:cNvPr>
          <p:cNvSpPr>
            <a:spLocks noGrp="1"/>
          </p:cNvSpPr>
          <p:nvPr/>
        </p:nvSpPr>
        <p:spPr>
          <a:xfrm>
            <a:off x="8572500" y="2533650"/>
            <a:ext cx="1714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FFFFFF"/>
                </a:solidFill>
                <a:latin typeface="Nunito Sans ExtraBold"/>
                <a:ea typeface="Nunito Sans ExtraBold"/>
                <a:cs typeface="Nunito Sans ExtraBold"/>
              </a:defRPr>
            </a:pPr>
            <a:r>
              <a:rPr sz="1950" b="1">
                <a:solidFill>
                  <a:srgbClr val="FFFFFF"/>
                </a:solidFill>
                <a:latin typeface="Nunito Sans ExtraBold"/>
                <a:ea typeface="Nunito Sans ExtraBold"/>
                <a:cs typeface="Nunito Sans ExtraBold"/>
              </a:rPr>
              <a:t>no_check rate</a:t>
            </a:r>
          </a:p>
        </p:txBody>
      </p:sp>
      <p:sp>
        <p:nvSpPr>
          <p:cNvPr id="25" name="Rectangle 24">
            <a:extLst>
              <a:ext uri="{FF2B5EF4-FFF2-40B4-BE49-F238E27FC236}">
                <a16:creationId xmlns:a16="http://schemas.microsoft.com/office/drawing/2014/main" id="{CDA33358-F70A-4EFC-8DB6-0D43D4FA3B07}"/>
              </a:ext>
            </a:extLst>
          </p:cNvPr>
          <p:cNvSpPr>
            <a:spLocks noGrp="1"/>
          </p:cNvSpPr>
          <p:nvPr/>
        </p:nvSpPr>
        <p:spPr>
          <a:xfrm>
            <a:off x="8458200" y="2971800"/>
            <a:ext cx="19431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D9E4F0"/>
                </a:solidFill>
                <a:latin typeface="Nunito Sans"/>
                <a:ea typeface="Nunito Sans"/>
                <a:cs typeface="Nunito Sans"/>
              </a:defRPr>
            </a:pPr>
            <a:r>
              <a:rPr sz="1125" b="1">
                <a:solidFill>
                  <a:srgbClr val="D9E4F0"/>
                </a:solidFill>
                <a:latin typeface="Nunito Sans"/>
                <a:ea typeface="Nunito Sans"/>
                <a:cs typeface="Nunito Sans"/>
              </a:rPr>
              <a:t>Fraction of checkpoint actions</a:t>
            </a:r>
          </a:p>
          <a:p>
            <a:pPr algn="ctr">
              <a:defRPr sz="1125" b="1">
                <a:solidFill>
                  <a:srgbClr val="D9E4F0"/>
                </a:solidFill>
                <a:latin typeface="Nunito Sans"/>
                <a:ea typeface="Nunito Sans"/>
                <a:cs typeface="Nunito Sans"/>
              </a:defRPr>
            </a:pPr>
            <a:r>
              <a:rPr sz="1125" b="1">
                <a:solidFill>
                  <a:srgbClr val="D9E4F0"/>
                </a:solidFill>
                <a:latin typeface="Nunito Sans"/>
                <a:ea typeface="Nunito Sans"/>
                <a:cs typeface="Nunito Sans"/>
              </a:rPr>
              <a:t>executed without a fresh DOM read</a:t>
            </a:r>
          </a:p>
          <a:p>
            <a:pPr algn="ctr">
              <a:defRPr sz="1125" b="1">
                <a:solidFill>
                  <a:srgbClr val="D9E4F0"/>
                </a:solidFill>
                <a:latin typeface="Nunito Sans"/>
                <a:ea typeface="Nunito Sans"/>
                <a:cs typeface="Nunito Sans"/>
              </a:defRPr>
            </a:pPr>
            <a:r>
              <a:rPr sz="1125" b="1">
                <a:solidFill>
                  <a:srgbClr val="D9E4F0"/>
                </a:solidFill>
                <a:latin typeface="Nunito Sans"/>
                <a:ea typeface="Nunito Sans"/>
                <a:cs typeface="Nunito Sans"/>
              </a:rPr>
              <a:t>immediately beforehand.</a:t>
            </a:r>
          </a:p>
        </p:txBody>
      </p:sp>
      <p:sp>
        <p:nvSpPr>
          <p:cNvPr id="26" name="Rectangle 25">
            <a:extLst>
              <a:ext uri="{FF2B5EF4-FFF2-40B4-BE49-F238E27FC236}">
                <a16:creationId xmlns:a16="http://schemas.microsoft.com/office/drawing/2014/main" id="{72A51073-E77B-4CE8-9427-31FEAE945A69}"/>
              </a:ext>
            </a:extLst>
          </p:cNvPr>
          <p:cNvSpPr>
            <a:spLocks noGrp="1"/>
          </p:cNvSpPr>
          <p:nvPr/>
        </p:nvSpPr>
        <p:spPr>
          <a:xfrm>
            <a:off x="571500" y="4914900"/>
            <a:ext cx="9715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02A43"/>
                </a:solidFill>
                <a:latin typeface="Nunito Sans"/>
                <a:ea typeface="Nunito Sans"/>
                <a:cs typeface="Nunito Sans"/>
              </a:defRPr>
            </a:pPr>
            <a:r>
              <a:rPr sz="1275" b="0">
                <a:solidFill>
                  <a:srgbClr val="102A43"/>
                </a:solidFill>
                <a:latin typeface="Nunito Sans"/>
                <a:ea typeface="Nunito Sans"/>
                <a:cs typeface="Nunito Sans"/>
              </a:rPr>
              <a:t>- Oracle label: would coasting have changed the next action?</a:t>
            </a:r>
          </a:p>
        </p:txBody>
      </p:sp>
      <p:sp>
        <p:nvSpPr>
          <p:cNvPr id="27" name="Rectangle 26">
            <a:extLst>
              <a:ext uri="{FF2B5EF4-FFF2-40B4-BE49-F238E27FC236}">
                <a16:creationId xmlns:a16="http://schemas.microsoft.com/office/drawing/2014/main" id="{2F320785-539E-43FD-9D73-AB1F1DD7897F}"/>
              </a:ext>
            </a:extLst>
          </p:cNvPr>
          <p:cNvSpPr>
            <a:spLocks noGrp="1"/>
          </p:cNvSpPr>
          <p:nvPr/>
        </p:nvSpPr>
        <p:spPr>
          <a:xfrm>
            <a:off x="571500" y="5200650"/>
            <a:ext cx="9715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02A43"/>
                </a:solidFill>
                <a:latin typeface="Nunito Sans"/>
                <a:ea typeface="Nunito Sans"/>
                <a:cs typeface="Nunito Sans"/>
              </a:defRPr>
            </a:pPr>
            <a:r>
              <a:rPr sz="1275" b="0">
                <a:solidFill>
                  <a:srgbClr val="102A43"/>
                </a:solidFill>
                <a:latin typeface="Nunito Sans"/>
                <a:ea typeface="Nunito Sans"/>
                <a:cs typeface="Nunito Sans"/>
              </a:rPr>
              <a:t>- Train logistic or shallow MLP on these cheap signals only.</a:t>
            </a:r>
          </a:p>
        </p:txBody>
      </p:sp>
      <p:sp>
        <p:nvSpPr>
          <p:cNvPr id="28" name="Rectangle 27">
            <a:extLst>
              <a:ext uri="{FF2B5EF4-FFF2-40B4-BE49-F238E27FC236}">
                <a16:creationId xmlns:a16="http://schemas.microsoft.com/office/drawing/2014/main" id="{4D282A9B-CBA3-4799-B430-13CC544F82C8}"/>
              </a:ext>
            </a:extLst>
          </p:cNvPr>
          <p:cNvSpPr>
            <a:spLocks noGrp="1"/>
          </p:cNvSpPr>
          <p:nvPr/>
        </p:nvSpPr>
        <p:spPr>
          <a:xfrm>
            <a:off x="571500" y="5486400"/>
            <a:ext cx="9715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02A43"/>
                </a:solidFill>
                <a:latin typeface="Nunito Sans"/>
                <a:ea typeface="Nunito Sans"/>
                <a:cs typeface="Nunito Sans"/>
              </a:defRPr>
            </a:pPr>
            <a:r>
              <a:rPr sz="1275" b="0">
                <a:solidFill>
                  <a:srgbClr val="102A43"/>
                </a:solidFill>
                <a:latin typeface="Nunito Sans"/>
                <a:ea typeface="Nunito Sans"/>
                <a:cs typeface="Nunito Sans"/>
              </a:rPr>
              <a:t>- Evaluate always, never, handrule, and learned@T on the same agent.</a:t>
            </a:r>
          </a:p>
        </p:txBody>
      </p:sp>
    </p:spTree>
    <p:extLst>
      <p:ext uri="{BB962C8B-B14F-4D97-AF65-F5344CB8AC3E}">
        <p14:creationId xmlns:p14="http://schemas.microsoft.com/office/powerpoint/2010/main" val="70976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423C8D0C-D065-4658-B4D5-64C056646D46}"/>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en-US"/>
          </a:p>
        </p:txBody>
      </p:sp>
      <p:sp>
        <p:nvSpPr>
          <p:cNvPr id="2" name="Rectangle 1">
            <a:extLst>
              <a:ext uri="{FF2B5EF4-FFF2-40B4-BE49-F238E27FC236}">
                <a16:creationId xmlns:a16="http://schemas.microsoft.com/office/drawing/2014/main" id="{B390B615-38A1-4AA0-ADF2-A12BE0703BA0}"/>
              </a:ext>
            </a:extLst>
          </p:cNvPr>
          <p:cNvSpPr>
            <a:spLocks noGrp="1"/>
          </p:cNvSpPr>
          <p:nvPr/>
        </p:nvSpPr>
        <p:spPr>
          <a:xfrm>
            <a:off x="533400" y="571500"/>
            <a:ext cx="11125200" cy="19050"/>
          </a:xfrm>
          <a:prstGeom prst="rect">
            <a:avLst/>
          </a:prstGeom>
          <a:solidFill>
            <a:srgbClr val="1E5AA8"/>
          </a:solidFill>
          <a:ln w="0">
            <a:solidFill>
              <a:srgbClr val="1E5AA8"/>
            </a:solidFill>
            <a:prstDash val="solid"/>
          </a:ln>
        </p:spPr>
        <p:txBody>
          <a:bodyPr/>
          <a:lstStyle/>
          <a:p>
            <a:endParaRPr lang="en-US"/>
          </a:p>
        </p:txBody>
      </p:sp>
      <p:sp>
        <p:nvSpPr>
          <p:cNvPr id="3" name="Rectangle 2">
            <a:extLst>
              <a:ext uri="{FF2B5EF4-FFF2-40B4-BE49-F238E27FC236}">
                <a16:creationId xmlns:a16="http://schemas.microsoft.com/office/drawing/2014/main" id="{26660D7A-082C-4C97-AE25-7645E079CEAE}"/>
              </a:ext>
            </a:extLst>
          </p:cNvPr>
          <p:cNvSpPr>
            <a:spLocks noGrp="1"/>
          </p:cNvSpPr>
          <p:nvPr/>
        </p:nvSpPr>
        <p:spPr>
          <a:xfrm>
            <a:off x="571500" y="247650"/>
            <a:ext cx="7810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02A43"/>
                </a:solidFill>
                <a:latin typeface="Nunito Sans ExtraBold"/>
                <a:ea typeface="Nunito Sans ExtraBold"/>
                <a:cs typeface="Nunito Sans ExtraBold"/>
              </a:defRPr>
            </a:pPr>
            <a:r>
              <a:rPr sz="2100" b="1">
                <a:solidFill>
                  <a:srgbClr val="102A43"/>
                </a:solidFill>
                <a:latin typeface="Nunito Sans ExtraBold"/>
                <a:ea typeface="Nunito Sans ExtraBold"/>
                <a:cs typeface="Nunito Sans ExtraBold"/>
              </a:rPr>
              <a:t>Task Suite: 15 Tasks Across 4 Families</a:t>
            </a:r>
          </a:p>
        </p:txBody>
      </p:sp>
      <p:sp>
        <p:nvSpPr>
          <p:cNvPr id="4" name="Rectangle 3">
            <a:extLst>
              <a:ext uri="{FF2B5EF4-FFF2-40B4-BE49-F238E27FC236}">
                <a16:creationId xmlns:a16="http://schemas.microsoft.com/office/drawing/2014/main" id="{B6EF0F50-3D57-49E8-9AE2-9A557E230EC3}"/>
              </a:ext>
            </a:extLst>
          </p:cNvPr>
          <p:cNvSpPr>
            <a:spLocks noGrp="1"/>
          </p:cNvSpPr>
          <p:nvPr/>
        </p:nvSpPr>
        <p:spPr>
          <a:xfrm>
            <a:off x="10572750" y="247650"/>
            <a:ext cx="1047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B6B82"/>
                </a:solidFill>
                <a:latin typeface="Nunito Sans"/>
                <a:ea typeface="Nunito Sans"/>
                <a:cs typeface="Nunito Sans"/>
              </a:defRPr>
            </a:pPr>
            <a:r>
              <a:rPr sz="825" b="1">
                <a:solidFill>
                  <a:srgbClr val="5B6B82"/>
                </a:solidFill>
                <a:latin typeface="Nunito Sans"/>
                <a:ea typeface="Nunito Sans"/>
                <a:cs typeface="Nunito Sans"/>
              </a:rPr>
              <a:t>05 / 12</a:t>
            </a:r>
          </a:p>
        </p:txBody>
      </p:sp>
      <p:sp>
        <p:nvSpPr>
          <p:cNvPr id="5" name="Rectangle 4">
            <a:extLst>
              <a:ext uri="{FF2B5EF4-FFF2-40B4-BE49-F238E27FC236}">
                <a16:creationId xmlns:a16="http://schemas.microsoft.com/office/drawing/2014/main" id="{E87F08A3-EB85-43C5-872E-5CB48C21F74A}"/>
              </a:ext>
            </a:extLst>
          </p:cNvPr>
          <p:cNvSpPr>
            <a:spLocks noGrp="1"/>
          </p:cNvSpPr>
          <p:nvPr/>
        </p:nvSpPr>
        <p:spPr>
          <a:xfrm>
            <a:off x="571500" y="6553200"/>
            <a:ext cx="3429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Selective Observation for Browser Agents</a:t>
            </a:r>
          </a:p>
        </p:txBody>
      </p:sp>
      <p:sp>
        <p:nvSpPr>
          <p:cNvPr id="6" name="Rectangle 5">
            <a:extLst>
              <a:ext uri="{FF2B5EF4-FFF2-40B4-BE49-F238E27FC236}">
                <a16:creationId xmlns:a16="http://schemas.microsoft.com/office/drawing/2014/main" id="{52BB524A-E040-48F5-987C-B950DA5E7C0C}"/>
              </a:ext>
            </a:extLst>
          </p:cNvPr>
          <p:cNvSpPr>
            <a:spLocks noGrp="1"/>
          </p:cNvSpPr>
          <p:nvPr/>
        </p:nvSpPr>
        <p:spPr>
          <a:xfrm>
            <a:off x="9810750" y="6553200"/>
            <a:ext cx="180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1">
                <a:solidFill>
                  <a:srgbClr val="1E5AA8"/>
                </a:solidFill>
                <a:latin typeface="Nunito Sans"/>
                <a:ea typeface="Nunito Sans"/>
                <a:cs typeface="Nunito Sans"/>
              </a:defRPr>
            </a:pPr>
            <a:r>
              <a:rPr sz="675" b="1">
                <a:solidFill>
                  <a:srgbClr val="1E5AA8"/>
                </a:solidFill>
                <a:latin typeface="Nunito Sans"/>
                <a:ea typeface="Nunito Sans"/>
                <a:cs typeface="Nunito Sans"/>
              </a:rPr>
              <a:t>UC SANTA BARBARA</a:t>
            </a:r>
          </a:p>
        </p:txBody>
      </p:sp>
      <p:sp>
        <p:nvSpPr>
          <p:cNvPr id="7" name="Rectangle 6">
            <a:extLst>
              <a:ext uri="{FF2B5EF4-FFF2-40B4-BE49-F238E27FC236}">
                <a16:creationId xmlns:a16="http://schemas.microsoft.com/office/drawing/2014/main" id="{13498F42-F138-41E3-BA6E-44D35F2D7BB9}"/>
              </a:ext>
            </a:extLst>
          </p:cNvPr>
          <p:cNvSpPr>
            <a:spLocks noGrp="1"/>
          </p:cNvSpPr>
          <p:nvPr/>
        </p:nvSpPr>
        <p:spPr>
          <a:xfrm>
            <a:off x="571500" y="914400"/>
            <a:ext cx="93345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02A43"/>
                </a:solidFill>
                <a:latin typeface="Nunito Sans ExtraBold"/>
                <a:ea typeface="Nunito Sans ExtraBold"/>
                <a:cs typeface="Nunito Sans ExtraBold"/>
              </a:defRPr>
            </a:pPr>
            <a:r>
              <a:rPr sz="2100" b="1">
                <a:solidFill>
                  <a:srgbClr val="102A43"/>
                </a:solidFill>
                <a:latin typeface="Nunito Sans ExtraBold"/>
                <a:ea typeface="Nunito Sans ExtraBold"/>
                <a:cs typeface="Nunito Sans ExtraBold"/>
              </a:rPr>
              <a:t>The suite mixes easy control cases with the exact blind spots where hand-coded change detectors fail.</a:t>
            </a:r>
          </a:p>
        </p:txBody>
      </p:sp>
      <p:sp>
        <p:nvSpPr>
          <p:cNvPr id="8" name="Rounded Rectangle 7">
            <a:extLst>
              <a:ext uri="{FF2B5EF4-FFF2-40B4-BE49-F238E27FC236}">
                <a16:creationId xmlns:a16="http://schemas.microsoft.com/office/drawing/2014/main" id="{072A5B2D-15DF-4D4C-A23B-D61AFED5EFBA}"/>
              </a:ext>
            </a:extLst>
          </p:cNvPr>
          <p:cNvSpPr>
            <a:spLocks noGrp="1"/>
          </p:cNvSpPr>
          <p:nvPr/>
        </p:nvSpPr>
        <p:spPr>
          <a:xfrm>
            <a:off x="571500" y="2038350"/>
            <a:ext cx="2571750" cy="3067050"/>
          </a:xfrm>
          <a:prstGeom prst="roundRect">
            <a:avLst>
              <a:gd name="adj" fmla="val 2963"/>
            </a:avLst>
          </a:prstGeom>
          <a:solidFill>
            <a:srgbClr val="FFFFFF"/>
          </a:solidFill>
          <a:ln w="9525">
            <a:solidFill>
              <a:srgbClr val="D8E1ED"/>
            </a:solidFill>
            <a:prstDash val="solid"/>
          </a:ln>
        </p:spPr>
        <p:txBody>
          <a:bodyPr/>
          <a:lstStyle/>
          <a:p>
            <a:endParaRPr lang="en-US"/>
          </a:p>
        </p:txBody>
      </p:sp>
      <p:sp>
        <p:nvSpPr>
          <p:cNvPr id="9" name="Rectangle 8">
            <a:extLst>
              <a:ext uri="{FF2B5EF4-FFF2-40B4-BE49-F238E27FC236}">
                <a16:creationId xmlns:a16="http://schemas.microsoft.com/office/drawing/2014/main" id="{37522F8A-8BC6-4352-84FF-7C24E5790BB3}"/>
              </a:ext>
            </a:extLst>
          </p:cNvPr>
          <p:cNvSpPr>
            <a:spLocks noGrp="1"/>
          </p:cNvSpPr>
          <p:nvPr/>
        </p:nvSpPr>
        <p:spPr>
          <a:xfrm>
            <a:off x="571500" y="2038350"/>
            <a:ext cx="2571750" cy="57150"/>
          </a:xfrm>
          <a:prstGeom prst="rect">
            <a:avLst/>
          </a:prstGeom>
          <a:solidFill>
            <a:srgbClr val="1E5AA8"/>
          </a:solidFill>
          <a:ln w="0">
            <a:solidFill>
              <a:srgbClr val="1E5AA8"/>
            </a:solidFill>
            <a:prstDash val="solid"/>
          </a:ln>
        </p:spPr>
        <p:txBody>
          <a:bodyPr/>
          <a:lstStyle/>
          <a:p>
            <a:endParaRPr lang="en-US"/>
          </a:p>
        </p:txBody>
      </p:sp>
      <p:sp>
        <p:nvSpPr>
          <p:cNvPr id="10" name="Rectangle 9">
            <a:extLst>
              <a:ext uri="{FF2B5EF4-FFF2-40B4-BE49-F238E27FC236}">
                <a16:creationId xmlns:a16="http://schemas.microsoft.com/office/drawing/2014/main" id="{E9C51C6C-5CF0-42AB-83D8-AECCE3FB8625}"/>
              </a:ext>
            </a:extLst>
          </p:cNvPr>
          <p:cNvSpPr>
            <a:spLocks noGrp="1"/>
          </p:cNvSpPr>
          <p:nvPr/>
        </p:nvSpPr>
        <p:spPr>
          <a:xfrm>
            <a:off x="742950" y="2266950"/>
            <a:ext cx="1714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102A43"/>
                </a:solidFill>
                <a:latin typeface="Nunito Sans ExtraBold"/>
                <a:ea typeface="Nunito Sans ExtraBold"/>
                <a:cs typeface="Nunito Sans ExtraBold"/>
              </a:defRPr>
            </a:pPr>
            <a:r>
              <a:rPr sz="1725" b="1">
                <a:solidFill>
                  <a:srgbClr val="102A43"/>
                </a:solidFill>
                <a:latin typeface="Nunito Sans ExtraBold"/>
                <a:ea typeface="Nunito Sans ExtraBold"/>
                <a:cs typeface="Nunito Sans ExtraBold"/>
              </a:rPr>
              <a:t>static_baseline</a:t>
            </a:r>
          </a:p>
        </p:txBody>
      </p:sp>
      <p:sp>
        <p:nvSpPr>
          <p:cNvPr id="11" name="Rectangle 10">
            <a:extLst>
              <a:ext uri="{FF2B5EF4-FFF2-40B4-BE49-F238E27FC236}">
                <a16:creationId xmlns:a16="http://schemas.microsoft.com/office/drawing/2014/main" id="{00D7272D-7F69-4F95-B8B0-14C2AAE0B148}"/>
              </a:ext>
            </a:extLst>
          </p:cNvPr>
          <p:cNvSpPr>
            <a:spLocks noGrp="1"/>
          </p:cNvSpPr>
          <p:nvPr/>
        </p:nvSpPr>
        <p:spPr>
          <a:xfrm>
            <a:off x="2381250" y="2266950"/>
            <a:ext cx="552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500" b="1">
                <a:solidFill>
                  <a:srgbClr val="1E5AA8"/>
                </a:solidFill>
                <a:latin typeface="Nunito Sans ExtraBold"/>
                <a:ea typeface="Nunito Sans ExtraBold"/>
                <a:cs typeface="Nunito Sans ExtraBold"/>
              </a:defRPr>
            </a:pPr>
            <a:r>
              <a:rPr sz="1500" b="1">
                <a:solidFill>
                  <a:srgbClr val="1E5AA8"/>
                </a:solidFill>
                <a:latin typeface="Nunito Sans ExtraBold"/>
                <a:ea typeface="Nunito Sans ExtraBold"/>
                <a:cs typeface="Nunito Sans ExtraBold"/>
              </a:rPr>
              <a:t>5</a:t>
            </a:r>
          </a:p>
        </p:txBody>
      </p:sp>
      <p:sp>
        <p:nvSpPr>
          <p:cNvPr id="12" name="Rectangle 11">
            <a:extLst>
              <a:ext uri="{FF2B5EF4-FFF2-40B4-BE49-F238E27FC236}">
                <a16:creationId xmlns:a16="http://schemas.microsoft.com/office/drawing/2014/main" id="{AFA6CAA5-AD21-4936-9A7A-6A5CA5BCFB60}"/>
              </a:ext>
            </a:extLst>
          </p:cNvPr>
          <p:cNvSpPr>
            <a:spLocks noGrp="1"/>
          </p:cNvSpPr>
          <p:nvPr/>
        </p:nvSpPr>
        <p:spPr>
          <a:xfrm>
            <a:off x="742950" y="281940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stable workflows</a:t>
            </a:r>
          </a:p>
        </p:txBody>
      </p:sp>
      <p:sp>
        <p:nvSpPr>
          <p:cNvPr id="13" name="Rectangle 12">
            <a:extLst>
              <a:ext uri="{FF2B5EF4-FFF2-40B4-BE49-F238E27FC236}">
                <a16:creationId xmlns:a16="http://schemas.microsoft.com/office/drawing/2014/main" id="{37F8E227-190F-47B0-9D02-DEBF925215B8}"/>
              </a:ext>
            </a:extLst>
          </p:cNvPr>
          <p:cNvSpPr>
            <a:spLocks noGrp="1"/>
          </p:cNvSpPr>
          <p:nvPr/>
        </p:nvSpPr>
        <p:spPr>
          <a:xfrm>
            <a:off x="742950" y="308610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control group for coasting</a:t>
            </a:r>
          </a:p>
        </p:txBody>
      </p:sp>
      <p:sp>
        <p:nvSpPr>
          <p:cNvPr id="14" name="Rectangle 13">
            <a:extLst>
              <a:ext uri="{FF2B5EF4-FFF2-40B4-BE49-F238E27FC236}">
                <a16:creationId xmlns:a16="http://schemas.microsoft.com/office/drawing/2014/main" id="{39B3E38E-AA91-4D85-AE62-8E0675360846}"/>
              </a:ext>
            </a:extLst>
          </p:cNvPr>
          <p:cNvSpPr>
            <a:spLocks noGrp="1"/>
          </p:cNvSpPr>
          <p:nvPr/>
        </p:nvSpPr>
        <p:spPr>
          <a:xfrm>
            <a:off x="742950" y="335280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send email, rename file</a:t>
            </a:r>
          </a:p>
        </p:txBody>
      </p:sp>
      <p:sp>
        <p:nvSpPr>
          <p:cNvPr id="15" name="Rounded Rectangle 14">
            <a:extLst>
              <a:ext uri="{FF2B5EF4-FFF2-40B4-BE49-F238E27FC236}">
                <a16:creationId xmlns:a16="http://schemas.microsoft.com/office/drawing/2014/main" id="{75F8C7F9-238A-4B85-901B-E8DCF8E1B2E3}"/>
              </a:ext>
            </a:extLst>
          </p:cNvPr>
          <p:cNvSpPr>
            <a:spLocks noGrp="1"/>
          </p:cNvSpPr>
          <p:nvPr/>
        </p:nvSpPr>
        <p:spPr>
          <a:xfrm>
            <a:off x="742950" y="4248150"/>
            <a:ext cx="2209800" cy="609600"/>
          </a:xfrm>
          <a:prstGeom prst="roundRect">
            <a:avLst>
              <a:gd name="adj" fmla="val 12500"/>
            </a:avLst>
          </a:prstGeom>
          <a:solidFill>
            <a:srgbClr val="F7FAFC"/>
          </a:solidFill>
          <a:ln w="9525">
            <a:solidFill>
              <a:srgbClr val="D8E1ED"/>
            </a:solidFill>
            <a:prstDash val="solid"/>
          </a:ln>
        </p:spPr>
        <p:txBody>
          <a:bodyPr/>
          <a:lstStyle/>
          <a:p>
            <a:endParaRPr lang="en-US"/>
          </a:p>
        </p:txBody>
      </p:sp>
      <p:sp>
        <p:nvSpPr>
          <p:cNvPr id="16" name="Rectangle 15">
            <a:extLst>
              <a:ext uri="{FF2B5EF4-FFF2-40B4-BE49-F238E27FC236}">
                <a16:creationId xmlns:a16="http://schemas.microsoft.com/office/drawing/2014/main" id="{D04C3E44-B7DD-48C7-B641-34181CB89182}"/>
              </a:ext>
            </a:extLst>
          </p:cNvPr>
          <p:cNvSpPr>
            <a:spLocks noGrp="1"/>
          </p:cNvSpPr>
          <p:nvPr/>
        </p:nvSpPr>
        <p:spPr>
          <a:xfrm>
            <a:off x="857250" y="4400550"/>
            <a:ext cx="19812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5B6B82"/>
                </a:solidFill>
                <a:latin typeface="Nunito Sans"/>
                <a:ea typeface="Nunito Sans"/>
                <a:cs typeface="Nunito Sans"/>
              </a:defRPr>
            </a:pPr>
            <a:r>
              <a:rPr sz="975" b="1">
                <a:solidFill>
                  <a:srgbClr val="5B6B82"/>
                </a:solidFill>
                <a:latin typeface="Nunito Sans"/>
                <a:ea typeface="Nunito Sans"/>
                <a:cs typeface="Nunito Sans"/>
              </a:rPr>
              <a:t>No async surprise; tests routine savings.</a:t>
            </a:r>
          </a:p>
        </p:txBody>
      </p:sp>
      <p:sp>
        <p:nvSpPr>
          <p:cNvPr id="17" name="Rounded Rectangle 16">
            <a:extLst>
              <a:ext uri="{FF2B5EF4-FFF2-40B4-BE49-F238E27FC236}">
                <a16:creationId xmlns:a16="http://schemas.microsoft.com/office/drawing/2014/main" id="{DDCC20B7-3E29-4E07-9997-6F7CAB3A3F44}"/>
              </a:ext>
            </a:extLst>
          </p:cNvPr>
          <p:cNvSpPr>
            <a:spLocks noGrp="1"/>
          </p:cNvSpPr>
          <p:nvPr/>
        </p:nvSpPr>
        <p:spPr>
          <a:xfrm>
            <a:off x="3333750" y="2038350"/>
            <a:ext cx="2571750" cy="3067050"/>
          </a:xfrm>
          <a:prstGeom prst="roundRect">
            <a:avLst>
              <a:gd name="adj" fmla="val 2963"/>
            </a:avLst>
          </a:prstGeom>
          <a:solidFill>
            <a:srgbClr val="FFFFFF"/>
          </a:solidFill>
          <a:ln w="9525">
            <a:solidFill>
              <a:srgbClr val="D8E1ED"/>
            </a:solidFill>
            <a:prstDash val="solid"/>
          </a:ln>
        </p:spPr>
        <p:txBody>
          <a:bodyPr/>
          <a:lstStyle/>
          <a:p>
            <a:endParaRPr lang="en-US"/>
          </a:p>
        </p:txBody>
      </p:sp>
      <p:sp>
        <p:nvSpPr>
          <p:cNvPr id="18" name="Rectangle 17">
            <a:extLst>
              <a:ext uri="{FF2B5EF4-FFF2-40B4-BE49-F238E27FC236}">
                <a16:creationId xmlns:a16="http://schemas.microsoft.com/office/drawing/2014/main" id="{06F3136B-D0F2-4B8F-ABF9-AAEE8CE45970}"/>
              </a:ext>
            </a:extLst>
          </p:cNvPr>
          <p:cNvSpPr>
            <a:spLocks noGrp="1"/>
          </p:cNvSpPr>
          <p:nvPr/>
        </p:nvSpPr>
        <p:spPr>
          <a:xfrm>
            <a:off x="3333750" y="2038350"/>
            <a:ext cx="2571750" cy="57150"/>
          </a:xfrm>
          <a:prstGeom prst="rect">
            <a:avLst/>
          </a:prstGeom>
          <a:solidFill>
            <a:srgbClr val="12799B"/>
          </a:solidFill>
          <a:ln w="0">
            <a:solidFill>
              <a:srgbClr val="12799B"/>
            </a:solidFill>
            <a:prstDash val="solid"/>
          </a:ln>
        </p:spPr>
        <p:txBody>
          <a:bodyPr/>
          <a:lstStyle/>
          <a:p>
            <a:endParaRPr lang="en-US"/>
          </a:p>
        </p:txBody>
      </p:sp>
      <p:sp>
        <p:nvSpPr>
          <p:cNvPr id="19" name="Rectangle 18">
            <a:extLst>
              <a:ext uri="{FF2B5EF4-FFF2-40B4-BE49-F238E27FC236}">
                <a16:creationId xmlns:a16="http://schemas.microsoft.com/office/drawing/2014/main" id="{0D011494-0826-4B6A-B990-A66DA934A5F3}"/>
              </a:ext>
            </a:extLst>
          </p:cNvPr>
          <p:cNvSpPr>
            <a:spLocks noGrp="1"/>
          </p:cNvSpPr>
          <p:nvPr/>
        </p:nvSpPr>
        <p:spPr>
          <a:xfrm>
            <a:off x="3505200" y="2266950"/>
            <a:ext cx="1714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102A43"/>
                </a:solidFill>
                <a:latin typeface="Nunito Sans ExtraBold"/>
                <a:ea typeface="Nunito Sans ExtraBold"/>
                <a:cs typeface="Nunito Sans ExtraBold"/>
              </a:defRPr>
            </a:pPr>
            <a:r>
              <a:rPr sz="1725" b="1">
                <a:solidFill>
                  <a:srgbClr val="102A43"/>
                </a:solidFill>
                <a:latin typeface="Nunito Sans ExtraBold"/>
                <a:ea typeface="Nunito Sans ExtraBold"/>
                <a:cs typeface="Nunito Sans ExtraBold"/>
              </a:rPr>
              <a:t>async_results</a:t>
            </a:r>
          </a:p>
        </p:txBody>
      </p:sp>
      <p:sp>
        <p:nvSpPr>
          <p:cNvPr id="20" name="Rectangle 19">
            <a:extLst>
              <a:ext uri="{FF2B5EF4-FFF2-40B4-BE49-F238E27FC236}">
                <a16:creationId xmlns:a16="http://schemas.microsoft.com/office/drawing/2014/main" id="{B7D019F0-48EC-4523-9FD7-9BB847156B4F}"/>
              </a:ext>
            </a:extLst>
          </p:cNvPr>
          <p:cNvSpPr>
            <a:spLocks noGrp="1"/>
          </p:cNvSpPr>
          <p:nvPr/>
        </p:nvSpPr>
        <p:spPr>
          <a:xfrm>
            <a:off x="5143500" y="2266950"/>
            <a:ext cx="552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500" b="1">
                <a:solidFill>
                  <a:srgbClr val="12799B"/>
                </a:solidFill>
                <a:latin typeface="Nunito Sans ExtraBold"/>
                <a:ea typeface="Nunito Sans ExtraBold"/>
                <a:cs typeface="Nunito Sans ExtraBold"/>
              </a:defRPr>
            </a:pPr>
            <a:r>
              <a:rPr sz="1500" b="1">
                <a:solidFill>
                  <a:srgbClr val="12799B"/>
                </a:solidFill>
                <a:latin typeface="Nunito Sans ExtraBold"/>
                <a:ea typeface="Nunito Sans ExtraBold"/>
                <a:cs typeface="Nunito Sans ExtraBold"/>
              </a:rPr>
              <a:t>4</a:t>
            </a:r>
          </a:p>
        </p:txBody>
      </p:sp>
      <p:sp>
        <p:nvSpPr>
          <p:cNvPr id="21" name="Rectangle 20">
            <a:extLst>
              <a:ext uri="{FF2B5EF4-FFF2-40B4-BE49-F238E27FC236}">
                <a16:creationId xmlns:a16="http://schemas.microsoft.com/office/drawing/2014/main" id="{4D9BE0BF-D311-4B80-8105-FBF778B6A156}"/>
              </a:ext>
            </a:extLst>
          </p:cNvPr>
          <p:cNvSpPr>
            <a:spLocks noGrp="1"/>
          </p:cNvSpPr>
          <p:nvPr/>
        </p:nvSpPr>
        <p:spPr>
          <a:xfrm>
            <a:off x="3505200" y="281940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visible loading delay</a:t>
            </a:r>
          </a:p>
        </p:txBody>
      </p:sp>
      <p:sp>
        <p:nvSpPr>
          <p:cNvPr id="22" name="Rectangle 21">
            <a:extLst>
              <a:ext uri="{FF2B5EF4-FFF2-40B4-BE49-F238E27FC236}">
                <a16:creationId xmlns:a16="http://schemas.microsoft.com/office/drawing/2014/main" id="{769E3708-F438-49BB-8EA6-FEF0823A3DF5}"/>
              </a:ext>
            </a:extLst>
          </p:cNvPr>
          <p:cNvSpPr>
            <a:spLocks noGrp="1"/>
          </p:cNvSpPr>
          <p:nvPr/>
        </p:nvSpPr>
        <p:spPr>
          <a:xfrm>
            <a:off x="3505200" y="308610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screen change is detectable</a:t>
            </a:r>
          </a:p>
        </p:txBody>
      </p:sp>
      <p:sp>
        <p:nvSpPr>
          <p:cNvPr id="23" name="Rectangle 22">
            <a:extLst>
              <a:ext uri="{FF2B5EF4-FFF2-40B4-BE49-F238E27FC236}">
                <a16:creationId xmlns:a16="http://schemas.microsoft.com/office/drawing/2014/main" id="{383C47BC-D38D-4F3F-B6FE-2B7DD2766AD7}"/>
              </a:ext>
            </a:extLst>
          </p:cNvPr>
          <p:cNvSpPr>
            <a:spLocks noGrp="1"/>
          </p:cNvSpPr>
          <p:nvPr/>
        </p:nvSpPr>
        <p:spPr>
          <a:xfrm>
            <a:off x="3505200" y="335280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handrule should fire</a:t>
            </a:r>
          </a:p>
        </p:txBody>
      </p:sp>
      <p:sp>
        <p:nvSpPr>
          <p:cNvPr id="24" name="Rounded Rectangle 23">
            <a:extLst>
              <a:ext uri="{FF2B5EF4-FFF2-40B4-BE49-F238E27FC236}">
                <a16:creationId xmlns:a16="http://schemas.microsoft.com/office/drawing/2014/main" id="{28465AA3-85F8-4E8A-AE59-15738C6A2D34}"/>
              </a:ext>
            </a:extLst>
          </p:cNvPr>
          <p:cNvSpPr>
            <a:spLocks noGrp="1"/>
          </p:cNvSpPr>
          <p:nvPr/>
        </p:nvSpPr>
        <p:spPr>
          <a:xfrm>
            <a:off x="3505200" y="4248150"/>
            <a:ext cx="2209800" cy="609600"/>
          </a:xfrm>
          <a:prstGeom prst="roundRect">
            <a:avLst>
              <a:gd name="adj" fmla="val 12500"/>
            </a:avLst>
          </a:prstGeom>
          <a:solidFill>
            <a:srgbClr val="F7FAFC"/>
          </a:solidFill>
          <a:ln w="9525">
            <a:solidFill>
              <a:srgbClr val="D8E1ED"/>
            </a:solidFill>
            <a:prstDash val="solid"/>
          </a:ln>
        </p:spPr>
        <p:txBody>
          <a:bodyPr/>
          <a:lstStyle/>
          <a:p>
            <a:endParaRPr lang="en-US"/>
          </a:p>
        </p:txBody>
      </p:sp>
      <p:sp>
        <p:nvSpPr>
          <p:cNvPr id="25" name="Rectangle 24">
            <a:extLst>
              <a:ext uri="{FF2B5EF4-FFF2-40B4-BE49-F238E27FC236}">
                <a16:creationId xmlns:a16="http://schemas.microsoft.com/office/drawing/2014/main" id="{CD37A8D4-ECED-4E37-8ABF-933D384BC611}"/>
              </a:ext>
            </a:extLst>
          </p:cNvPr>
          <p:cNvSpPr>
            <a:spLocks noGrp="1"/>
          </p:cNvSpPr>
          <p:nvPr/>
        </p:nvSpPr>
        <p:spPr>
          <a:xfrm>
            <a:off x="3619500" y="4400550"/>
            <a:ext cx="19812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5B6B82"/>
                </a:solidFill>
                <a:latin typeface="Nunito Sans"/>
                <a:ea typeface="Nunito Sans"/>
                <a:cs typeface="Nunito Sans"/>
              </a:defRPr>
            </a:pPr>
            <a:r>
              <a:rPr sz="975" b="1">
                <a:solidFill>
                  <a:srgbClr val="5B6B82"/>
                </a:solidFill>
                <a:latin typeface="Nunito Sans"/>
                <a:ea typeface="Nunito Sans"/>
                <a:cs typeface="Nunito Sans"/>
              </a:rPr>
              <a:t>Good for checking that the gate does not under-observe.</a:t>
            </a:r>
          </a:p>
        </p:txBody>
      </p:sp>
      <p:sp>
        <p:nvSpPr>
          <p:cNvPr id="26" name="Rounded Rectangle 25">
            <a:extLst>
              <a:ext uri="{FF2B5EF4-FFF2-40B4-BE49-F238E27FC236}">
                <a16:creationId xmlns:a16="http://schemas.microsoft.com/office/drawing/2014/main" id="{ECADC836-E7C8-47EB-B887-65C1BA4DC5E1}"/>
              </a:ext>
            </a:extLst>
          </p:cNvPr>
          <p:cNvSpPr>
            <a:spLocks noGrp="1"/>
          </p:cNvSpPr>
          <p:nvPr/>
        </p:nvSpPr>
        <p:spPr>
          <a:xfrm>
            <a:off x="6096000" y="2038350"/>
            <a:ext cx="2571750" cy="3067050"/>
          </a:xfrm>
          <a:prstGeom prst="roundRect">
            <a:avLst>
              <a:gd name="adj" fmla="val 2963"/>
            </a:avLst>
          </a:prstGeom>
          <a:solidFill>
            <a:srgbClr val="FFFFFF"/>
          </a:solidFill>
          <a:ln w="9525">
            <a:solidFill>
              <a:srgbClr val="D8E1ED"/>
            </a:solidFill>
            <a:prstDash val="solid"/>
          </a:ln>
        </p:spPr>
        <p:txBody>
          <a:bodyPr/>
          <a:lstStyle/>
          <a:p>
            <a:endParaRPr lang="en-US"/>
          </a:p>
        </p:txBody>
      </p:sp>
      <p:sp>
        <p:nvSpPr>
          <p:cNvPr id="27" name="Rectangle 26">
            <a:extLst>
              <a:ext uri="{FF2B5EF4-FFF2-40B4-BE49-F238E27FC236}">
                <a16:creationId xmlns:a16="http://schemas.microsoft.com/office/drawing/2014/main" id="{5E7CF6B3-D232-481A-8335-A2F34F75A416}"/>
              </a:ext>
            </a:extLst>
          </p:cNvPr>
          <p:cNvSpPr>
            <a:spLocks noGrp="1"/>
          </p:cNvSpPr>
          <p:nvPr/>
        </p:nvSpPr>
        <p:spPr>
          <a:xfrm>
            <a:off x="6096000" y="2038350"/>
            <a:ext cx="2571750" cy="57150"/>
          </a:xfrm>
          <a:prstGeom prst="rect">
            <a:avLst/>
          </a:prstGeom>
          <a:solidFill>
            <a:srgbClr val="D1495B"/>
          </a:solidFill>
          <a:ln w="0">
            <a:solidFill>
              <a:srgbClr val="D1495B"/>
            </a:solidFill>
            <a:prstDash val="solid"/>
          </a:ln>
        </p:spPr>
        <p:txBody>
          <a:bodyPr/>
          <a:lstStyle/>
          <a:p>
            <a:endParaRPr lang="en-US"/>
          </a:p>
        </p:txBody>
      </p:sp>
      <p:sp>
        <p:nvSpPr>
          <p:cNvPr id="28" name="Rectangle 27">
            <a:extLst>
              <a:ext uri="{FF2B5EF4-FFF2-40B4-BE49-F238E27FC236}">
                <a16:creationId xmlns:a16="http://schemas.microsoft.com/office/drawing/2014/main" id="{E3F3976C-3DFC-49AB-9504-C448416CC4F1}"/>
              </a:ext>
            </a:extLst>
          </p:cNvPr>
          <p:cNvSpPr>
            <a:spLocks noGrp="1"/>
          </p:cNvSpPr>
          <p:nvPr/>
        </p:nvSpPr>
        <p:spPr>
          <a:xfrm>
            <a:off x="6267450" y="2266950"/>
            <a:ext cx="1714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102A43"/>
                </a:solidFill>
                <a:latin typeface="Nunito Sans ExtraBold"/>
                <a:ea typeface="Nunito Sans ExtraBold"/>
                <a:cs typeface="Nunito Sans ExtraBold"/>
              </a:defRPr>
            </a:pPr>
            <a:r>
              <a:rPr sz="1725" b="1">
                <a:solidFill>
                  <a:srgbClr val="102A43"/>
                </a:solidFill>
                <a:latin typeface="Nunito Sans ExtraBold"/>
                <a:ea typeface="Nunito Sans ExtraBold"/>
                <a:cs typeface="Nunito Sans ExtraBold"/>
              </a:rPr>
              <a:t>value_drift</a:t>
            </a:r>
          </a:p>
        </p:txBody>
      </p:sp>
      <p:sp>
        <p:nvSpPr>
          <p:cNvPr id="29" name="Rectangle 28">
            <a:extLst>
              <a:ext uri="{FF2B5EF4-FFF2-40B4-BE49-F238E27FC236}">
                <a16:creationId xmlns:a16="http://schemas.microsoft.com/office/drawing/2014/main" id="{1C3B236D-9C71-496D-8E5D-FBDE22870102}"/>
              </a:ext>
            </a:extLst>
          </p:cNvPr>
          <p:cNvSpPr>
            <a:spLocks noGrp="1"/>
          </p:cNvSpPr>
          <p:nvPr/>
        </p:nvSpPr>
        <p:spPr>
          <a:xfrm>
            <a:off x="7905750" y="2266950"/>
            <a:ext cx="552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500" b="1">
                <a:solidFill>
                  <a:srgbClr val="D1495B"/>
                </a:solidFill>
                <a:latin typeface="Nunito Sans ExtraBold"/>
                <a:ea typeface="Nunito Sans ExtraBold"/>
                <a:cs typeface="Nunito Sans ExtraBold"/>
              </a:defRPr>
            </a:pPr>
            <a:r>
              <a:rPr sz="1500" b="1">
                <a:solidFill>
                  <a:srgbClr val="D1495B"/>
                </a:solidFill>
                <a:latin typeface="Nunito Sans ExtraBold"/>
                <a:ea typeface="Nunito Sans ExtraBold"/>
                <a:cs typeface="Nunito Sans ExtraBold"/>
              </a:rPr>
              <a:t>3</a:t>
            </a:r>
          </a:p>
        </p:txBody>
      </p:sp>
      <p:sp>
        <p:nvSpPr>
          <p:cNvPr id="30" name="Rectangle 29">
            <a:extLst>
              <a:ext uri="{FF2B5EF4-FFF2-40B4-BE49-F238E27FC236}">
                <a16:creationId xmlns:a16="http://schemas.microsoft.com/office/drawing/2014/main" id="{26EF9341-AB9C-4868-BF45-AE126596DDE9}"/>
              </a:ext>
            </a:extLst>
          </p:cNvPr>
          <p:cNvSpPr>
            <a:spLocks noGrp="1"/>
          </p:cNvSpPr>
          <p:nvPr/>
        </p:nvSpPr>
        <p:spPr>
          <a:xfrm>
            <a:off x="6267450" y="281940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field value changes silently</a:t>
            </a:r>
          </a:p>
        </p:txBody>
      </p:sp>
      <p:sp>
        <p:nvSpPr>
          <p:cNvPr id="31" name="Rectangle 30">
            <a:extLst>
              <a:ext uri="{FF2B5EF4-FFF2-40B4-BE49-F238E27FC236}">
                <a16:creationId xmlns:a16="http://schemas.microsoft.com/office/drawing/2014/main" id="{DA4AE3EF-5DAA-49BC-8398-41B9C68A0EC2}"/>
              </a:ext>
            </a:extLst>
          </p:cNvPr>
          <p:cNvSpPr>
            <a:spLocks noGrp="1"/>
          </p:cNvSpPr>
          <p:nvPr/>
        </p:nvSpPr>
        <p:spPr>
          <a:xfrm>
            <a:off x="6267450" y="308610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selector set stays constant</a:t>
            </a:r>
          </a:p>
        </p:txBody>
      </p:sp>
      <p:sp>
        <p:nvSpPr>
          <p:cNvPr id="32" name="Rectangle 31">
            <a:extLst>
              <a:ext uri="{FF2B5EF4-FFF2-40B4-BE49-F238E27FC236}">
                <a16:creationId xmlns:a16="http://schemas.microsoft.com/office/drawing/2014/main" id="{6F8B5FF6-678E-49DB-80B8-592A52E835E4}"/>
              </a:ext>
            </a:extLst>
          </p:cNvPr>
          <p:cNvSpPr>
            <a:spLocks noGrp="1"/>
          </p:cNvSpPr>
          <p:nvPr/>
        </p:nvSpPr>
        <p:spPr>
          <a:xfrm>
            <a:off x="6267450" y="335280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handrule gets no signal</a:t>
            </a:r>
          </a:p>
        </p:txBody>
      </p:sp>
      <p:sp>
        <p:nvSpPr>
          <p:cNvPr id="33" name="Rounded Rectangle 32">
            <a:extLst>
              <a:ext uri="{FF2B5EF4-FFF2-40B4-BE49-F238E27FC236}">
                <a16:creationId xmlns:a16="http://schemas.microsoft.com/office/drawing/2014/main" id="{7F150681-80CE-4683-A24C-F52324E4B49C}"/>
              </a:ext>
            </a:extLst>
          </p:cNvPr>
          <p:cNvSpPr>
            <a:spLocks noGrp="1"/>
          </p:cNvSpPr>
          <p:nvPr/>
        </p:nvSpPr>
        <p:spPr>
          <a:xfrm>
            <a:off x="6267450" y="4248150"/>
            <a:ext cx="2209800" cy="609600"/>
          </a:xfrm>
          <a:prstGeom prst="roundRect">
            <a:avLst>
              <a:gd name="adj" fmla="val 12500"/>
            </a:avLst>
          </a:prstGeom>
          <a:solidFill>
            <a:srgbClr val="F7FAFC"/>
          </a:solidFill>
          <a:ln w="9525">
            <a:solidFill>
              <a:srgbClr val="D8E1ED"/>
            </a:solidFill>
            <a:prstDash val="solid"/>
          </a:ln>
        </p:spPr>
        <p:txBody>
          <a:bodyPr/>
          <a:lstStyle/>
          <a:p>
            <a:endParaRPr lang="en-US"/>
          </a:p>
        </p:txBody>
      </p:sp>
      <p:sp>
        <p:nvSpPr>
          <p:cNvPr id="34" name="Rectangle 33">
            <a:extLst>
              <a:ext uri="{FF2B5EF4-FFF2-40B4-BE49-F238E27FC236}">
                <a16:creationId xmlns:a16="http://schemas.microsoft.com/office/drawing/2014/main" id="{E01C9349-A450-43A2-B879-B6B482D60A13}"/>
              </a:ext>
            </a:extLst>
          </p:cNvPr>
          <p:cNvSpPr>
            <a:spLocks noGrp="1"/>
          </p:cNvSpPr>
          <p:nvPr/>
        </p:nvSpPr>
        <p:spPr>
          <a:xfrm>
            <a:off x="6381750" y="4400550"/>
            <a:ext cx="19812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5B6B82"/>
                </a:solidFill>
                <a:latin typeface="Nunito Sans"/>
                <a:ea typeface="Nunito Sans"/>
                <a:cs typeface="Nunito Sans"/>
              </a:defRPr>
            </a:pPr>
            <a:r>
              <a:rPr sz="975" b="1">
                <a:solidFill>
                  <a:srgbClr val="5B6B82"/>
                </a:solidFill>
                <a:latin typeface="Nunito Sans"/>
                <a:ea typeface="Nunito Sans"/>
                <a:cs typeface="Nunito Sans"/>
              </a:rPr>
              <a:t>The key blind spot: stale value, no visible structural change.</a:t>
            </a:r>
          </a:p>
        </p:txBody>
      </p:sp>
      <p:sp>
        <p:nvSpPr>
          <p:cNvPr id="35" name="Rounded Rectangle 34">
            <a:extLst>
              <a:ext uri="{FF2B5EF4-FFF2-40B4-BE49-F238E27FC236}">
                <a16:creationId xmlns:a16="http://schemas.microsoft.com/office/drawing/2014/main" id="{660304C9-CD0D-4EA2-AC60-8A7727D89C68}"/>
              </a:ext>
            </a:extLst>
          </p:cNvPr>
          <p:cNvSpPr>
            <a:spLocks noGrp="1"/>
          </p:cNvSpPr>
          <p:nvPr/>
        </p:nvSpPr>
        <p:spPr>
          <a:xfrm>
            <a:off x="8858250" y="2038350"/>
            <a:ext cx="2571750" cy="3067050"/>
          </a:xfrm>
          <a:prstGeom prst="roundRect">
            <a:avLst>
              <a:gd name="adj" fmla="val 2963"/>
            </a:avLst>
          </a:prstGeom>
          <a:solidFill>
            <a:srgbClr val="FFFFFF"/>
          </a:solidFill>
          <a:ln w="9525">
            <a:solidFill>
              <a:srgbClr val="D8E1ED"/>
            </a:solidFill>
            <a:prstDash val="solid"/>
          </a:ln>
        </p:spPr>
        <p:txBody>
          <a:bodyPr/>
          <a:lstStyle/>
          <a:p>
            <a:endParaRPr lang="en-US"/>
          </a:p>
        </p:txBody>
      </p:sp>
      <p:sp>
        <p:nvSpPr>
          <p:cNvPr id="36" name="Rectangle 35">
            <a:extLst>
              <a:ext uri="{FF2B5EF4-FFF2-40B4-BE49-F238E27FC236}">
                <a16:creationId xmlns:a16="http://schemas.microsoft.com/office/drawing/2014/main" id="{2F016888-E331-48A6-8120-B2B6946B0620}"/>
              </a:ext>
            </a:extLst>
          </p:cNvPr>
          <p:cNvSpPr>
            <a:spLocks noGrp="1"/>
          </p:cNvSpPr>
          <p:nvPr/>
        </p:nvSpPr>
        <p:spPr>
          <a:xfrm>
            <a:off x="8858250" y="2038350"/>
            <a:ext cx="2571750" cy="57150"/>
          </a:xfrm>
          <a:prstGeom prst="rect">
            <a:avLst/>
          </a:prstGeom>
          <a:solidFill>
            <a:srgbClr val="8B5CF6"/>
          </a:solidFill>
          <a:ln w="0">
            <a:solidFill>
              <a:srgbClr val="8B5CF6"/>
            </a:solidFill>
            <a:prstDash val="solid"/>
          </a:ln>
        </p:spPr>
        <p:txBody>
          <a:bodyPr/>
          <a:lstStyle/>
          <a:p>
            <a:endParaRPr lang="en-US"/>
          </a:p>
        </p:txBody>
      </p:sp>
      <p:sp>
        <p:nvSpPr>
          <p:cNvPr id="37" name="Rectangle 36">
            <a:extLst>
              <a:ext uri="{FF2B5EF4-FFF2-40B4-BE49-F238E27FC236}">
                <a16:creationId xmlns:a16="http://schemas.microsoft.com/office/drawing/2014/main" id="{14B65189-82AE-4B46-B285-8BBF1923A2DB}"/>
              </a:ext>
            </a:extLst>
          </p:cNvPr>
          <p:cNvSpPr>
            <a:spLocks noGrp="1"/>
          </p:cNvSpPr>
          <p:nvPr/>
        </p:nvSpPr>
        <p:spPr>
          <a:xfrm>
            <a:off x="9029700" y="2266950"/>
            <a:ext cx="1714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102A43"/>
                </a:solidFill>
                <a:latin typeface="Nunito Sans ExtraBold"/>
                <a:ea typeface="Nunito Sans ExtraBold"/>
                <a:cs typeface="Nunito Sans ExtraBold"/>
              </a:defRPr>
            </a:pPr>
            <a:r>
              <a:rPr sz="1725" b="1">
                <a:solidFill>
                  <a:srgbClr val="102A43"/>
                </a:solidFill>
                <a:latin typeface="Nunito Sans ExtraBold"/>
                <a:ea typeface="Nunito Sans ExtraBold"/>
                <a:cs typeface="Nunito Sans ExtraBold"/>
              </a:rPr>
              <a:t>delayed_options</a:t>
            </a:r>
          </a:p>
        </p:txBody>
      </p:sp>
      <p:sp>
        <p:nvSpPr>
          <p:cNvPr id="38" name="Rectangle 37">
            <a:extLst>
              <a:ext uri="{FF2B5EF4-FFF2-40B4-BE49-F238E27FC236}">
                <a16:creationId xmlns:a16="http://schemas.microsoft.com/office/drawing/2014/main" id="{8F60F4AD-773B-428A-9E96-DB519F35BD85}"/>
              </a:ext>
            </a:extLst>
          </p:cNvPr>
          <p:cNvSpPr>
            <a:spLocks noGrp="1"/>
          </p:cNvSpPr>
          <p:nvPr/>
        </p:nvSpPr>
        <p:spPr>
          <a:xfrm>
            <a:off x="10668000" y="2266950"/>
            <a:ext cx="5524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500" b="1">
                <a:solidFill>
                  <a:srgbClr val="8B5CF6"/>
                </a:solidFill>
                <a:latin typeface="Nunito Sans ExtraBold"/>
                <a:ea typeface="Nunito Sans ExtraBold"/>
                <a:cs typeface="Nunito Sans ExtraBold"/>
              </a:defRPr>
            </a:pPr>
            <a:r>
              <a:rPr sz="1500" b="1">
                <a:solidFill>
                  <a:srgbClr val="8B5CF6"/>
                </a:solidFill>
                <a:latin typeface="Nunito Sans ExtraBold"/>
                <a:ea typeface="Nunito Sans ExtraBold"/>
                <a:cs typeface="Nunito Sans ExtraBold"/>
              </a:rPr>
              <a:t>3</a:t>
            </a:r>
          </a:p>
        </p:txBody>
      </p:sp>
      <p:sp>
        <p:nvSpPr>
          <p:cNvPr id="39" name="Rectangle 38">
            <a:extLst>
              <a:ext uri="{FF2B5EF4-FFF2-40B4-BE49-F238E27FC236}">
                <a16:creationId xmlns:a16="http://schemas.microsoft.com/office/drawing/2014/main" id="{B45F3ADB-BE1E-4282-A8CB-7EF581C7B27A}"/>
              </a:ext>
            </a:extLst>
          </p:cNvPr>
          <p:cNvSpPr>
            <a:spLocks noGrp="1"/>
          </p:cNvSpPr>
          <p:nvPr/>
        </p:nvSpPr>
        <p:spPr>
          <a:xfrm>
            <a:off x="9029700" y="281940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right option appears later</a:t>
            </a:r>
          </a:p>
        </p:txBody>
      </p:sp>
      <p:sp>
        <p:nvSpPr>
          <p:cNvPr id="40" name="Rectangle 39">
            <a:extLst>
              <a:ext uri="{FF2B5EF4-FFF2-40B4-BE49-F238E27FC236}">
                <a16:creationId xmlns:a16="http://schemas.microsoft.com/office/drawing/2014/main" id="{8E4856F3-4E12-49CA-9AE2-AAEBB0572810}"/>
              </a:ext>
            </a:extLst>
          </p:cNvPr>
          <p:cNvSpPr>
            <a:spLocks noGrp="1"/>
          </p:cNvSpPr>
          <p:nvPr/>
        </p:nvSpPr>
        <p:spPr>
          <a:xfrm>
            <a:off x="9029700" y="308610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same dropdown selector</a:t>
            </a:r>
          </a:p>
        </p:txBody>
      </p:sp>
      <p:sp>
        <p:nvSpPr>
          <p:cNvPr id="41" name="Rectangle 40">
            <a:extLst>
              <a:ext uri="{FF2B5EF4-FFF2-40B4-BE49-F238E27FC236}">
                <a16:creationId xmlns:a16="http://schemas.microsoft.com/office/drawing/2014/main" id="{0F05AD9C-D6D2-4511-B7DE-B23EEA281A02}"/>
              </a:ext>
            </a:extLst>
          </p:cNvPr>
          <p:cNvSpPr>
            <a:spLocks noGrp="1"/>
          </p:cNvSpPr>
          <p:nvPr/>
        </p:nvSpPr>
        <p:spPr>
          <a:xfrm>
            <a:off x="9029700" y="335280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stale index is dangerous</a:t>
            </a:r>
          </a:p>
        </p:txBody>
      </p:sp>
      <p:sp>
        <p:nvSpPr>
          <p:cNvPr id="42" name="Rounded Rectangle 41">
            <a:extLst>
              <a:ext uri="{FF2B5EF4-FFF2-40B4-BE49-F238E27FC236}">
                <a16:creationId xmlns:a16="http://schemas.microsoft.com/office/drawing/2014/main" id="{3088F27D-3CD8-4155-A6A2-3E036FB2B2D7}"/>
              </a:ext>
            </a:extLst>
          </p:cNvPr>
          <p:cNvSpPr>
            <a:spLocks noGrp="1"/>
          </p:cNvSpPr>
          <p:nvPr/>
        </p:nvSpPr>
        <p:spPr>
          <a:xfrm>
            <a:off x="9029700" y="4248150"/>
            <a:ext cx="2209800" cy="609600"/>
          </a:xfrm>
          <a:prstGeom prst="roundRect">
            <a:avLst>
              <a:gd name="adj" fmla="val 12500"/>
            </a:avLst>
          </a:prstGeom>
          <a:solidFill>
            <a:srgbClr val="F7FAFC"/>
          </a:solidFill>
          <a:ln w="9525">
            <a:solidFill>
              <a:srgbClr val="D8E1ED"/>
            </a:solidFill>
            <a:prstDash val="solid"/>
          </a:ln>
        </p:spPr>
        <p:txBody>
          <a:bodyPr/>
          <a:lstStyle/>
          <a:p>
            <a:endParaRPr lang="en-US"/>
          </a:p>
        </p:txBody>
      </p:sp>
      <p:sp>
        <p:nvSpPr>
          <p:cNvPr id="43" name="Rectangle 42">
            <a:extLst>
              <a:ext uri="{FF2B5EF4-FFF2-40B4-BE49-F238E27FC236}">
                <a16:creationId xmlns:a16="http://schemas.microsoft.com/office/drawing/2014/main" id="{B1DD0DF3-79DE-4A36-8082-C7175E7BCE3B}"/>
              </a:ext>
            </a:extLst>
          </p:cNvPr>
          <p:cNvSpPr>
            <a:spLocks noGrp="1"/>
          </p:cNvSpPr>
          <p:nvPr/>
        </p:nvSpPr>
        <p:spPr>
          <a:xfrm>
            <a:off x="9144000" y="4400550"/>
            <a:ext cx="19812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5B6B82"/>
                </a:solidFill>
                <a:latin typeface="Nunito Sans"/>
                <a:ea typeface="Nunito Sans"/>
                <a:cs typeface="Nunito Sans"/>
              </a:defRPr>
            </a:pPr>
            <a:r>
              <a:rPr sz="975" b="1">
                <a:solidFill>
                  <a:srgbClr val="5B6B82"/>
                </a:solidFill>
                <a:latin typeface="Nunito Sans"/>
                <a:ea typeface="Nunito Sans"/>
                <a:cs typeface="Nunito Sans"/>
              </a:rPr>
              <a:t>Tests option-level staleness, not whole-page change.</a:t>
            </a:r>
          </a:p>
        </p:txBody>
      </p:sp>
    </p:spTree>
    <p:extLst>
      <p:ext uri="{BB962C8B-B14F-4D97-AF65-F5344CB8AC3E}">
        <p14:creationId xmlns:p14="http://schemas.microsoft.com/office/powerpoint/2010/main" val="2033037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9456B546-B5BA-49D5-B4C9-5F13B0BE57E6}"/>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en-US"/>
          </a:p>
        </p:txBody>
      </p:sp>
      <p:sp>
        <p:nvSpPr>
          <p:cNvPr id="2" name="Rectangle 1">
            <a:extLst>
              <a:ext uri="{FF2B5EF4-FFF2-40B4-BE49-F238E27FC236}">
                <a16:creationId xmlns:a16="http://schemas.microsoft.com/office/drawing/2014/main" id="{39D34DDB-7FF5-47EC-BD89-84A4FF93B7CF}"/>
              </a:ext>
            </a:extLst>
          </p:cNvPr>
          <p:cNvSpPr>
            <a:spLocks noGrp="1"/>
          </p:cNvSpPr>
          <p:nvPr/>
        </p:nvSpPr>
        <p:spPr>
          <a:xfrm>
            <a:off x="533400" y="571500"/>
            <a:ext cx="11125200" cy="19050"/>
          </a:xfrm>
          <a:prstGeom prst="rect">
            <a:avLst/>
          </a:prstGeom>
          <a:solidFill>
            <a:srgbClr val="1E5AA8"/>
          </a:solidFill>
          <a:ln w="0">
            <a:solidFill>
              <a:srgbClr val="1E5AA8"/>
            </a:solidFill>
            <a:prstDash val="solid"/>
          </a:ln>
        </p:spPr>
        <p:txBody>
          <a:bodyPr/>
          <a:lstStyle/>
          <a:p>
            <a:endParaRPr lang="en-US"/>
          </a:p>
        </p:txBody>
      </p:sp>
      <p:sp>
        <p:nvSpPr>
          <p:cNvPr id="3" name="Rectangle 2">
            <a:extLst>
              <a:ext uri="{FF2B5EF4-FFF2-40B4-BE49-F238E27FC236}">
                <a16:creationId xmlns:a16="http://schemas.microsoft.com/office/drawing/2014/main" id="{169850A0-54F6-4B5C-82E3-857C04B41A15}"/>
              </a:ext>
            </a:extLst>
          </p:cNvPr>
          <p:cNvSpPr>
            <a:spLocks noGrp="1"/>
          </p:cNvSpPr>
          <p:nvPr/>
        </p:nvSpPr>
        <p:spPr>
          <a:xfrm>
            <a:off x="571500" y="247650"/>
            <a:ext cx="7810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02A43"/>
                </a:solidFill>
                <a:latin typeface="Nunito Sans ExtraBold"/>
                <a:ea typeface="Nunito Sans ExtraBold"/>
                <a:cs typeface="Nunito Sans ExtraBold"/>
              </a:defRPr>
            </a:pPr>
            <a:r>
              <a:rPr sz="2100" b="1">
                <a:solidFill>
                  <a:srgbClr val="102A43"/>
                </a:solidFill>
                <a:latin typeface="Nunito Sans ExtraBold"/>
                <a:ea typeface="Nunito Sans ExtraBold"/>
                <a:cs typeface="Nunito Sans ExtraBold"/>
              </a:rPr>
              <a:t>Oracle Labels and Gate Training</a:t>
            </a:r>
          </a:p>
        </p:txBody>
      </p:sp>
      <p:sp>
        <p:nvSpPr>
          <p:cNvPr id="4" name="Rectangle 3">
            <a:extLst>
              <a:ext uri="{FF2B5EF4-FFF2-40B4-BE49-F238E27FC236}">
                <a16:creationId xmlns:a16="http://schemas.microsoft.com/office/drawing/2014/main" id="{96EF5D55-D715-4D64-A73D-816F05E14E8D}"/>
              </a:ext>
            </a:extLst>
          </p:cNvPr>
          <p:cNvSpPr>
            <a:spLocks noGrp="1"/>
          </p:cNvSpPr>
          <p:nvPr/>
        </p:nvSpPr>
        <p:spPr>
          <a:xfrm>
            <a:off x="10572750" y="247650"/>
            <a:ext cx="1047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B6B82"/>
                </a:solidFill>
                <a:latin typeface="Nunito Sans"/>
                <a:ea typeface="Nunito Sans"/>
                <a:cs typeface="Nunito Sans"/>
              </a:defRPr>
            </a:pPr>
            <a:r>
              <a:rPr sz="825" b="1">
                <a:solidFill>
                  <a:srgbClr val="5B6B82"/>
                </a:solidFill>
                <a:latin typeface="Nunito Sans"/>
                <a:ea typeface="Nunito Sans"/>
                <a:cs typeface="Nunito Sans"/>
              </a:rPr>
              <a:t>06 / 12</a:t>
            </a:r>
          </a:p>
        </p:txBody>
      </p:sp>
      <p:sp>
        <p:nvSpPr>
          <p:cNvPr id="5" name="Rectangle 4">
            <a:extLst>
              <a:ext uri="{FF2B5EF4-FFF2-40B4-BE49-F238E27FC236}">
                <a16:creationId xmlns:a16="http://schemas.microsoft.com/office/drawing/2014/main" id="{D6F2F376-11CB-4618-A1CF-35C3D4F7EEBC}"/>
              </a:ext>
            </a:extLst>
          </p:cNvPr>
          <p:cNvSpPr>
            <a:spLocks noGrp="1"/>
          </p:cNvSpPr>
          <p:nvPr/>
        </p:nvSpPr>
        <p:spPr>
          <a:xfrm>
            <a:off x="571500" y="6553200"/>
            <a:ext cx="3429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Selective Observation for Browser Agents</a:t>
            </a:r>
          </a:p>
        </p:txBody>
      </p:sp>
      <p:sp>
        <p:nvSpPr>
          <p:cNvPr id="6" name="Rectangle 5">
            <a:extLst>
              <a:ext uri="{FF2B5EF4-FFF2-40B4-BE49-F238E27FC236}">
                <a16:creationId xmlns:a16="http://schemas.microsoft.com/office/drawing/2014/main" id="{39605508-FBF3-4311-94A4-D9C26DF1A7BB}"/>
              </a:ext>
            </a:extLst>
          </p:cNvPr>
          <p:cNvSpPr>
            <a:spLocks noGrp="1"/>
          </p:cNvSpPr>
          <p:nvPr/>
        </p:nvSpPr>
        <p:spPr>
          <a:xfrm>
            <a:off x="9810750" y="6553200"/>
            <a:ext cx="180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1">
                <a:solidFill>
                  <a:srgbClr val="1E5AA8"/>
                </a:solidFill>
                <a:latin typeface="Nunito Sans"/>
                <a:ea typeface="Nunito Sans"/>
                <a:cs typeface="Nunito Sans"/>
              </a:defRPr>
            </a:pPr>
            <a:r>
              <a:rPr sz="675" b="1">
                <a:solidFill>
                  <a:srgbClr val="1E5AA8"/>
                </a:solidFill>
                <a:latin typeface="Nunito Sans"/>
                <a:ea typeface="Nunito Sans"/>
                <a:cs typeface="Nunito Sans"/>
              </a:rPr>
              <a:t>UC SANTA BARBARA</a:t>
            </a:r>
          </a:p>
        </p:txBody>
      </p:sp>
      <p:sp>
        <p:nvSpPr>
          <p:cNvPr id="7" name="Rectangle 6">
            <a:extLst>
              <a:ext uri="{FF2B5EF4-FFF2-40B4-BE49-F238E27FC236}">
                <a16:creationId xmlns:a16="http://schemas.microsoft.com/office/drawing/2014/main" id="{B022E19B-38AA-45A2-A7E3-11D0080DC70E}"/>
              </a:ext>
            </a:extLst>
          </p:cNvPr>
          <p:cNvSpPr>
            <a:spLocks noGrp="1"/>
          </p:cNvSpPr>
          <p:nvPr/>
        </p:nvSpPr>
        <p:spPr>
          <a:xfrm>
            <a:off x="571500" y="914400"/>
            <a:ext cx="72390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A43"/>
                </a:solidFill>
                <a:latin typeface="Nunito Sans ExtraBold"/>
                <a:ea typeface="Nunito Sans ExtraBold"/>
                <a:cs typeface="Nunito Sans ExtraBold"/>
              </a:defRPr>
            </a:pPr>
            <a:r>
              <a:rPr sz="2250" b="1">
                <a:solidFill>
                  <a:srgbClr val="102A43"/>
                </a:solidFill>
                <a:latin typeface="Nunito Sans ExtraBold"/>
                <a:ea typeface="Nunito Sans ExtraBold"/>
                <a:cs typeface="Nunito Sans ExtraBold"/>
              </a:rPr>
              <a:t>Observation is supervised as a local decision problem.</a:t>
            </a:r>
          </a:p>
        </p:txBody>
      </p:sp>
      <p:sp>
        <p:nvSpPr>
          <p:cNvPr id="8" name="Rounded Rectangle 7">
            <a:extLst>
              <a:ext uri="{FF2B5EF4-FFF2-40B4-BE49-F238E27FC236}">
                <a16:creationId xmlns:a16="http://schemas.microsoft.com/office/drawing/2014/main" id="{9274A087-2E39-45D2-BC91-C7977EAC6235}"/>
              </a:ext>
            </a:extLst>
          </p:cNvPr>
          <p:cNvSpPr>
            <a:spLocks noGrp="1"/>
          </p:cNvSpPr>
          <p:nvPr/>
        </p:nvSpPr>
        <p:spPr>
          <a:xfrm>
            <a:off x="571500" y="1990725"/>
            <a:ext cx="4953000" cy="3467100"/>
          </a:xfrm>
          <a:prstGeom prst="roundRect">
            <a:avLst>
              <a:gd name="adj" fmla="val 2198"/>
            </a:avLst>
          </a:prstGeom>
          <a:solidFill>
            <a:srgbClr val="FFFFFF"/>
          </a:solidFill>
          <a:ln w="9525">
            <a:solidFill>
              <a:srgbClr val="D8E1ED"/>
            </a:solidFill>
            <a:prstDash val="solid"/>
          </a:ln>
        </p:spPr>
        <p:txBody>
          <a:bodyPr/>
          <a:lstStyle/>
          <a:p>
            <a:endParaRPr lang="en-US"/>
          </a:p>
        </p:txBody>
      </p:sp>
      <p:sp>
        <p:nvSpPr>
          <p:cNvPr id="9" name="Rectangle 8">
            <a:extLst>
              <a:ext uri="{FF2B5EF4-FFF2-40B4-BE49-F238E27FC236}">
                <a16:creationId xmlns:a16="http://schemas.microsoft.com/office/drawing/2014/main" id="{BC433F29-89ED-42B3-8E9C-56505A68E357}"/>
              </a:ext>
            </a:extLst>
          </p:cNvPr>
          <p:cNvSpPr>
            <a:spLocks noGrp="1"/>
          </p:cNvSpPr>
          <p:nvPr/>
        </p:nvSpPr>
        <p:spPr>
          <a:xfrm>
            <a:off x="819150" y="221932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E5AA8"/>
                </a:solidFill>
                <a:latin typeface="Nunito Sans"/>
                <a:ea typeface="Nunito Sans"/>
                <a:cs typeface="Nunito Sans"/>
              </a:defRPr>
            </a:pPr>
            <a:r>
              <a:rPr sz="975" b="1">
                <a:solidFill>
                  <a:srgbClr val="1E5AA8"/>
                </a:solidFill>
                <a:latin typeface="Nunito Sans"/>
                <a:ea typeface="Nunito Sans"/>
                <a:cs typeface="Nunito Sans"/>
              </a:rPr>
              <a:t>Oracle label</a:t>
            </a:r>
          </a:p>
        </p:txBody>
      </p:sp>
      <p:sp>
        <p:nvSpPr>
          <p:cNvPr id="10" name="Rectangle 9">
            <a:extLst>
              <a:ext uri="{FF2B5EF4-FFF2-40B4-BE49-F238E27FC236}">
                <a16:creationId xmlns:a16="http://schemas.microsoft.com/office/drawing/2014/main" id="{9476BC3C-2FC1-4DAA-B706-9BB9EA17CBE9}"/>
              </a:ext>
            </a:extLst>
          </p:cNvPr>
          <p:cNvSpPr>
            <a:spLocks noGrp="1"/>
          </p:cNvSpPr>
          <p:nvPr/>
        </p:nvSpPr>
        <p:spPr>
          <a:xfrm>
            <a:off x="819150" y="2562225"/>
            <a:ext cx="417195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02A43"/>
                </a:solidFill>
                <a:latin typeface="Nunito Sans ExtraBold"/>
                <a:ea typeface="Nunito Sans ExtraBold"/>
                <a:cs typeface="Nunito Sans ExtraBold"/>
              </a:defRPr>
            </a:pPr>
            <a:r>
              <a:rPr sz="1500" b="1">
                <a:solidFill>
                  <a:srgbClr val="102A43"/>
                </a:solidFill>
                <a:latin typeface="Nunito Sans ExtraBold"/>
                <a:ea typeface="Nunito Sans ExtraBold"/>
                <a:cs typeface="Nunito Sans ExtraBold"/>
              </a:rPr>
              <a:t>label = 1  if the coasted action differs from the freshly verified action</a:t>
            </a:r>
          </a:p>
          <a:p>
            <a:pPr algn="l">
              <a:defRPr sz="1500" b="1">
                <a:solidFill>
                  <a:srgbClr val="102A43"/>
                </a:solidFill>
                <a:latin typeface="Nunito Sans ExtraBold"/>
                <a:ea typeface="Nunito Sans ExtraBold"/>
                <a:cs typeface="Nunito Sans ExtraBold"/>
              </a:defRPr>
            </a:pPr>
            <a:r>
              <a:rPr sz="1500" b="1">
                <a:solidFill>
                  <a:srgbClr val="102A43"/>
                </a:solidFill>
                <a:latin typeface="Nunito Sans ExtraBold"/>
                <a:ea typeface="Nunito Sans ExtraBold"/>
                <a:cs typeface="Nunito Sans ExtraBold"/>
              </a:rPr>
              <a:t>label = 0  if the carried plan still matches</a:t>
            </a:r>
          </a:p>
        </p:txBody>
      </p:sp>
      <p:sp>
        <p:nvSpPr>
          <p:cNvPr id="11" name="Rectangle 10">
            <a:extLst>
              <a:ext uri="{FF2B5EF4-FFF2-40B4-BE49-F238E27FC236}">
                <a16:creationId xmlns:a16="http://schemas.microsoft.com/office/drawing/2014/main" id="{F2848F47-CB67-4541-B786-6A8AD607FCA0}"/>
              </a:ext>
            </a:extLst>
          </p:cNvPr>
          <p:cNvSpPr>
            <a:spLocks noGrp="1"/>
          </p:cNvSpPr>
          <p:nvPr/>
        </p:nvSpPr>
        <p:spPr>
          <a:xfrm>
            <a:off x="819150" y="3438525"/>
            <a:ext cx="4191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2A43"/>
                </a:solidFill>
                <a:latin typeface="Nunito Sans"/>
                <a:ea typeface="Nunito Sans"/>
                <a:cs typeface="Nunito Sans"/>
              </a:defRPr>
            </a:pPr>
            <a:r>
              <a:rPr sz="1200" b="0">
                <a:solidFill>
                  <a:srgbClr val="102A43"/>
                </a:solidFill>
                <a:latin typeface="Nunito Sans"/>
                <a:ea typeface="Nunito Sans"/>
                <a:cs typeface="Nunito Sans"/>
              </a:rPr>
              <a:t>- DAgger-style oracle collection under always-observe</a:t>
            </a:r>
          </a:p>
        </p:txBody>
      </p:sp>
      <p:sp>
        <p:nvSpPr>
          <p:cNvPr id="12" name="Rectangle 11">
            <a:extLst>
              <a:ext uri="{FF2B5EF4-FFF2-40B4-BE49-F238E27FC236}">
                <a16:creationId xmlns:a16="http://schemas.microsoft.com/office/drawing/2014/main" id="{6A7E0332-BDA2-4F04-A238-8606FA430E10}"/>
              </a:ext>
            </a:extLst>
          </p:cNvPr>
          <p:cNvSpPr>
            <a:spLocks noGrp="1"/>
          </p:cNvSpPr>
          <p:nvPr/>
        </p:nvSpPr>
        <p:spPr>
          <a:xfrm>
            <a:off x="819150" y="3724275"/>
            <a:ext cx="4191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2A43"/>
                </a:solidFill>
                <a:latin typeface="Nunito Sans"/>
                <a:ea typeface="Nunito Sans"/>
                <a:cs typeface="Nunito Sans"/>
              </a:defRPr>
            </a:pPr>
            <a:r>
              <a:rPr sz="1200" b="0">
                <a:solidFill>
                  <a:srgbClr val="102A43"/>
                </a:solidFill>
                <a:latin typeface="Nunito Sans"/>
                <a:ea typeface="Nunito Sans"/>
                <a:cs typeface="Nunito Sans"/>
              </a:rPr>
              <a:t>- positive label rate = 0.5617, so the task surface is learnable</a:t>
            </a:r>
          </a:p>
        </p:txBody>
      </p:sp>
      <p:sp>
        <p:nvSpPr>
          <p:cNvPr id="13" name="Rectangle 12">
            <a:extLst>
              <a:ext uri="{FF2B5EF4-FFF2-40B4-BE49-F238E27FC236}">
                <a16:creationId xmlns:a16="http://schemas.microsoft.com/office/drawing/2014/main" id="{D16F6C4E-BFE6-4F5A-BD8B-22929C2868FB}"/>
              </a:ext>
            </a:extLst>
          </p:cNvPr>
          <p:cNvSpPr>
            <a:spLocks noGrp="1"/>
          </p:cNvSpPr>
          <p:nvPr/>
        </p:nvSpPr>
        <p:spPr>
          <a:xfrm>
            <a:off x="819150" y="4010025"/>
            <a:ext cx="4191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2A43"/>
                </a:solidFill>
                <a:latin typeface="Nunito Sans"/>
                <a:ea typeface="Nunito Sans"/>
                <a:cs typeface="Nunito Sans"/>
              </a:defRPr>
            </a:pPr>
            <a:r>
              <a:rPr sz="1200" b="0">
                <a:solidFill>
                  <a:srgbClr val="102A43"/>
                </a:solidFill>
                <a:latin typeface="Nunito Sans"/>
                <a:ea typeface="Nunito Sans"/>
                <a:cs typeface="Nunito Sans"/>
              </a:rPr>
              <a:t>- same agent, same action space, only the observation gate changes</a:t>
            </a:r>
          </a:p>
        </p:txBody>
      </p:sp>
      <p:sp>
        <p:nvSpPr>
          <p:cNvPr id="14" name="Rounded Rectangle 13">
            <a:extLst>
              <a:ext uri="{FF2B5EF4-FFF2-40B4-BE49-F238E27FC236}">
                <a16:creationId xmlns:a16="http://schemas.microsoft.com/office/drawing/2014/main" id="{1D5DD877-8268-4F4D-BBD7-A915C0A520B6}"/>
              </a:ext>
            </a:extLst>
          </p:cNvPr>
          <p:cNvSpPr>
            <a:spLocks noGrp="1"/>
          </p:cNvSpPr>
          <p:nvPr/>
        </p:nvSpPr>
        <p:spPr>
          <a:xfrm>
            <a:off x="6115050" y="1990725"/>
            <a:ext cx="4972050" cy="3467100"/>
          </a:xfrm>
          <a:prstGeom prst="roundRect">
            <a:avLst>
              <a:gd name="adj" fmla="val 2198"/>
            </a:avLst>
          </a:prstGeom>
          <a:solidFill>
            <a:srgbClr val="FFFFFF"/>
          </a:solidFill>
          <a:ln w="9525">
            <a:solidFill>
              <a:srgbClr val="D8E1ED"/>
            </a:solidFill>
            <a:prstDash val="solid"/>
          </a:ln>
        </p:spPr>
        <p:txBody>
          <a:bodyPr/>
          <a:lstStyle/>
          <a:p>
            <a:endParaRPr lang="en-US"/>
          </a:p>
        </p:txBody>
      </p:sp>
      <p:sp>
        <p:nvSpPr>
          <p:cNvPr id="15" name="Rectangle 14">
            <a:extLst>
              <a:ext uri="{FF2B5EF4-FFF2-40B4-BE49-F238E27FC236}">
                <a16:creationId xmlns:a16="http://schemas.microsoft.com/office/drawing/2014/main" id="{E9D2956C-8ED8-48FB-9CCE-08E790180C79}"/>
              </a:ext>
            </a:extLst>
          </p:cNvPr>
          <p:cNvSpPr>
            <a:spLocks noGrp="1"/>
          </p:cNvSpPr>
          <p:nvPr/>
        </p:nvSpPr>
        <p:spPr>
          <a:xfrm>
            <a:off x="6362700" y="2219325"/>
            <a:ext cx="2000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E5AA8"/>
                </a:solidFill>
                <a:latin typeface="Nunito Sans"/>
                <a:ea typeface="Nunito Sans"/>
                <a:cs typeface="Nunito Sans"/>
              </a:defRPr>
            </a:pPr>
            <a:r>
              <a:rPr sz="975" b="1">
                <a:solidFill>
                  <a:srgbClr val="1E5AA8"/>
                </a:solidFill>
                <a:latin typeface="Nunito Sans"/>
                <a:ea typeface="Nunito Sans"/>
                <a:cs typeface="Nunito Sans"/>
              </a:rPr>
              <a:t>Held-out decision metrics</a:t>
            </a:r>
          </a:p>
        </p:txBody>
      </p:sp>
      <p:sp>
        <p:nvSpPr>
          <p:cNvPr id="16" name="Rounded Rectangle 15">
            <a:extLst>
              <a:ext uri="{FF2B5EF4-FFF2-40B4-BE49-F238E27FC236}">
                <a16:creationId xmlns:a16="http://schemas.microsoft.com/office/drawing/2014/main" id="{DADFCB33-CB4B-4DEF-9127-24CECFFFD020}"/>
              </a:ext>
            </a:extLst>
          </p:cNvPr>
          <p:cNvSpPr>
            <a:spLocks noGrp="1"/>
          </p:cNvSpPr>
          <p:nvPr/>
        </p:nvSpPr>
        <p:spPr>
          <a:xfrm>
            <a:off x="6362700" y="2562225"/>
            <a:ext cx="1390650" cy="1028700"/>
          </a:xfrm>
          <a:prstGeom prst="roundRect">
            <a:avLst>
              <a:gd name="adj" fmla="val 7407"/>
            </a:avLst>
          </a:prstGeom>
          <a:solidFill>
            <a:srgbClr val="F7FAFC"/>
          </a:solidFill>
          <a:ln w="9525">
            <a:solidFill>
              <a:srgbClr val="D8E1ED"/>
            </a:solidFill>
            <a:prstDash val="solid"/>
          </a:ln>
        </p:spPr>
        <p:txBody>
          <a:bodyPr/>
          <a:lstStyle/>
          <a:p>
            <a:endParaRPr lang="en-US"/>
          </a:p>
        </p:txBody>
      </p:sp>
      <p:sp>
        <p:nvSpPr>
          <p:cNvPr id="17" name="Rectangle 16">
            <a:extLst>
              <a:ext uri="{FF2B5EF4-FFF2-40B4-BE49-F238E27FC236}">
                <a16:creationId xmlns:a16="http://schemas.microsoft.com/office/drawing/2014/main" id="{CEE2F524-8594-4150-8EE1-68112514F859}"/>
              </a:ext>
            </a:extLst>
          </p:cNvPr>
          <p:cNvSpPr>
            <a:spLocks noGrp="1"/>
          </p:cNvSpPr>
          <p:nvPr/>
        </p:nvSpPr>
        <p:spPr>
          <a:xfrm>
            <a:off x="6362700" y="2562225"/>
            <a:ext cx="1390650" cy="57150"/>
          </a:xfrm>
          <a:prstGeom prst="rect">
            <a:avLst/>
          </a:prstGeom>
          <a:solidFill>
            <a:srgbClr val="C9832B"/>
          </a:solidFill>
          <a:ln w="0">
            <a:solidFill>
              <a:srgbClr val="C9832B"/>
            </a:solidFill>
            <a:prstDash val="solid"/>
          </a:ln>
        </p:spPr>
        <p:txBody>
          <a:bodyPr/>
          <a:lstStyle/>
          <a:p>
            <a:endParaRPr lang="en-US"/>
          </a:p>
        </p:txBody>
      </p:sp>
      <p:sp>
        <p:nvSpPr>
          <p:cNvPr id="18" name="Rectangle 17">
            <a:extLst>
              <a:ext uri="{FF2B5EF4-FFF2-40B4-BE49-F238E27FC236}">
                <a16:creationId xmlns:a16="http://schemas.microsoft.com/office/drawing/2014/main" id="{637D872C-7893-46C1-B97E-012CDDAF3096}"/>
              </a:ext>
            </a:extLst>
          </p:cNvPr>
          <p:cNvSpPr>
            <a:spLocks noGrp="1"/>
          </p:cNvSpPr>
          <p:nvPr/>
        </p:nvSpPr>
        <p:spPr>
          <a:xfrm>
            <a:off x="6534150" y="2733675"/>
            <a:ext cx="10477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A43"/>
                </a:solidFill>
                <a:latin typeface="Nunito Sans ExtraBold"/>
                <a:ea typeface="Nunito Sans ExtraBold"/>
                <a:cs typeface="Nunito Sans ExtraBold"/>
              </a:defRPr>
            </a:pPr>
            <a:r>
              <a:rPr sz="2250" b="1">
                <a:solidFill>
                  <a:srgbClr val="102A43"/>
                </a:solidFill>
                <a:latin typeface="Nunito Sans ExtraBold"/>
                <a:ea typeface="Nunito Sans ExtraBold"/>
                <a:cs typeface="Nunito Sans ExtraBold"/>
              </a:rPr>
              <a:t>69.7%</a:t>
            </a:r>
          </a:p>
        </p:txBody>
      </p:sp>
      <p:sp>
        <p:nvSpPr>
          <p:cNvPr id="19" name="Rectangle 18">
            <a:extLst>
              <a:ext uri="{FF2B5EF4-FFF2-40B4-BE49-F238E27FC236}">
                <a16:creationId xmlns:a16="http://schemas.microsoft.com/office/drawing/2014/main" id="{759E3D5A-65F3-4B9A-99D6-535D5626BC40}"/>
              </a:ext>
            </a:extLst>
          </p:cNvPr>
          <p:cNvSpPr>
            <a:spLocks noGrp="1"/>
          </p:cNvSpPr>
          <p:nvPr/>
        </p:nvSpPr>
        <p:spPr>
          <a:xfrm>
            <a:off x="6534150" y="3152775"/>
            <a:ext cx="1047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5B6B82"/>
                </a:solidFill>
                <a:latin typeface="Nunito Sans"/>
                <a:ea typeface="Nunito Sans"/>
                <a:cs typeface="Nunito Sans"/>
              </a:defRPr>
            </a:pPr>
            <a:r>
              <a:rPr sz="975" b="1">
                <a:solidFill>
                  <a:srgbClr val="5B6B82"/>
                </a:solidFill>
                <a:latin typeface="Nunito Sans"/>
                <a:ea typeface="Nunito Sans"/>
                <a:cs typeface="Nunito Sans"/>
              </a:rPr>
              <a:t>handrule acc.</a:t>
            </a:r>
          </a:p>
        </p:txBody>
      </p:sp>
      <p:sp>
        <p:nvSpPr>
          <p:cNvPr id="20" name="Rounded Rectangle 19">
            <a:extLst>
              <a:ext uri="{FF2B5EF4-FFF2-40B4-BE49-F238E27FC236}">
                <a16:creationId xmlns:a16="http://schemas.microsoft.com/office/drawing/2014/main" id="{5FF80AD4-8BF5-4BF9-852C-6FCC7F938DF9}"/>
              </a:ext>
            </a:extLst>
          </p:cNvPr>
          <p:cNvSpPr>
            <a:spLocks noGrp="1"/>
          </p:cNvSpPr>
          <p:nvPr/>
        </p:nvSpPr>
        <p:spPr>
          <a:xfrm>
            <a:off x="7905750" y="2562225"/>
            <a:ext cx="1390650" cy="1028700"/>
          </a:xfrm>
          <a:prstGeom prst="roundRect">
            <a:avLst>
              <a:gd name="adj" fmla="val 7407"/>
            </a:avLst>
          </a:prstGeom>
          <a:solidFill>
            <a:srgbClr val="F7FAFC"/>
          </a:solidFill>
          <a:ln w="9525">
            <a:solidFill>
              <a:srgbClr val="D8E1ED"/>
            </a:solidFill>
            <a:prstDash val="solid"/>
          </a:ln>
        </p:spPr>
        <p:txBody>
          <a:bodyPr/>
          <a:lstStyle/>
          <a:p>
            <a:endParaRPr lang="en-US"/>
          </a:p>
        </p:txBody>
      </p:sp>
      <p:sp>
        <p:nvSpPr>
          <p:cNvPr id="21" name="Rectangle 20">
            <a:extLst>
              <a:ext uri="{FF2B5EF4-FFF2-40B4-BE49-F238E27FC236}">
                <a16:creationId xmlns:a16="http://schemas.microsoft.com/office/drawing/2014/main" id="{6BB66392-A757-48F5-9CA7-A7DF08507F41}"/>
              </a:ext>
            </a:extLst>
          </p:cNvPr>
          <p:cNvSpPr>
            <a:spLocks noGrp="1"/>
          </p:cNvSpPr>
          <p:nvPr/>
        </p:nvSpPr>
        <p:spPr>
          <a:xfrm>
            <a:off x="7905750" y="2562225"/>
            <a:ext cx="1390650" cy="57150"/>
          </a:xfrm>
          <a:prstGeom prst="rect">
            <a:avLst/>
          </a:prstGeom>
          <a:solidFill>
            <a:srgbClr val="2D936C"/>
          </a:solidFill>
          <a:ln w="0">
            <a:solidFill>
              <a:srgbClr val="2D936C"/>
            </a:solidFill>
            <a:prstDash val="solid"/>
          </a:ln>
        </p:spPr>
        <p:txBody>
          <a:bodyPr/>
          <a:lstStyle/>
          <a:p>
            <a:endParaRPr lang="en-US"/>
          </a:p>
        </p:txBody>
      </p:sp>
      <p:sp>
        <p:nvSpPr>
          <p:cNvPr id="22" name="Rectangle 21">
            <a:extLst>
              <a:ext uri="{FF2B5EF4-FFF2-40B4-BE49-F238E27FC236}">
                <a16:creationId xmlns:a16="http://schemas.microsoft.com/office/drawing/2014/main" id="{F5B97176-B0D8-485F-93EA-857B76D7F318}"/>
              </a:ext>
            </a:extLst>
          </p:cNvPr>
          <p:cNvSpPr>
            <a:spLocks noGrp="1"/>
          </p:cNvSpPr>
          <p:nvPr/>
        </p:nvSpPr>
        <p:spPr>
          <a:xfrm>
            <a:off x="8077200" y="2733675"/>
            <a:ext cx="10477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A43"/>
                </a:solidFill>
                <a:latin typeface="Nunito Sans ExtraBold"/>
                <a:ea typeface="Nunito Sans ExtraBold"/>
                <a:cs typeface="Nunito Sans ExtraBold"/>
              </a:defRPr>
            </a:pPr>
            <a:r>
              <a:rPr sz="2250" b="1">
                <a:solidFill>
                  <a:srgbClr val="102A43"/>
                </a:solidFill>
                <a:latin typeface="Nunito Sans ExtraBold"/>
                <a:ea typeface="Nunito Sans ExtraBold"/>
                <a:cs typeface="Nunito Sans ExtraBold"/>
              </a:rPr>
              <a:t>90.9%</a:t>
            </a:r>
          </a:p>
        </p:txBody>
      </p:sp>
      <p:sp>
        <p:nvSpPr>
          <p:cNvPr id="23" name="Rectangle 22">
            <a:extLst>
              <a:ext uri="{FF2B5EF4-FFF2-40B4-BE49-F238E27FC236}">
                <a16:creationId xmlns:a16="http://schemas.microsoft.com/office/drawing/2014/main" id="{EC4064E8-794A-474C-8EB5-7A9E024A376C}"/>
              </a:ext>
            </a:extLst>
          </p:cNvPr>
          <p:cNvSpPr>
            <a:spLocks noGrp="1"/>
          </p:cNvSpPr>
          <p:nvPr/>
        </p:nvSpPr>
        <p:spPr>
          <a:xfrm>
            <a:off x="8077200" y="3152775"/>
            <a:ext cx="1047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5B6B82"/>
                </a:solidFill>
                <a:latin typeface="Nunito Sans"/>
                <a:ea typeface="Nunito Sans"/>
                <a:cs typeface="Nunito Sans"/>
              </a:defRPr>
            </a:pPr>
            <a:r>
              <a:rPr sz="975" b="1">
                <a:solidFill>
                  <a:srgbClr val="5B6B82"/>
                </a:solidFill>
                <a:latin typeface="Nunito Sans"/>
                <a:ea typeface="Nunito Sans"/>
                <a:cs typeface="Nunito Sans"/>
              </a:rPr>
              <a:t>full gate acc.</a:t>
            </a:r>
          </a:p>
        </p:txBody>
      </p:sp>
      <p:sp>
        <p:nvSpPr>
          <p:cNvPr id="24" name="Rounded Rectangle 23">
            <a:extLst>
              <a:ext uri="{FF2B5EF4-FFF2-40B4-BE49-F238E27FC236}">
                <a16:creationId xmlns:a16="http://schemas.microsoft.com/office/drawing/2014/main" id="{6B220F8D-8889-4457-8EB2-E88359F6B458}"/>
              </a:ext>
            </a:extLst>
          </p:cNvPr>
          <p:cNvSpPr>
            <a:spLocks noGrp="1"/>
          </p:cNvSpPr>
          <p:nvPr/>
        </p:nvSpPr>
        <p:spPr>
          <a:xfrm>
            <a:off x="9448800" y="2562225"/>
            <a:ext cx="1390650" cy="1028700"/>
          </a:xfrm>
          <a:prstGeom prst="roundRect">
            <a:avLst>
              <a:gd name="adj" fmla="val 7407"/>
            </a:avLst>
          </a:prstGeom>
          <a:solidFill>
            <a:srgbClr val="F7FAFC"/>
          </a:solidFill>
          <a:ln w="9525">
            <a:solidFill>
              <a:srgbClr val="D8E1ED"/>
            </a:solidFill>
            <a:prstDash val="solid"/>
          </a:ln>
        </p:spPr>
        <p:txBody>
          <a:bodyPr/>
          <a:lstStyle/>
          <a:p>
            <a:endParaRPr lang="en-US"/>
          </a:p>
        </p:txBody>
      </p:sp>
      <p:sp>
        <p:nvSpPr>
          <p:cNvPr id="25" name="Rectangle 24">
            <a:extLst>
              <a:ext uri="{FF2B5EF4-FFF2-40B4-BE49-F238E27FC236}">
                <a16:creationId xmlns:a16="http://schemas.microsoft.com/office/drawing/2014/main" id="{EC96EED0-9053-4F32-9444-0AF6C8334740}"/>
              </a:ext>
            </a:extLst>
          </p:cNvPr>
          <p:cNvSpPr>
            <a:spLocks noGrp="1"/>
          </p:cNvSpPr>
          <p:nvPr/>
        </p:nvSpPr>
        <p:spPr>
          <a:xfrm>
            <a:off x="9448800" y="2562225"/>
            <a:ext cx="1390650" cy="57150"/>
          </a:xfrm>
          <a:prstGeom prst="rect">
            <a:avLst/>
          </a:prstGeom>
          <a:solidFill>
            <a:srgbClr val="1E5AA8"/>
          </a:solidFill>
          <a:ln w="0">
            <a:solidFill>
              <a:srgbClr val="1E5AA8"/>
            </a:solidFill>
            <a:prstDash val="solid"/>
          </a:ln>
        </p:spPr>
        <p:txBody>
          <a:bodyPr/>
          <a:lstStyle/>
          <a:p>
            <a:endParaRPr lang="en-US"/>
          </a:p>
        </p:txBody>
      </p:sp>
      <p:sp>
        <p:nvSpPr>
          <p:cNvPr id="26" name="Rectangle 25">
            <a:extLst>
              <a:ext uri="{FF2B5EF4-FFF2-40B4-BE49-F238E27FC236}">
                <a16:creationId xmlns:a16="http://schemas.microsoft.com/office/drawing/2014/main" id="{40424B44-533D-45A7-8218-D193AB57B727}"/>
              </a:ext>
            </a:extLst>
          </p:cNvPr>
          <p:cNvSpPr>
            <a:spLocks noGrp="1"/>
          </p:cNvSpPr>
          <p:nvPr/>
        </p:nvSpPr>
        <p:spPr>
          <a:xfrm>
            <a:off x="9620250" y="2733675"/>
            <a:ext cx="10477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A43"/>
                </a:solidFill>
                <a:latin typeface="Nunito Sans ExtraBold"/>
                <a:ea typeface="Nunito Sans ExtraBold"/>
                <a:cs typeface="Nunito Sans ExtraBold"/>
              </a:defRPr>
            </a:pPr>
            <a:r>
              <a:rPr sz="2250" b="1">
                <a:solidFill>
                  <a:srgbClr val="102A43"/>
                </a:solidFill>
                <a:latin typeface="Nunito Sans ExtraBold"/>
                <a:ea typeface="Nunito Sans ExtraBold"/>
                <a:cs typeface="Nunito Sans ExtraBold"/>
              </a:rPr>
              <a:t>97.0%</a:t>
            </a:r>
          </a:p>
        </p:txBody>
      </p:sp>
      <p:sp>
        <p:nvSpPr>
          <p:cNvPr id="27" name="Rectangle 26">
            <a:extLst>
              <a:ext uri="{FF2B5EF4-FFF2-40B4-BE49-F238E27FC236}">
                <a16:creationId xmlns:a16="http://schemas.microsoft.com/office/drawing/2014/main" id="{A16BFBFC-E133-4C1B-B5C3-8ED779B9040B}"/>
              </a:ext>
            </a:extLst>
          </p:cNvPr>
          <p:cNvSpPr>
            <a:spLocks noGrp="1"/>
          </p:cNvSpPr>
          <p:nvPr/>
        </p:nvSpPr>
        <p:spPr>
          <a:xfrm>
            <a:off x="9620250" y="3152775"/>
            <a:ext cx="1047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5B6B82"/>
                </a:solidFill>
                <a:latin typeface="Nunito Sans"/>
                <a:ea typeface="Nunito Sans"/>
                <a:cs typeface="Nunito Sans"/>
              </a:defRPr>
            </a:pPr>
            <a:r>
              <a:rPr sz="975" b="1">
                <a:solidFill>
                  <a:srgbClr val="5B6B82"/>
                </a:solidFill>
                <a:latin typeface="Nunito Sans"/>
                <a:ea typeface="Nunito Sans"/>
                <a:cs typeface="Nunito Sans"/>
              </a:rPr>
              <a:t>compact gate acc.</a:t>
            </a:r>
          </a:p>
        </p:txBody>
      </p:sp>
      <p:sp>
        <p:nvSpPr>
          <p:cNvPr id="28" name="Rectangle 27">
            <a:extLst>
              <a:ext uri="{FF2B5EF4-FFF2-40B4-BE49-F238E27FC236}">
                <a16:creationId xmlns:a16="http://schemas.microsoft.com/office/drawing/2014/main" id="{67A63C99-6AAE-4A5C-9149-803B5D92E2E6}"/>
              </a:ext>
            </a:extLst>
          </p:cNvPr>
          <p:cNvSpPr>
            <a:spLocks noGrp="1"/>
          </p:cNvSpPr>
          <p:nvPr/>
        </p:nvSpPr>
        <p:spPr>
          <a:xfrm>
            <a:off x="6477000" y="3952875"/>
            <a:ext cx="4095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2A43"/>
                </a:solidFill>
                <a:latin typeface="Nunito Sans"/>
                <a:ea typeface="Nunito Sans"/>
                <a:cs typeface="Nunito Sans"/>
              </a:defRPr>
            </a:pPr>
            <a:r>
              <a:rPr sz="1200" b="0">
                <a:solidFill>
                  <a:srgbClr val="102A43"/>
                </a:solidFill>
                <a:latin typeface="Nunito Sans"/>
                <a:ea typeface="Nunito Sans"/>
                <a:cs typeface="Nunito Sans"/>
              </a:rPr>
              <a:t>- Auto-select chose logistic over MLP.</a:t>
            </a:r>
          </a:p>
        </p:txBody>
      </p:sp>
      <p:sp>
        <p:nvSpPr>
          <p:cNvPr id="29" name="Rectangle 28">
            <a:extLst>
              <a:ext uri="{FF2B5EF4-FFF2-40B4-BE49-F238E27FC236}">
                <a16:creationId xmlns:a16="http://schemas.microsoft.com/office/drawing/2014/main" id="{90482989-0747-4E9B-B7E9-8ED38D0E6570}"/>
              </a:ext>
            </a:extLst>
          </p:cNvPr>
          <p:cNvSpPr>
            <a:spLocks noGrp="1"/>
          </p:cNvSpPr>
          <p:nvPr/>
        </p:nvSpPr>
        <p:spPr>
          <a:xfrm>
            <a:off x="6477000" y="4238625"/>
            <a:ext cx="4095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2A43"/>
                </a:solidFill>
                <a:latin typeface="Nunito Sans"/>
                <a:ea typeface="Nunito Sans"/>
                <a:cs typeface="Nunito Sans"/>
              </a:defRPr>
            </a:pPr>
            <a:r>
              <a:rPr sz="1200" b="0">
                <a:solidFill>
                  <a:srgbClr val="102A43"/>
                </a:solidFill>
                <a:latin typeface="Nunito Sans"/>
                <a:ea typeface="Nunito Sans"/>
                <a:cs typeface="Nunito Sans"/>
              </a:rPr>
              <a:t>- False-skip drops from 12.1% (handrule) to 3.0% (full or compact).</a:t>
            </a:r>
          </a:p>
        </p:txBody>
      </p:sp>
      <p:sp>
        <p:nvSpPr>
          <p:cNvPr id="30" name="Rectangle 29">
            <a:extLst>
              <a:ext uri="{FF2B5EF4-FFF2-40B4-BE49-F238E27FC236}">
                <a16:creationId xmlns:a16="http://schemas.microsoft.com/office/drawing/2014/main" id="{4E6E6321-2CD5-4989-9B8E-1943C64F5092}"/>
              </a:ext>
            </a:extLst>
          </p:cNvPr>
          <p:cNvSpPr>
            <a:spLocks noGrp="1"/>
          </p:cNvSpPr>
          <p:nvPr/>
        </p:nvSpPr>
        <p:spPr>
          <a:xfrm>
            <a:off x="6477000" y="4709386"/>
            <a:ext cx="4095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02A43"/>
                </a:solidFill>
                <a:latin typeface="Nunito Sans"/>
                <a:ea typeface="Nunito Sans"/>
                <a:cs typeface="Nunito Sans"/>
              </a:defRPr>
            </a:pPr>
            <a:r>
              <a:rPr sz="1200" b="0" dirty="0">
                <a:solidFill>
                  <a:srgbClr val="102A43"/>
                </a:solidFill>
                <a:latin typeface="Nunito Sans"/>
                <a:ea typeface="Nunito Sans"/>
                <a:cs typeface="Nunito Sans"/>
              </a:rPr>
              <a:t>- Compact gate shows the result is not just feature bloat.</a:t>
            </a:r>
          </a:p>
        </p:txBody>
      </p:sp>
    </p:spTree>
    <p:extLst>
      <p:ext uri="{BB962C8B-B14F-4D97-AF65-F5344CB8AC3E}">
        <p14:creationId xmlns:p14="http://schemas.microsoft.com/office/powerpoint/2010/main" val="1521967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ABB495-86BD-449B-96F4-977E3475DFFC}"/>
              </a:ext>
            </a:extLst>
          </p:cNvPr>
          <p:cNvSpPr>
            <a:spLocks noGrp="1"/>
          </p:cNvSpPr>
          <p:nvPr/>
        </p:nvSpPr>
        <p:spPr>
          <a:xfrm>
            <a:off x="533400" y="571500"/>
            <a:ext cx="11125200" cy="19050"/>
          </a:xfrm>
          <a:prstGeom prst="rect">
            <a:avLst/>
          </a:prstGeom>
          <a:solidFill>
            <a:srgbClr val="1E5AA8"/>
          </a:solidFill>
          <a:ln w="0">
            <a:solidFill>
              <a:srgbClr val="1E5AA8"/>
            </a:solidFill>
            <a:prstDash val="solid"/>
          </a:ln>
        </p:spPr>
        <p:txBody>
          <a:bodyPr/>
          <a:lstStyle/>
          <a:p>
            <a:endParaRPr lang="en-US"/>
          </a:p>
        </p:txBody>
      </p:sp>
      <p:sp>
        <p:nvSpPr>
          <p:cNvPr id="3" name="Rectangle 2">
            <a:extLst>
              <a:ext uri="{FF2B5EF4-FFF2-40B4-BE49-F238E27FC236}">
                <a16:creationId xmlns:a16="http://schemas.microsoft.com/office/drawing/2014/main" id="{6541A94D-4293-472E-A6FD-AA9C9465C9ED}"/>
              </a:ext>
            </a:extLst>
          </p:cNvPr>
          <p:cNvSpPr>
            <a:spLocks noGrp="1"/>
          </p:cNvSpPr>
          <p:nvPr/>
        </p:nvSpPr>
        <p:spPr>
          <a:xfrm>
            <a:off x="571500" y="247650"/>
            <a:ext cx="7810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02A43"/>
                </a:solidFill>
                <a:latin typeface="Nunito Sans ExtraBold"/>
                <a:ea typeface="Nunito Sans ExtraBold"/>
                <a:cs typeface="Nunito Sans ExtraBold"/>
              </a:defRPr>
            </a:pPr>
            <a:r>
              <a:rPr sz="2100" b="1">
                <a:solidFill>
                  <a:srgbClr val="102A43"/>
                </a:solidFill>
                <a:latin typeface="Nunito Sans ExtraBold"/>
                <a:ea typeface="Nunito Sans ExtraBold"/>
                <a:cs typeface="Nunito Sans ExtraBold"/>
              </a:rPr>
              <a:t>Feature Ablation: Full vs Compact Gate</a:t>
            </a:r>
          </a:p>
        </p:txBody>
      </p:sp>
      <p:sp>
        <p:nvSpPr>
          <p:cNvPr id="4" name="Rectangle 3">
            <a:extLst>
              <a:ext uri="{FF2B5EF4-FFF2-40B4-BE49-F238E27FC236}">
                <a16:creationId xmlns:a16="http://schemas.microsoft.com/office/drawing/2014/main" id="{F7A1393E-092F-494D-9231-38AC97BEC257}"/>
              </a:ext>
            </a:extLst>
          </p:cNvPr>
          <p:cNvSpPr>
            <a:spLocks noGrp="1"/>
          </p:cNvSpPr>
          <p:nvPr/>
        </p:nvSpPr>
        <p:spPr>
          <a:xfrm>
            <a:off x="10572750" y="247650"/>
            <a:ext cx="1047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B6B82"/>
                </a:solidFill>
                <a:latin typeface="Nunito Sans"/>
                <a:ea typeface="Nunito Sans"/>
                <a:cs typeface="Nunito Sans"/>
              </a:defRPr>
            </a:pPr>
            <a:r>
              <a:rPr sz="825" b="1">
                <a:solidFill>
                  <a:srgbClr val="5B6B82"/>
                </a:solidFill>
                <a:latin typeface="Nunito Sans"/>
                <a:ea typeface="Nunito Sans"/>
                <a:cs typeface="Nunito Sans"/>
              </a:rPr>
              <a:t>07 / 12</a:t>
            </a:r>
          </a:p>
        </p:txBody>
      </p:sp>
      <p:sp>
        <p:nvSpPr>
          <p:cNvPr id="5" name="Rectangle 4">
            <a:extLst>
              <a:ext uri="{FF2B5EF4-FFF2-40B4-BE49-F238E27FC236}">
                <a16:creationId xmlns:a16="http://schemas.microsoft.com/office/drawing/2014/main" id="{E8222584-1622-4816-AD51-DAE464A60D9D}"/>
              </a:ext>
            </a:extLst>
          </p:cNvPr>
          <p:cNvSpPr>
            <a:spLocks noGrp="1"/>
          </p:cNvSpPr>
          <p:nvPr/>
        </p:nvSpPr>
        <p:spPr>
          <a:xfrm>
            <a:off x="571500" y="6553200"/>
            <a:ext cx="3429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Selective Observation for Browser Agents</a:t>
            </a:r>
          </a:p>
        </p:txBody>
      </p:sp>
      <p:sp>
        <p:nvSpPr>
          <p:cNvPr id="6" name="Rectangle 5">
            <a:extLst>
              <a:ext uri="{FF2B5EF4-FFF2-40B4-BE49-F238E27FC236}">
                <a16:creationId xmlns:a16="http://schemas.microsoft.com/office/drawing/2014/main" id="{C91D76BB-9F5A-4544-9BA5-ED1B0E1A9C5A}"/>
              </a:ext>
            </a:extLst>
          </p:cNvPr>
          <p:cNvSpPr>
            <a:spLocks noGrp="1"/>
          </p:cNvSpPr>
          <p:nvPr/>
        </p:nvSpPr>
        <p:spPr>
          <a:xfrm>
            <a:off x="9810750" y="6553200"/>
            <a:ext cx="180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1">
                <a:solidFill>
                  <a:srgbClr val="1E5AA8"/>
                </a:solidFill>
                <a:latin typeface="Nunito Sans"/>
                <a:ea typeface="Nunito Sans"/>
                <a:cs typeface="Nunito Sans"/>
              </a:defRPr>
            </a:pPr>
            <a:r>
              <a:rPr sz="675" b="1">
                <a:solidFill>
                  <a:srgbClr val="1E5AA8"/>
                </a:solidFill>
                <a:latin typeface="Nunito Sans"/>
                <a:ea typeface="Nunito Sans"/>
                <a:cs typeface="Nunito Sans"/>
              </a:rPr>
              <a:t>UC SANTA BARBARA</a:t>
            </a:r>
          </a:p>
        </p:txBody>
      </p:sp>
      <p:sp>
        <p:nvSpPr>
          <p:cNvPr id="7" name="Rectangle 6">
            <a:extLst>
              <a:ext uri="{FF2B5EF4-FFF2-40B4-BE49-F238E27FC236}">
                <a16:creationId xmlns:a16="http://schemas.microsoft.com/office/drawing/2014/main" id="{AAC52258-C98F-4A95-BD97-0E4AE8E2168C}"/>
              </a:ext>
            </a:extLst>
          </p:cNvPr>
          <p:cNvSpPr>
            <a:spLocks noGrp="1"/>
          </p:cNvSpPr>
          <p:nvPr/>
        </p:nvSpPr>
        <p:spPr>
          <a:xfrm>
            <a:off x="571500" y="914400"/>
            <a:ext cx="72390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A43"/>
                </a:solidFill>
                <a:latin typeface="Nunito Sans ExtraBold"/>
                <a:ea typeface="Nunito Sans ExtraBold"/>
                <a:cs typeface="Nunito Sans ExtraBold"/>
              </a:defRPr>
            </a:pPr>
            <a:r>
              <a:rPr sz="2250" b="1">
                <a:solidFill>
                  <a:srgbClr val="102A43"/>
                </a:solidFill>
                <a:latin typeface="Nunito Sans ExtraBold"/>
                <a:ea typeface="Nunito Sans ExtraBold"/>
                <a:cs typeface="Nunito Sans ExtraBold"/>
              </a:rPr>
              <a:t>The learned result survives a much smaller feature set.</a:t>
            </a:r>
          </a:p>
        </p:txBody>
      </p:sp>
      <p:sp>
        <p:nvSpPr>
          <p:cNvPr id="8" name="Rounded Rectangle 7">
            <a:extLst>
              <a:ext uri="{FF2B5EF4-FFF2-40B4-BE49-F238E27FC236}">
                <a16:creationId xmlns:a16="http://schemas.microsoft.com/office/drawing/2014/main" id="{ABAFFD9C-006D-4964-8903-B6D66B0300AF}"/>
              </a:ext>
            </a:extLst>
          </p:cNvPr>
          <p:cNvSpPr>
            <a:spLocks noGrp="1"/>
          </p:cNvSpPr>
          <p:nvPr/>
        </p:nvSpPr>
        <p:spPr>
          <a:xfrm>
            <a:off x="685800" y="2000250"/>
            <a:ext cx="4953000" cy="3848100"/>
          </a:xfrm>
          <a:prstGeom prst="roundRect">
            <a:avLst>
              <a:gd name="adj" fmla="val 1980"/>
            </a:avLst>
          </a:prstGeom>
          <a:solidFill>
            <a:srgbClr val="FFFFFF"/>
          </a:solidFill>
          <a:ln w="9525">
            <a:solidFill>
              <a:srgbClr val="D8E1ED"/>
            </a:solidFill>
            <a:prstDash val="solid"/>
          </a:ln>
        </p:spPr>
        <p:txBody>
          <a:bodyPr/>
          <a:lstStyle/>
          <a:p>
            <a:endParaRPr lang="en-US"/>
          </a:p>
        </p:txBody>
      </p:sp>
      <p:sp>
        <p:nvSpPr>
          <p:cNvPr id="9" name="Rectangle 8">
            <a:extLst>
              <a:ext uri="{FF2B5EF4-FFF2-40B4-BE49-F238E27FC236}">
                <a16:creationId xmlns:a16="http://schemas.microsoft.com/office/drawing/2014/main" id="{4477BECF-BAF6-4C38-9348-1FC92D7A2FD9}"/>
              </a:ext>
            </a:extLst>
          </p:cNvPr>
          <p:cNvSpPr>
            <a:spLocks noGrp="1"/>
          </p:cNvSpPr>
          <p:nvPr/>
        </p:nvSpPr>
        <p:spPr>
          <a:xfrm>
            <a:off x="685800" y="2000250"/>
            <a:ext cx="4953000" cy="57150"/>
          </a:xfrm>
          <a:prstGeom prst="rect">
            <a:avLst/>
          </a:prstGeom>
          <a:solidFill>
            <a:srgbClr val="2D936C"/>
          </a:solidFill>
          <a:ln w="0">
            <a:solidFill>
              <a:srgbClr val="2D936C"/>
            </a:solidFill>
            <a:prstDash val="solid"/>
          </a:ln>
        </p:spPr>
        <p:txBody>
          <a:bodyPr/>
          <a:lstStyle/>
          <a:p>
            <a:endParaRPr lang="en-US"/>
          </a:p>
        </p:txBody>
      </p:sp>
      <p:sp>
        <p:nvSpPr>
          <p:cNvPr id="10" name="Rectangle 9">
            <a:extLst>
              <a:ext uri="{FF2B5EF4-FFF2-40B4-BE49-F238E27FC236}">
                <a16:creationId xmlns:a16="http://schemas.microsoft.com/office/drawing/2014/main" id="{C9F15455-8176-49DB-B03E-BB27D03BE656}"/>
              </a:ext>
            </a:extLst>
          </p:cNvPr>
          <p:cNvSpPr>
            <a:spLocks noGrp="1"/>
          </p:cNvSpPr>
          <p:nvPr/>
        </p:nvSpPr>
        <p:spPr>
          <a:xfrm>
            <a:off x="914400" y="2286000"/>
            <a:ext cx="2667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102A43"/>
                </a:solidFill>
                <a:latin typeface="Nunito Sans ExtraBold"/>
                <a:ea typeface="Nunito Sans ExtraBold"/>
                <a:cs typeface="Nunito Sans ExtraBold"/>
              </a:defRPr>
            </a:pPr>
            <a:r>
              <a:rPr sz="1875" b="1">
                <a:solidFill>
                  <a:srgbClr val="102A43"/>
                </a:solidFill>
                <a:latin typeface="Nunito Sans ExtraBold"/>
                <a:ea typeface="Nunito Sans ExtraBold"/>
                <a:cs typeface="Nunito Sans ExtraBold"/>
              </a:rPr>
              <a:t>Full logistic gate</a:t>
            </a:r>
          </a:p>
        </p:txBody>
      </p:sp>
      <p:sp>
        <p:nvSpPr>
          <p:cNvPr id="11" name="Rectangle 10">
            <a:extLst>
              <a:ext uri="{FF2B5EF4-FFF2-40B4-BE49-F238E27FC236}">
                <a16:creationId xmlns:a16="http://schemas.microsoft.com/office/drawing/2014/main" id="{6B1DE1FE-7210-4251-AFE5-F7CCA1E2897E}"/>
              </a:ext>
            </a:extLst>
          </p:cNvPr>
          <p:cNvSpPr>
            <a:spLocks noGrp="1"/>
          </p:cNvSpPr>
          <p:nvPr/>
        </p:nvSpPr>
        <p:spPr>
          <a:xfrm>
            <a:off x="933450" y="2609850"/>
            <a:ext cx="1905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5B6B82"/>
                </a:solidFill>
                <a:latin typeface="Nunito Sans"/>
                <a:ea typeface="Nunito Sans"/>
                <a:cs typeface="Nunito Sans"/>
              </a:defRPr>
            </a:pPr>
            <a:r>
              <a:rPr sz="975" b="1">
                <a:solidFill>
                  <a:srgbClr val="5B6B82"/>
                </a:solidFill>
                <a:latin typeface="Nunito Sans"/>
                <a:ea typeface="Nunito Sans"/>
                <a:cs typeface="Nunito Sans"/>
              </a:rPr>
              <a:t>14 non-bias features + bias</a:t>
            </a:r>
          </a:p>
        </p:txBody>
      </p:sp>
      <p:sp>
        <p:nvSpPr>
          <p:cNvPr id="12" name="Rounded Rectangle 11">
            <a:extLst>
              <a:ext uri="{FF2B5EF4-FFF2-40B4-BE49-F238E27FC236}">
                <a16:creationId xmlns:a16="http://schemas.microsoft.com/office/drawing/2014/main" id="{C97E8951-8FAE-46EA-8AAB-6400E4E8AAF4}"/>
              </a:ext>
            </a:extLst>
          </p:cNvPr>
          <p:cNvSpPr>
            <a:spLocks noGrp="1"/>
          </p:cNvSpPr>
          <p:nvPr/>
        </p:nvSpPr>
        <p:spPr>
          <a:xfrm>
            <a:off x="914400" y="3067050"/>
            <a:ext cx="1466850" cy="266700"/>
          </a:xfrm>
          <a:prstGeom prst="roundRect">
            <a:avLst>
              <a:gd name="adj" fmla="val 28571"/>
            </a:avLst>
          </a:prstGeom>
          <a:solidFill>
            <a:srgbClr val="F3FBF8"/>
          </a:solidFill>
          <a:ln w="9525">
            <a:solidFill>
              <a:srgbClr val="D8E1ED"/>
            </a:solidFill>
            <a:prstDash val="solid"/>
          </a:ln>
        </p:spPr>
        <p:txBody>
          <a:bodyPr/>
          <a:lstStyle/>
          <a:p>
            <a:endParaRPr lang="en-US"/>
          </a:p>
        </p:txBody>
      </p:sp>
      <p:sp>
        <p:nvSpPr>
          <p:cNvPr id="13" name="Rectangle 12">
            <a:extLst>
              <a:ext uri="{FF2B5EF4-FFF2-40B4-BE49-F238E27FC236}">
                <a16:creationId xmlns:a16="http://schemas.microsoft.com/office/drawing/2014/main" id="{68940D07-DB6F-4D1D-B18F-C9BE256BC3EB}"/>
              </a:ext>
            </a:extLst>
          </p:cNvPr>
          <p:cNvSpPr>
            <a:spLocks noGrp="1"/>
          </p:cNvSpPr>
          <p:nvPr/>
        </p:nvSpPr>
        <p:spPr>
          <a:xfrm>
            <a:off x="1009650" y="3133725"/>
            <a:ext cx="12763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02A43"/>
                </a:solidFill>
                <a:latin typeface="Nunito Sans"/>
                <a:ea typeface="Nunito Sans"/>
                <a:cs typeface="Nunito Sans"/>
              </a:defRPr>
            </a:pPr>
            <a:r>
              <a:rPr sz="825" b="1">
                <a:solidFill>
                  <a:srgbClr val="102A43"/>
                </a:solidFill>
                <a:latin typeface="Nunito Sans"/>
                <a:ea typeface="Nunito Sans"/>
                <a:cs typeface="Nunito Sans"/>
              </a:rPr>
              <a:t>no_plan</a:t>
            </a:r>
          </a:p>
        </p:txBody>
      </p:sp>
      <p:sp>
        <p:nvSpPr>
          <p:cNvPr id="14" name="Rounded Rectangle 13">
            <a:extLst>
              <a:ext uri="{FF2B5EF4-FFF2-40B4-BE49-F238E27FC236}">
                <a16:creationId xmlns:a16="http://schemas.microsoft.com/office/drawing/2014/main" id="{C33125D6-26C0-4630-B0A9-FCD169305621}"/>
              </a:ext>
            </a:extLst>
          </p:cNvPr>
          <p:cNvSpPr>
            <a:spLocks noGrp="1"/>
          </p:cNvSpPr>
          <p:nvPr/>
        </p:nvSpPr>
        <p:spPr>
          <a:xfrm>
            <a:off x="2381250" y="3067050"/>
            <a:ext cx="1466850" cy="266700"/>
          </a:xfrm>
          <a:prstGeom prst="roundRect">
            <a:avLst>
              <a:gd name="adj" fmla="val 28571"/>
            </a:avLst>
          </a:prstGeom>
          <a:solidFill>
            <a:srgbClr val="F3FBF8"/>
          </a:solidFill>
          <a:ln w="9525">
            <a:solidFill>
              <a:srgbClr val="D8E1ED"/>
            </a:solidFill>
            <a:prstDash val="solid"/>
          </a:ln>
        </p:spPr>
        <p:txBody>
          <a:bodyPr/>
          <a:lstStyle/>
          <a:p>
            <a:endParaRPr lang="en-US"/>
          </a:p>
        </p:txBody>
      </p:sp>
      <p:sp>
        <p:nvSpPr>
          <p:cNvPr id="15" name="Rectangle 14">
            <a:extLst>
              <a:ext uri="{FF2B5EF4-FFF2-40B4-BE49-F238E27FC236}">
                <a16:creationId xmlns:a16="http://schemas.microsoft.com/office/drawing/2014/main" id="{C1B19E68-8245-4A3E-B67F-BB8AC5161DB1}"/>
              </a:ext>
            </a:extLst>
          </p:cNvPr>
          <p:cNvSpPr>
            <a:spLocks noGrp="1"/>
          </p:cNvSpPr>
          <p:nvPr/>
        </p:nvSpPr>
        <p:spPr>
          <a:xfrm>
            <a:off x="2476500" y="3133725"/>
            <a:ext cx="12763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02A43"/>
                </a:solidFill>
                <a:latin typeface="Nunito Sans"/>
                <a:ea typeface="Nunito Sans"/>
                <a:cs typeface="Nunito Sans"/>
              </a:defRPr>
            </a:pPr>
            <a:r>
              <a:rPr sz="825" b="1">
                <a:solidFill>
                  <a:srgbClr val="102A43"/>
                </a:solidFill>
                <a:latin typeface="Nunito Sans"/>
                <a:ea typeface="Nunito Sans"/>
                <a:cs typeface="Nunito Sans"/>
              </a:rPr>
              <a:t>screen_changed_last</a:t>
            </a:r>
          </a:p>
        </p:txBody>
      </p:sp>
      <p:sp>
        <p:nvSpPr>
          <p:cNvPr id="16" name="Rounded Rectangle 15">
            <a:extLst>
              <a:ext uri="{FF2B5EF4-FFF2-40B4-BE49-F238E27FC236}">
                <a16:creationId xmlns:a16="http://schemas.microsoft.com/office/drawing/2014/main" id="{C1E8B0B1-8C59-4C90-84D0-570856F06E63}"/>
              </a:ext>
            </a:extLst>
          </p:cNvPr>
          <p:cNvSpPr>
            <a:spLocks noGrp="1"/>
          </p:cNvSpPr>
          <p:nvPr/>
        </p:nvSpPr>
        <p:spPr>
          <a:xfrm>
            <a:off x="3848100" y="3067050"/>
            <a:ext cx="1466850" cy="266700"/>
          </a:xfrm>
          <a:prstGeom prst="roundRect">
            <a:avLst>
              <a:gd name="adj" fmla="val 28571"/>
            </a:avLst>
          </a:prstGeom>
          <a:solidFill>
            <a:srgbClr val="F3FBF8"/>
          </a:solidFill>
          <a:ln w="9525">
            <a:solidFill>
              <a:srgbClr val="D8E1ED"/>
            </a:solidFill>
            <a:prstDash val="solid"/>
          </a:ln>
        </p:spPr>
        <p:txBody>
          <a:bodyPr/>
          <a:lstStyle/>
          <a:p>
            <a:endParaRPr lang="en-US"/>
          </a:p>
        </p:txBody>
      </p:sp>
      <p:sp>
        <p:nvSpPr>
          <p:cNvPr id="17" name="Rectangle 16">
            <a:extLst>
              <a:ext uri="{FF2B5EF4-FFF2-40B4-BE49-F238E27FC236}">
                <a16:creationId xmlns:a16="http://schemas.microsoft.com/office/drawing/2014/main" id="{4D7E2548-ECB0-43A2-80E7-39ED8F6012F8}"/>
              </a:ext>
            </a:extLst>
          </p:cNvPr>
          <p:cNvSpPr>
            <a:spLocks noGrp="1"/>
          </p:cNvSpPr>
          <p:nvPr/>
        </p:nvSpPr>
        <p:spPr>
          <a:xfrm>
            <a:off x="3943350" y="3133725"/>
            <a:ext cx="12763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02A43"/>
                </a:solidFill>
                <a:latin typeface="Nunito Sans"/>
                <a:ea typeface="Nunito Sans"/>
                <a:cs typeface="Nunito Sans"/>
              </a:defRPr>
            </a:pPr>
            <a:r>
              <a:rPr sz="825" b="1">
                <a:solidFill>
                  <a:srgbClr val="102A43"/>
                </a:solidFill>
                <a:latin typeface="Nunito Sans"/>
                <a:ea typeface="Nunito Sans"/>
                <a:cs typeface="Nunito Sans"/>
              </a:rPr>
              <a:t>candidates_changed_last</a:t>
            </a:r>
          </a:p>
        </p:txBody>
      </p:sp>
      <p:sp>
        <p:nvSpPr>
          <p:cNvPr id="18" name="Rounded Rectangle 17">
            <a:extLst>
              <a:ext uri="{FF2B5EF4-FFF2-40B4-BE49-F238E27FC236}">
                <a16:creationId xmlns:a16="http://schemas.microsoft.com/office/drawing/2014/main" id="{EC11544C-1DF0-4B4D-B1C0-EE4E07545B7B}"/>
              </a:ext>
            </a:extLst>
          </p:cNvPr>
          <p:cNvSpPr>
            <a:spLocks noGrp="1"/>
          </p:cNvSpPr>
          <p:nvPr/>
        </p:nvSpPr>
        <p:spPr>
          <a:xfrm>
            <a:off x="914400" y="3429000"/>
            <a:ext cx="1466850" cy="266700"/>
          </a:xfrm>
          <a:prstGeom prst="roundRect">
            <a:avLst>
              <a:gd name="adj" fmla="val 28571"/>
            </a:avLst>
          </a:prstGeom>
          <a:solidFill>
            <a:srgbClr val="F3FBF8"/>
          </a:solidFill>
          <a:ln w="9525">
            <a:solidFill>
              <a:srgbClr val="D8E1ED"/>
            </a:solidFill>
            <a:prstDash val="solid"/>
          </a:ln>
        </p:spPr>
        <p:txBody>
          <a:bodyPr/>
          <a:lstStyle/>
          <a:p>
            <a:endParaRPr lang="en-US"/>
          </a:p>
        </p:txBody>
      </p:sp>
      <p:sp>
        <p:nvSpPr>
          <p:cNvPr id="19" name="Rectangle 18">
            <a:extLst>
              <a:ext uri="{FF2B5EF4-FFF2-40B4-BE49-F238E27FC236}">
                <a16:creationId xmlns:a16="http://schemas.microsoft.com/office/drawing/2014/main" id="{8E899864-2FCC-4ED0-909B-1167EFE05852}"/>
              </a:ext>
            </a:extLst>
          </p:cNvPr>
          <p:cNvSpPr>
            <a:spLocks noGrp="1"/>
          </p:cNvSpPr>
          <p:nvPr/>
        </p:nvSpPr>
        <p:spPr>
          <a:xfrm>
            <a:off x="1009650" y="3495675"/>
            <a:ext cx="12763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02A43"/>
                </a:solidFill>
                <a:latin typeface="Nunito Sans"/>
                <a:ea typeface="Nunito Sans"/>
                <a:cs typeface="Nunito Sans"/>
              </a:defRPr>
            </a:pPr>
            <a:r>
              <a:rPr sz="825" b="1">
                <a:solidFill>
                  <a:srgbClr val="102A43"/>
                </a:solidFill>
                <a:latin typeface="Nunito Sans"/>
                <a:ea typeface="Nunito Sans"/>
                <a:cs typeface="Nunito Sans"/>
              </a:rPr>
              <a:t>steps_since_observe</a:t>
            </a:r>
          </a:p>
        </p:txBody>
      </p:sp>
      <p:sp>
        <p:nvSpPr>
          <p:cNvPr id="20" name="Rounded Rectangle 19">
            <a:extLst>
              <a:ext uri="{FF2B5EF4-FFF2-40B4-BE49-F238E27FC236}">
                <a16:creationId xmlns:a16="http://schemas.microsoft.com/office/drawing/2014/main" id="{5C4CFF24-AE9C-4A9A-8485-9101E565A13D}"/>
              </a:ext>
            </a:extLst>
          </p:cNvPr>
          <p:cNvSpPr>
            <a:spLocks noGrp="1"/>
          </p:cNvSpPr>
          <p:nvPr/>
        </p:nvSpPr>
        <p:spPr>
          <a:xfrm>
            <a:off x="2381250" y="3429000"/>
            <a:ext cx="1466850" cy="266700"/>
          </a:xfrm>
          <a:prstGeom prst="roundRect">
            <a:avLst>
              <a:gd name="adj" fmla="val 28571"/>
            </a:avLst>
          </a:prstGeom>
          <a:solidFill>
            <a:srgbClr val="F3FBF8"/>
          </a:solidFill>
          <a:ln w="9525">
            <a:solidFill>
              <a:srgbClr val="D8E1ED"/>
            </a:solidFill>
            <a:prstDash val="solid"/>
          </a:ln>
        </p:spPr>
        <p:txBody>
          <a:bodyPr/>
          <a:lstStyle/>
          <a:p>
            <a:endParaRPr lang="en-US"/>
          </a:p>
        </p:txBody>
      </p:sp>
      <p:sp>
        <p:nvSpPr>
          <p:cNvPr id="21" name="Rectangle 20">
            <a:extLst>
              <a:ext uri="{FF2B5EF4-FFF2-40B4-BE49-F238E27FC236}">
                <a16:creationId xmlns:a16="http://schemas.microsoft.com/office/drawing/2014/main" id="{8996EB1F-F321-41A1-A003-C45BA758B284}"/>
              </a:ext>
            </a:extLst>
          </p:cNvPr>
          <p:cNvSpPr>
            <a:spLocks noGrp="1"/>
          </p:cNvSpPr>
          <p:nvPr/>
        </p:nvSpPr>
        <p:spPr>
          <a:xfrm>
            <a:off x="2476500" y="3495675"/>
            <a:ext cx="12763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02A43"/>
                </a:solidFill>
                <a:latin typeface="Nunito Sans"/>
                <a:ea typeface="Nunito Sans"/>
                <a:cs typeface="Nunito Sans"/>
              </a:defRPr>
            </a:pPr>
            <a:r>
              <a:rPr sz="825" b="1">
                <a:solidFill>
                  <a:srgbClr val="102A43"/>
                </a:solidFill>
                <a:latin typeface="Nunito Sans"/>
                <a:ea typeface="Nunito Sans"/>
                <a:cs typeface="Nunito Sans"/>
              </a:rPr>
              <a:t>remaining_plan_len</a:t>
            </a:r>
          </a:p>
        </p:txBody>
      </p:sp>
      <p:sp>
        <p:nvSpPr>
          <p:cNvPr id="22" name="Rounded Rectangle 21">
            <a:extLst>
              <a:ext uri="{FF2B5EF4-FFF2-40B4-BE49-F238E27FC236}">
                <a16:creationId xmlns:a16="http://schemas.microsoft.com/office/drawing/2014/main" id="{D3D0309A-949E-488C-8AEE-15A9429217AA}"/>
              </a:ext>
            </a:extLst>
          </p:cNvPr>
          <p:cNvSpPr>
            <a:spLocks noGrp="1"/>
          </p:cNvSpPr>
          <p:nvPr/>
        </p:nvSpPr>
        <p:spPr>
          <a:xfrm>
            <a:off x="3848100" y="3429000"/>
            <a:ext cx="1466850" cy="266700"/>
          </a:xfrm>
          <a:prstGeom prst="roundRect">
            <a:avLst>
              <a:gd name="adj" fmla="val 28571"/>
            </a:avLst>
          </a:prstGeom>
          <a:solidFill>
            <a:srgbClr val="F8FBFF"/>
          </a:solidFill>
          <a:ln w="9525">
            <a:solidFill>
              <a:srgbClr val="D8E1ED"/>
            </a:solidFill>
            <a:prstDash val="solid"/>
          </a:ln>
        </p:spPr>
        <p:txBody>
          <a:bodyPr/>
          <a:lstStyle/>
          <a:p>
            <a:endParaRPr lang="en-US"/>
          </a:p>
        </p:txBody>
      </p:sp>
      <p:sp>
        <p:nvSpPr>
          <p:cNvPr id="23" name="Rectangle 22">
            <a:extLst>
              <a:ext uri="{FF2B5EF4-FFF2-40B4-BE49-F238E27FC236}">
                <a16:creationId xmlns:a16="http://schemas.microsoft.com/office/drawing/2014/main" id="{2226F2AA-E3A8-4A11-8957-AEC1DC6AF14F}"/>
              </a:ext>
            </a:extLst>
          </p:cNvPr>
          <p:cNvSpPr>
            <a:spLocks noGrp="1"/>
          </p:cNvSpPr>
          <p:nvPr/>
        </p:nvSpPr>
        <p:spPr>
          <a:xfrm>
            <a:off x="3943350" y="3495675"/>
            <a:ext cx="12763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02A43"/>
                </a:solidFill>
                <a:latin typeface="Nunito Sans"/>
                <a:ea typeface="Nunito Sans"/>
                <a:cs typeface="Nunito Sans"/>
              </a:defRPr>
            </a:pPr>
            <a:r>
              <a:rPr lang="en-US" altLang="zh-CN" sz="825" b="1" dirty="0" err="1"/>
              <a:t>next_action_type</a:t>
            </a:r>
            <a:r>
              <a:rPr lang="en-US" altLang="zh-CN" sz="825" b="1" dirty="0"/>
              <a:t> ×4</a:t>
            </a:r>
            <a:endParaRPr sz="825" b="1" dirty="0">
              <a:solidFill>
                <a:srgbClr val="102A43"/>
              </a:solidFill>
              <a:latin typeface="Nunito Sans"/>
              <a:ea typeface="Nunito Sans"/>
              <a:cs typeface="Nunito Sans"/>
            </a:endParaRPr>
          </a:p>
        </p:txBody>
      </p:sp>
      <p:sp>
        <p:nvSpPr>
          <p:cNvPr id="24" name="Rounded Rectangle 23">
            <a:extLst>
              <a:ext uri="{FF2B5EF4-FFF2-40B4-BE49-F238E27FC236}">
                <a16:creationId xmlns:a16="http://schemas.microsoft.com/office/drawing/2014/main" id="{48FE2D5A-FCF3-4B75-B04D-1CDDBD8DF20A}"/>
              </a:ext>
            </a:extLst>
          </p:cNvPr>
          <p:cNvSpPr>
            <a:spLocks noGrp="1"/>
          </p:cNvSpPr>
          <p:nvPr/>
        </p:nvSpPr>
        <p:spPr>
          <a:xfrm>
            <a:off x="914400" y="3790950"/>
            <a:ext cx="1466850" cy="266700"/>
          </a:xfrm>
          <a:prstGeom prst="roundRect">
            <a:avLst>
              <a:gd name="adj" fmla="val 28571"/>
            </a:avLst>
          </a:prstGeom>
          <a:solidFill>
            <a:srgbClr val="F8FBFF"/>
          </a:solidFill>
          <a:ln w="9525">
            <a:solidFill>
              <a:srgbClr val="D8E1ED"/>
            </a:solidFill>
            <a:prstDash val="solid"/>
          </a:ln>
        </p:spPr>
        <p:txBody>
          <a:bodyPr/>
          <a:lstStyle/>
          <a:p>
            <a:endParaRPr lang="en-US"/>
          </a:p>
        </p:txBody>
      </p:sp>
      <p:sp>
        <p:nvSpPr>
          <p:cNvPr id="25" name="Rectangle 24">
            <a:extLst>
              <a:ext uri="{FF2B5EF4-FFF2-40B4-BE49-F238E27FC236}">
                <a16:creationId xmlns:a16="http://schemas.microsoft.com/office/drawing/2014/main" id="{FC33DDB6-4564-4E64-80A9-808C4956C8C7}"/>
              </a:ext>
            </a:extLst>
          </p:cNvPr>
          <p:cNvSpPr>
            <a:spLocks noGrp="1"/>
          </p:cNvSpPr>
          <p:nvPr/>
        </p:nvSpPr>
        <p:spPr>
          <a:xfrm>
            <a:off x="1009650" y="3857625"/>
            <a:ext cx="12763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02A43"/>
                </a:solidFill>
                <a:latin typeface="Nunito Sans"/>
                <a:ea typeface="Nunito Sans"/>
                <a:cs typeface="Nunito Sans"/>
              </a:defRPr>
            </a:pPr>
            <a:r>
              <a:rPr lang="en-US" sz="825" b="1" dirty="0">
                <a:solidFill>
                  <a:srgbClr val="102A43"/>
                </a:solidFill>
                <a:latin typeface="Nunito Sans"/>
                <a:ea typeface="Nunito Sans"/>
                <a:cs typeface="Nunito Sans"/>
              </a:rPr>
              <a:t>risk flags ×3</a:t>
            </a:r>
            <a:endParaRPr sz="825" b="1" dirty="0">
              <a:solidFill>
                <a:srgbClr val="102A43"/>
              </a:solidFill>
              <a:latin typeface="Nunito Sans"/>
              <a:ea typeface="Nunito Sans"/>
              <a:cs typeface="Nunito Sans"/>
            </a:endParaRPr>
          </a:p>
        </p:txBody>
      </p:sp>
      <p:sp>
        <p:nvSpPr>
          <p:cNvPr id="26" name="Rounded Rectangle 25">
            <a:extLst>
              <a:ext uri="{FF2B5EF4-FFF2-40B4-BE49-F238E27FC236}">
                <a16:creationId xmlns:a16="http://schemas.microsoft.com/office/drawing/2014/main" id="{84A1F317-E007-4E6D-B481-1ABDD35789C8}"/>
              </a:ext>
            </a:extLst>
          </p:cNvPr>
          <p:cNvSpPr>
            <a:spLocks noGrp="1"/>
          </p:cNvSpPr>
          <p:nvPr/>
        </p:nvSpPr>
        <p:spPr>
          <a:xfrm>
            <a:off x="2381250" y="3790950"/>
            <a:ext cx="1466850" cy="266700"/>
          </a:xfrm>
          <a:prstGeom prst="roundRect">
            <a:avLst>
              <a:gd name="adj" fmla="val 28571"/>
            </a:avLst>
          </a:prstGeom>
          <a:solidFill>
            <a:srgbClr val="F8FBFF"/>
          </a:solidFill>
          <a:ln w="9525">
            <a:solidFill>
              <a:srgbClr val="D8E1ED"/>
            </a:solidFill>
            <a:prstDash val="solid"/>
          </a:ln>
        </p:spPr>
        <p:txBody>
          <a:bodyPr/>
          <a:lstStyle/>
          <a:p>
            <a:endParaRPr lang="en-US"/>
          </a:p>
        </p:txBody>
      </p:sp>
      <p:sp>
        <p:nvSpPr>
          <p:cNvPr id="27" name="Rectangle 26">
            <a:extLst>
              <a:ext uri="{FF2B5EF4-FFF2-40B4-BE49-F238E27FC236}">
                <a16:creationId xmlns:a16="http://schemas.microsoft.com/office/drawing/2014/main" id="{F142EAF2-E96F-423E-A848-FE8C998BD7B4}"/>
              </a:ext>
            </a:extLst>
          </p:cNvPr>
          <p:cNvSpPr>
            <a:spLocks noGrp="1"/>
          </p:cNvSpPr>
          <p:nvPr/>
        </p:nvSpPr>
        <p:spPr>
          <a:xfrm>
            <a:off x="2476500" y="3857625"/>
            <a:ext cx="12763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02A43"/>
                </a:solidFill>
                <a:latin typeface="Nunito Sans"/>
                <a:ea typeface="Nunito Sans"/>
                <a:cs typeface="Nunito Sans"/>
              </a:defRPr>
            </a:pPr>
            <a:r>
              <a:rPr sz="825" b="1">
                <a:solidFill>
                  <a:srgbClr val="102A43"/>
                </a:solidFill>
                <a:latin typeface="Nunito Sans"/>
                <a:ea typeface="Nunito Sans"/>
                <a:cs typeface="Nunito Sans"/>
              </a:rPr>
              <a:t>verbalized_confidence</a:t>
            </a:r>
          </a:p>
        </p:txBody>
      </p:sp>
      <p:sp>
        <p:nvSpPr>
          <p:cNvPr id="28" name="Rounded Rectangle 27">
            <a:extLst>
              <a:ext uri="{FF2B5EF4-FFF2-40B4-BE49-F238E27FC236}">
                <a16:creationId xmlns:a16="http://schemas.microsoft.com/office/drawing/2014/main" id="{311E5C21-482F-4974-B15A-2B0317D53CB1}"/>
              </a:ext>
            </a:extLst>
          </p:cNvPr>
          <p:cNvSpPr>
            <a:spLocks noGrp="1"/>
          </p:cNvSpPr>
          <p:nvPr/>
        </p:nvSpPr>
        <p:spPr>
          <a:xfrm>
            <a:off x="3848100" y="3790950"/>
            <a:ext cx="1466850" cy="266700"/>
          </a:xfrm>
          <a:prstGeom prst="roundRect">
            <a:avLst>
              <a:gd name="adj" fmla="val 28571"/>
            </a:avLst>
          </a:prstGeom>
          <a:solidFill>
            <a:srgbClr val="F8FBFF"/>
          </a:solidFill>
          <a:ln w="9525">
            <a:solidFill>
              <a:srgbClr val="D8E1ED"/>
            </a:solidFill>
            <a:prstDash val="solid"/>
          </a:ln>
        </p:spPr>
        <p:txBody>
          <a:bodyPr/>
          <a:lstStyle/>
          <a:p>
            <a:endParaRPr lang="en-US"/>
          </a:p>
        </p:txBody>
      </p:sp>
      <p:sp>
        <p:nvSpPr>
          <p:cNvPr id="29" name="Rectangle 28">
            <a:extLst>
              <a:ext uri="{FF2B5EF4-FFF2-40B4-BE49-F238E27FC236}">
                <a16:creationId xmlns:a16="http://schemas.microsoft.com/office/drawing/2014/main" id="{99D02F1F-636A-4D80-902B-0C13AC2560A9}"/>
              </a:ext>
            </a:extLst>
          </p:cNvPr>
          <p:cNvSpPr>
            <a:spLocks noGrp="1"/>
          </p:cNvSpPr>
          <p:nvPr/>
        </p:nvSpPr>
        <p:spPr>
          <a:xfrm>
            <a:off x="3943350" y="3857625"/>
            <a:ext cx="12763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02A43"/>
                </a:solidFill>
                <a:latin typeface="Nunito Sans"/>
                <a:ea typeface="Nunito Sans"/>
                <a:cs typeface="Nunito Sans"/>
              </a:defRPr>
            </a:pPr>
            <a:r>
              <a:rPr sz="825" b="1">
                <a:solidFill>
                  <a:srgbClr val="102A43"/>
                </a:solidFill>
                <a:latin typeface="Nunito Sans"/>
                <a:ea typeface="Nunito Sans"/>
                <a:cs typeface="Nunito Sans"/>
              </a:rPr>
              <a:t>needs_observation</a:t>
            </a:r>
          </a:p>
        </p:txBody>
      </p:sp>
      <p:sp>
        <p:nvSpPr>
          <p:cNvPr id="30" name="Rectangle 29">
            <a:extLst>
              <a:ext uri="{FF2B5EF4-FFF2-40B4-BE49-F238E27FC236}">
                <a16:creationId xmlns:a16="http://schemas.microsoft.com/office/drawing/2014/main" id="{5048B028-E698-41B0-ADF7-A35CEC93500D}"/>
              </a:ext>
            </a:extLst>
          </p:cNvPr>
          <p:cNvSpPr>
            <a:spLocks noGrp="1"/>
          </p:cNvSpPr>
          <p:nvPr/>
        </p:nvSpPr>
        <p:spPr>
          <a:xfrm>
            <a:off x="914400" y="4648200"/>
            <a:ext cx="4000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2D936C"/>
                </a:solidFill>
                <a:latin typeface="Nunito Sans"/>
                <a:ea typeface="Nunito Sans"/>
                <a:cs typeface="Nunito Sans"/>
              </a:defRPr>
            </a:pPr>
            <a:r>
              <a:rPr sz="1350" b="1">
                <a:solidFill>
                  <a:srgbClr val="2D936C"/>
                </a:solidFill>
                <a:latin typeface="Nunito Sans"/>
                <a:ea typeface="Nunito Sans"/>
                <a:cs typeface="Nunito Sans"/>
              </a:rPr>
              <a:t>Live best point: learned@0.2 = 100% success, 2.07 calls</a:t>
            </a:r>
          </a:p>
        </p:txBody>
      </p:sp>
      <p:sp>
        <p:nvSpPr>
          <p:cNvPr id="31" name="Rectangle 30">
            <a:extLst>
              <a:ext uri="{FF2B5EF4-FFF2-40B4-BE49-F238E27FC236}">
                <a16:creationId xmlns:a16="http://schemas.microsoft.com/office/drawing/2014/main" id="{75DB0E00-FD4C-4A91-80B6-A7439D5B835A}"/>
              </a:ext>
            </a:extLst>
          </p:cNvPr>
          <p:cNvSpPr>
            <a:spLocks noGrp="1"/>
          </p:cNvSpPr>
          <p:nvPr/>
        </p:nvSpPr>
        <p:spPr>
          <a:xfrm>
            <a:off x="914400" y="5162549"/>
            <a:ext cx="40005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B6B82"/>
                </a:solidFill>
                <a:latin typeface="Nunito Sans"/>
                <a:ea typeface="Nunito Sans"/>
                <a:cs typeface="Nunito Sans"/>
              </a:defRPr>
            </a:pPr>
            <a:r>
              <a:rPr sz="1125" b="0" dirty="0">
                <a:solidFill>
                  <a:srgbClr val="5B6B82"/>
                </a:solidFill>
                <a:latin typeface="Nunito Sans"/>
                <a:ea typeface="Nunito Sans"/>
                <a:cs typeface="Nunito Sans"/>
              </a:rPr>
              <a:t>Default mainline because the threshold sweep stays slightly steadier in live evaluation.</a:t>
            </a:r>
          </a:p>
        </p:txBody>
      </p:sp>
      <p:sp>
        <p:nvSpPr>
          <p:cNvPr id="32" name="Rounded Rectangle 31">
            <a:extLst>
              <a:ext uri="{FF2B5EF4-FFF2-40B4-BE49-F238E27FC236}">
                <a16:creationId xmlns:a16="http://schemas.microsoft.com/office/drawing/2014/main" id="{20B17AF2-6153-48B9-8DC9-8620BE115161}"/>
              </a:ext>
            </a:extLst>
          </p:cNvPr>
          <p:cNvSpPr>
            <a:spLocks noGrp="1"/>
          </p:cNvSpPr>
          <p:nvPr/>
        </p:nvSpPr>
        <p:spPr>
          <a:xfrm>
            <a:off x="6134100" y="2000250"/>
            <a:ext cx="4953000" cy="3848100"/>
          </a:xfrm>
          <a:prstGeom prst="roundRect">
            <a:avLst>
              <a:gd name="adj" fmla="val 1980"/>
            </a:avLst>
          </a:prstGeom>
          <a:solidFill>
            <a:srgbClr val="FFFFFF"/>
          </a:solidFill>
          <a:ln w="9525">
            <a:solidFill>
              <a:srgbClr val="D8E1ED"/>
            </a:solidFill>
            <a:prstDash val="solid"/>
          </a:ln>
        </p:spPr>
        <p:txBody>
          <a:bodyPr/>
          <a:lstStyle/>
          <a:p>
            <a:endParaRPr lang="en-US"/>
          </a:p>
        </p:txBody>
      </p:sp>
      <p:sp>
        <p:nvSpPr>
          <p:cNvPr id="33" name="Rectangle 32">
            <a:extLst>
              <a:ext uri="{FF2B5EF4-FFF2-40B4-BE49-F238E27FC236}">
                <a16:creationId xmlns:a16="http://schemas.microsoft.com/office/drawing/2014/main" id="{5459AA62-9677-4A44-9A1D-EF73F28EDEFF}"/>
              </a:ext>
            </a:extLst>
          </p:cNvPr>
          <p:cNvSpPr>
            <a:spLocks noGrp="1"/>
          </p:cNvSpPr>
          <p:nvPr/>
        </p:nvSpPr>
        <p:spPr>
          <a:xfrm>
            <a:off x="6134100" y="2000250"/>
            <a:ext cx="4953000" cy="57150"/>
          </a:xfrm>
          <a:prstGeom prst="rect">
            <a:avLst/>
          </a:prstGeom>
          <a:solidFill>
            <a:srgbClr val="1E5AA8"/>
          </a:solidFill>
          <a:ln w="0">
            <a:solidFill>
              <a:srgbClr val="1E5AA8"/>
            </a:solidFill>
            <a:prstDash val="solid"/>
          </a:ln>
        </p:spPr>
        <p:txBody>
          <a:bodyPr/>
          <a:lstStyle/>
          <a:p>
            <a:endParaRPr lang="en-US"/>
          </a:p>
        </p:txBody>
      </p:sp>
      <p:sp>
        <p:nvSpPr>
          <p:cNvPr id="34" name="Rectangle 33">
            <a:extLst>
              <a:ext uri="{FF2B5EF4-FFF2-40B4-BE49-F238E27FC236}">
                <a16:creationId xmlns:a16="http://schemas.microsoft.com/office/drawing/2014/main" id="{BA2B4079-EA14-42B2-B383-ACCD658FF657}"/>
              </a:ext>
            </a:extLst>
          </p:cNvPr>
          <p:cNvSpPr>
            <a:spLocks noGrp="1"/>
          </p:cNvSpPr>
          <p:nvPr/>
        </p:nvSpPr>
        <p:spPr>
          <a:xfrm>
            <a:off x="6362700" y="2286000"/>
            <a:ext cx="2667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102A43"/>
                </a:solidFill>
                <a:latin typeface="Nunito Sans ExtraBold"/>
                <a:ea typeface="Nunito Sans ExtraBold"/>
                <a:cs typeface="Nunito Sans ExtraBold"/>
              </a:defRPr>
            </a:pPr>
            <a:r>
              <a:rPr sz="1875" b="1">
                <a:solidFill>
                  <a:srgbClr val="102A43"/>
                </a:solidFill>
                <a:latin typeface="Nunito Sans ExtraBold"/>
                <a:ea typeface="Nunito Sans ExtraBold"/>
                <a:cs typeface="Nunito Sans ExtraBold"/>
              </a:rPr>
              <a:t>Compact core gate</a:t>
            </a:r>
          </a:p>
        </p:txBody>
      </p:sp>
      <p:sp>
        <p:nvSpPr>
          <p:cNvPr id="35" name="Rectangle 34">
            <a:extLst>
              <a:ext uri="{FF2B5EF4-FFF2-40B4-BE49-F238E27FC236}">
                <a16:creationId xmlns:a16="http://schemas.microsoft.com/office/drawing/2014/main" id="{1E245F11-CAA3-44DA-8683-5A3881F08E82}"/>
              </a:ext>
            </a:extLst>
          </p:cNvPr>
          <p:cNvSpPr>
            <a:spLocks noGrp="1"/>
          </p:cNvSpPr>
          <p:nvPr/>
        </p:nvSpPr>
        <p:spPr>
          <a:xfrm>
            <a:off x="6381750" y="2609850"/>
            <a:ext cx="1905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5B6B82"/>
                </a:solidFill>
                <a:latin typeface="Nunito Sans"/>
                <a:ea typeface="Nunito Sans"/>
                <a:cs typeface="Nunito Sans"/>
              </a:defRPr>
            </a:pPr>
            <a:r>
              <a:rPr sz="975" b="1">
                <a:solidFill>
                  <a:srgbClr val="5B6B82"/>
                </a:solidFill>
                <a:latin typeface="Nunito Sans"/>
                <a:ea typeface="Nunito Sans"/>
                <a:cs typeface="Nunito Sans"/>
              </a:rPr>
              <a:t>8 non-bias features + bias</a:t>
            </a:r>
          </a:p>
        </p:txBody>
      </p:sp>
      <p:sp>
        <p:nvSpPr>
          <p:cNvPr id="36" name="Rounded Rectangle 35">
            <a:extLst>
              <a:ext uri="{FF2B5EF4-FFF2-40B4-BE49-F238E27FC236}">
                <a16:creationId xmlns:a16="http://schemas.microsoft.com/office/drawing/2014/main" id="{044D8853-F6D7-42AA-9369-59585D1D1FDE}"/>
              </a:ext>
            </a:extLst>
          </p:cNvPr>
          <p:cNvSpPr>
            <a:spLocks noGrp="1"/>
          </p:cNvSpPr>
          <p:nvPr/>
        </p:nvSpPr>
        <p:spPr>
          <a:xfrm>
            <a:off x="6362700" y="3067050"/>
            <a:ext cx="1466850" cy="266700"/>
          </a:xfrm>
          <a:prstGeom prst="roundRect">
            <a:avLst>
              <a:gd name="adj" fmla="val 28571"/>
            </a:avLst>
          </a:prstGeom>
          <a:solidFill>
            <a:srgbClr val="F8FBFF"/>
          </a:solidFill>
          <a:ln w="9525">
            <a:solidFill>
              <a:srgbClr val="D8E1ED"/>
            </a:solidFill>
            <a:prstDash val="solid"/>
          </a:ln>
        </p:spPr>
        <p:txBody>
          <a:bodyPr/>
          <a:lstStyle/>
          <a:p>
            <a:endParaRPr lang="en-US"/>
          </a:p>
        </p:txBody>
      </p:sp>
      <p:sp>
        <p:nvSpPr>
          <p:cNvPr id="37" name="Rectangle 36">
            <a:extLst>
              <a:ext uri="{FF2B5EF4-FFF2-40B4-BE49-F238E27FC236}">
                <a16:creationId xmlns:a16="http://schemas.microsoft.com/office/drawing/2014/main" id="{1C4DF5F7-07B9-4D1F-A13F-3FCD344F5877}"/>
              </a:ext>
            </a:extLst>
          </p:cNvPr>
          <p:cNvSpPr>
            <a:spLocks noGrp="1"/>
          </p:cNvSpPr>
          <p:nvPr/>
        </p:nvSpPr>
        <p:spPr>
          <a:xfrm>
            <a:off x="6457950" y="3133725"/>
            <a:ext cx="12763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02A43"/>
                </a:solidFill>
                <a:latin typeface="Nunito Sans"/>
                <a:ea typeface="Nunito Sans"/>
                <a:cs typeface="Nunito Sans"/>
              </a:defRPr>
            </a:pPr>
            <a:r>
              <a:rPr sz="825" b="1">
                <a:solidFill>
                  <a:srgbClr val="102A43"/>
                </a:solidFill>
                <a:latin typeface="Nunito Sans"/>
                <a:ea typeface="Nunito Sans"/>
                <a:cs typeface="Nunito Sans"/>
              </a:rPr>
              <a:t>no_plan</a:t>
            </a:r>
          </a:p>
        </p:txBody>
      </p:sp>
      <p:sp>
        <p:nvSpPr>
          <p:cNvPr id="38" name="Rounded Rectangle 37">
            <a:extLst>
              <a:ext uri="{FF2B5EF4-FFF2-40B4-BE49-F238E27FC236}">
                <a16:creationId xmlns:a16="http://schemas.microsoft.com/office/drawing/2014/main" id="{C7520566-587C-450F-8696-56F1E2281CE6}"/>
              </a:ext>
            </a:extLst>
          </p:cNvPr>
          <p:cNvSpPr>
            <a:spLocks noGrp="1"/>
          </p:cNvSpPr>
          <p:nvPr/>
        </p:nvSpPr>
        <p:spPr>
          <a:xfrm>
            <a:off x="8134350" y="3067050"/>
            <a:ext cx="1466850" cy="266700"/>
          </a:xfrm>
          <a:prstGeom prst="roundRect">
            <a:avLst>
              <a:gd name="adj" fmla="val 28571"/>
            </a:avLst>
          </a:prstGeom>
          <a:solidFill>
            <a:srgbClr val="F8FBFF"/>
          </a:solidFill>
          <a:ln w="9525">
            <a:solidFill>
              <a:srgbClr val="D8E1ED"/>
            </a:solidFill>
            <a:prstDash val="solid"/>
          </a:ln>
        </p:spPr>
        <p:txBody>
          <a:bodyPr/>
          <a:lstStyle/>
          <a:p>
            <a:endParaRPr lang="en-US"/>
          </a:p>
        </p:txBody>
      </p:sp>
      <p:sp>
        <p:nvSpPr>
          <p:cNvPr id="39" name="Rectangle 38">
            <a:extLst>
              <a:ext uri="{FF2B5EF4-FFF2-40B4-BE49-F238E27FC236}">
                <a16:creationId xmlns:a16="http://schemas.microsoft.com/office/drawing/2014/main" id="{953E0331-2807-49E4-82D5-87CEAC0E05D3}"/>
              </a:ext>
            </a:extLst>
          </p:cNvPr>
          <p:cNvSpPr>
            <a:spLocks noGrp="1"/>
          </p:cNvSpPr>
          <p:nvPr/>
        </p:nvSpPr>
        <p:spPr>
          <a:xfrm>
            <a:off x="8229600" y="3133725"/>
            <a:ext cx="12763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02A43"/>
                </a:solidFill>
                <a:latin typeface="Nunito Sans"/>
                <a:ea typeface="Nunito Sans"/>
                <a:cs typeface="Nunito Sans"/>
              </a:defRPr>
            </a:pPr>
            <a:r>
              <a:rPr sz="825" b="1">
                <a:solidFill>
                  <a:srgbClr val="102A43"/>
                </a:solidFill>
                <a:latin typeface="Nunito Sans"/>
                <a:ea typeface="Nunito Sans"/>
                <a:cs typeface="Nunito Sans"/>
              </a:rPr>
              <a:t>screen_changed_last</a:t>
            </a:r>
          </a:p>
        </p:txBody>
      </p:sp>
      <p:sp>
        <p:nvSpPr>
          <p:cNvPr id="40" name="Rounded Rectangle 39">
            <a:extLst>
              <a:ext uri="{FF2B5EF4-FFF2-40B4-BE49-F238E27FC236}">
                <a16:creationId xmlns:a16="http://schemas.microsoft.com/office/drawing/2014/main" id="{E7DCA594-5E9A-4882-9880-47FB4EEB6829}"/>
              </a:ext>
            </a:extLst>
          </p:cNvPr>
          <p:cNvSpPr>
            <a:spLocks noGrp="1"/>
          </p:cNvSpPr>
          <p:nvPr/>
        </p:nvSpPr>
        <p:spPr>
          <a:xfrm>
            <a:off x="6362700" y="3448050"/>
            <a:ext cx="1466850" cy="266700"/>
          </a:xfrm>
          <a:prstGeom prst="roundRect">
            <a:avLst>
              <a:gd name="adj" fmla="val 28571"/>
            </a:avLst>
          </a:prstGeom>
          <a:solidFill>
            <a:srgbClr val="F8FBFF"/>
          </a:solidFill>
          <a:ln w="9525">
            <a:solidFill>
              <a:srgbClr val="D8E1ED"/>
            </a:solidFill>
            <a:prstDash val="solid"/>
          </a:ln>
        </p:spPr>
        <p:txBody>
          <a:bodyPr/>
          <a:lstStyle/>
          <a:p>
            <a:endParaRPr lang="en-US"/>
          </a:p>
        </p:txBody>
      </p:sp>
      <p:sp>
        <p:nvSpPr>
          <p:cNvPr id="41" name="Rectangle 40">
            <a:extLst>
              <a:ext uri="{FF2B5EF4-FFF2-40B4-BE49-F238E27FC236}">
                <a16:creationId xmlns:a16="http://schemas.microsoft.com/office/drawing/2014/main" id="{5F188A3D-09A8-4FED-A956-9CB4D54910A7}"/>
              </a:ext>
            </a:extLst>
          </p:cNvPr>
          <p:cNvSpPr>
            <a:spLocks noGrp="1"/>
          </p:cNvSpPr>
          <p:nvPr/>
        </p:nvSpPr>
        <p:spPr>
          <a:xfrm>
            <a:off x="6457950" y="3514725"/>
            <a:ext cx="12763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02A43"/>
                </a:solidFill>
                <a:latin typeface="Nunito Sans"/>
                <a:ea typeface="Nunito Sans"/>
                <a:cs typeface="Nunito Sans"/>
              </a:defRPr>
            </a:pPr>
            <a:r>
              <a:rPr sz="825" b="1">
                <a:solidFill>
                  <a:srgbClr val="102A43"/>
                </a:solidFill>
                <a:latin typeface="Nunito Sans"/>
                <a:ea typeface="Nunito Sans"/>
                <a:cs typeface="Nunito Sans"/>
              </a:rPr>
              <a:t>candidates_changed_last</a:t>
            </a:r>
          </a:p>
        </p:txBody>
      </p:sp>
      <p:sp>
        <p:nvSpPr>
          <p:cNvPr id="42" name="Rounded Rectangle 41">
            <a:extLst>
              <a:ext uri="{FF2B5EF4-FFF2-40B4-BE49-F238E27FC236}">
                <a16:creationId xmlns:a16="http://schemas.microsoft.com/office/drawing/2014/main" id="{68710B30-1543-4ED3-88EB-83D9114CE847}"/>
              </a:ext>
            </a:extLst>
          </p:cNvPr>
          <p:cNvSpPr>
            <a:spLocks noGrp="1"/>
          </p:cNvSpPr>
          <p:nvPr/>
        </p:nvSpPr>
        <p:spPr>
          <a:xfrm>
            <a:off x="8134350" y="3448050"/>
            <a:ext cx="1466850" cy="266700"/>
          </a:xfrm>
          <a:prstGeom prst="roundRect">
            <a:avLst>
              <a:gd name="adj" fmla="val 28571"/>
            </a:avLst>
          </a:prstGeom>
          <a:solidFill>
            <a:srgbClr val="F8FBFF"/>
          </a:solidFill>
          <a:ln w="9525">
            <a:solidFill>
              <a:srgbClr val="D8E1ED"/>
            </a:solidFill>
            <a:prstDash val="solid"/>
          </a:ln>
        </p:spPr>
        <p:txBody>
          <a:bodyPr/>
          <a:lstStyle/>
          <a:p>
            <a:endParaRPr lang="en-US"/>
          </a:p>
        </p:txBody>
      </p:sp>
      <p:sp>
        <p:nvSpPr>
          <p:cNvPr id="43" name="Rectangle 42">
            <a:extLst>
              <a:ext uri="{FF2B5EF4-FFF2-40B4-BE49-F238E27FC236}">
                <a16:creationId xmlns:a16="http://schemas.microsoft.com/office/drawing/2014/main" id="{50B213C3-C7CB-45A8-B665-74AE19B86C9F}"/>
              </a:ext>
            </a:extLst>
          </p:cNvPr>
          <p:cNvSpPr>
            <a:spLocks noGrp="1"/>
          </p:cNvSpPr>
          <p:nvPr/>
        </p:nvSpPr>
        <p:spPr>
          <a:xfrm>
            <a:off x="8229600" y="3514725"/>
            <a:ext cx="12763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02A43"/>
                </a:solidFill>
                <a:latin typeface="Nunito Sans"/>
                <a:ea typeface="Nunito Sans"/>
                <a:cs typeface="Nunito Sans"/>
              </a:defRPr>
            </a:pPr>
            <a:r>
              <a:rPr sz="825" b="1">
                <a:solidFill>
                  <a:srgbClr val="102A43"/>
                </a:solidFill>
                <a:latin typeface="Nunito Sans"/>
                <a:ea typeface="Nunito Sans"/>
                <a:cs typeface="Nunito Sans"/>
              </a:rPr>
              <a:t>steps_since_observe</a:t>
            </a:r>
          </a:p>
        </p:txBody>
      </p:sp>
      <p:sp>
        <p:nvSpPr>
          <p:cNvPr id="44" name="Rounded Rectangle 43">
            <a:extLst>
              <a:ext uri="{FF2B5EF4-FFF2-40B4-BE49-F238E27FC236}">
                <a16:creationId xmlns:a16="http://schemas.microsoft.com/office/drawing/2014/main" id="{8A4CF1E6-50A4-4C59-9A1D-89D4CAC18BDB}"/>
              </a:ext>
            </a:extLst>
          </p:cNvPr>
          <p:cNvSpPr>
            <a:spLocks noGrp="1"/>
          </p:cNvSpPr>
          <p:nvPr/>
        </p:nvSpPr>
        <p:spPr>
          <a:xfrm>
            <a:off x="6362700" y="3829050"/>
            <a:ext cx="1466850" cy="266700"/>
          </a:xfrm>
          <a:prstGeom prst="roundRect">
            <a:avLst>
              <a:gd name="adj" fmla="val 28571"/>
            </a:avLst>
          </a:prstGeom>
          <a:solidFill>
            <a:srgbClr val="F8FBFF"/>
          </a:solidFill>
          <a:ln w="9525">
            <a:solidFill>
              <a:srgbClr val="D8E1ED"/>
            </a:solidFill>
            <a:prstDash val="solid"/>
          </a:ln>
        </p:spPr>
        <p:txBody>
          <a:bodyPr/>
          <a:lstStyle/>
          <a:p>
            <a:endParaRPr lang="en-US"/>
          </a:p>
        </p:txBody>
      </p:sp>
      <p:sp>
        <p:nvSpPr>
          <p:cNvPr id="45" name="Rectangle 44">
            <a:extLst>
              <a:ext uri="{FF2B5EF4-FFF2-40B4-BE49-F238E27FC236}">
                <a16:creationId xmlns:a16="http://schemas.microsoft.com/office/drawing/2014/main" id="{539A366F-6228-496A-B069-8527E61471D3}"/>
              </a:ext>
            </a:extLst>
          </p:cNvPr>
          <p:cNvSpPr>
            <a:spLocks noGrp="1"/>
          </p:cNvSpPr>
          <p:nvPr/>
        </p:nvSpPr>
        <p:spPr>
          <a:xfrm>
            <a:off x="6457950" y="3895725"/>
            <a:ext cx="12763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02A43"/>
                </a:solidFill>
                <a:latin typeface="Nunito Sans"/>
                <a:ea typeface="Nunito Sans"/>
                <a:cs typeface="Nunito Sans"/>
              </a:defRPr>
            </a:pPr>
            <a:r>
              <a:rPr sz="825" b="1">
                <a:solidFill>
                  <a:srgbClr val="102A43"/>
                </a:solidFill>
                <a:latin typeface="Nunito Sans"/>
                <a:ea typeface="Nunito Sans"/>
                <a:cs typeface="Nunito Sans"/>
              </a:rPr>
              <a:t>remaining_plan_len</a:t>
            </a:r>
          </a:p>
        </p:txBody>
      </p:sp>
      <p:sp>
        <p:nvSpPr>
          <p:cNvPr id="46" name="Rounded Rectangle 45">
            <a:extLst>
              <a:ext uri="{FF2B5EF4-FFF2-40B4-BE49-F238E27FC236}">
                <a16:creationId xmlns:a16="http://schemas.microsoft.com/office/drawing/2014/main" id="{D8AC0EE6-4035-4ACE-8BC3-15E64F954617}"/>
              </a:ext>
            </a:extLst>
          </p:cNvPr>
          <p:cNvSpPr>
            <a:spLocks noGrp="1"/>
          </p:cNvSpPr>
          <p:nvPr/>
        </p:nvSpPr>
        <p:spPr>
          <a:xfrm>
            <a:off x="8134350" y="3829050"/>
            <a:ext cx="1466850" cy="266700"/>
          </a:xfrm>
          <a:prstGeom prst="roundRect">
            <a:avLst>
              <a:gd name="adj" fmla="val 28571"/>
            </a:avLst>
          </a:prstGeom>
          <a:solidFill>
            <a:srgbClr val="F8FBFF"/>
          </a:solidFill>
          <a:ln w="9525">
            <a:solidFill>
              <a:srgbClr val="D8E1ED"/>
            </a:solidFill>
            <a:prstDash val="solid"/>
          </a:ln>
        </p:spPr>
        <p:txBody>
          <a:bodyPr/>
          <a:lstStyle/>
          <a:p>
            <a:endParaRPr lang="en-US"/>
          </a:p>
        </p:txBody>
      </p:sp>
      <p:sp>
        <p:nvSpPr>
          <p:cNvPr id="47" name="Rectangle 46">
            <a:extLst>
              <a:ext uri="{FF2B5EF4-FFF2-40B4-BE49-F238E27FC236}">
                <a16:creationId xmlns:a16="http://schemas.microsoft.com/office/drawing/2014/main" id="{E20B3B58-FDF4-45BE-BC3B-512E0765551D}"/>
              </a:ext>
            </a:extLst>
          </p:cNvPr>
          <p:cNvSpPr>
            <a:spLocks noGrp="1"/>
          </p:cNvSpPr>
          <p:nvPr/>
        </p:nvSpPr>
        <p:spPr>
          <a:xfrm>
            <a:off x="8229600" y="3895725"/>
            <a:ext cx="12763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02A43"/>
                </a:solidFill>
                <a:latin typeface="Nunito Sans"/>
                <a:ea typeface="Nunito Sans"/>
                <a:cs typeface="Nunito Sans"/>
              </a:defRPr>
            </a:pPr>
            <a:r>
              <a:rPr sz="825" b="1">
                <a:solidFill>
                  <a:srgbClr val="102A43"/>
                </a:solidFill>
                <a:latin typeface="Nunito Sans"/>
                <a:ea typeface="Nunito Sans"/>
                <a:cs typeface="Nunito Sans"/>
              </a:rPr>
              <a:t>next_risk_state_changing</a:t>
            </a:r>
          </a:p>
        </p:txBody>
      </p:sp>
      <p:sp>
        <p:nvSpPr>
          <p:cNvPr id="48" name="Rounded Rectangle 47">
            <a:extLst>
              <a:ext uri="{FF2B5EF4-FFF2-40B4-BE49-F238E27FC236}">
                <a16:creationId xmlns:a16="http://schemas.microsoft.com/office/drawing/2014/main" id="{D9B143E0-0C14-4F27-9E80-E537F3391A66}"/>
              </a:ext>
            </a:extLst>
          </p:cNvPr>
          <p:cNvSpPr>
            <a:spLocks noGrp="1"/>
          </p:cNvSpPr>
          <p:nvPr/>
        </p:nvSpPr>
        <p:spPr>
          <a:xfrm>
            <a:off x="6362700" y="4210050"/>
            <a:ext cx="1466850" cy="266700"/>
          </a:xfrm>
          <a:prstGeom prst="roundRect">
            <a:avLst>
              <a:gd name="adj" fmla="val 28571"/>
            </a:avLst>
          </a:prstGeom>
          <a:solidFill>
            <a:srgbClr val="F8FBFF"/>
          </a:solidFill>
          <a:ln w="9525">
            <a:solidFill>
              <a:srgbClr val="D8E1ED"/>
            </a:solidFill>
            <a:prstDash val="solid"/>
          </a:ln>
        </p:spPr>
        <p:txBody>
          <a:bodyPr/>
          <a:lstStyle/>
          <a:p>
            <a:endParaRPr lang="en-US"/>
          </a:p>
        </p:txBody>
      </p:sp>
      <p:sp>
        <p:nvSpPr>
          <p:cNvPr id="49" name="Rectangle 48">
            <a:extLst>
              <a:ext uri="{FF2B5EF4-FFF2-40B4-BE49-F238E27FC236}">
                <a16:creationId xmlns:a16="http://schemas.microsoft.com/office/drawing/2014/main" id="{BB6AF43E-69BA-4527-8DEC-CCB7F34B6968}"/>
              </a:ext>
            </a:extLst>
          </p:cNvPr>
          <p:cNvSpPr>
            <a:spLocks noGrp="1"/>
          </p:cNvSpPr>
          <p:nvPr/>
        </p:nvSpPr>
        <p:spPr>
          <a:xfrm>
            <a:off x="6457950" y="4276725"/>
            <a:ext cx="12763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02A43"/>
                </a:solidFill>
                <a:latin typeface="Nunito Sans"/>
                <a:ea typeface="Nunito Sans"/>
                <a:cs typeface="Nunito Sans"/>
              </a:defRPr>
            </a:pPr>
            <a:r>
              <a:rPr sz="825" b="1">
                <a:solidFill>
                  <a:srgbClr val="102A43"/>
                </a:solidFill>
                <a:latin typeface="Nunito Sans"/>
                <a:ea typeface="Nunito Sans"/>
                <a:cs typeface="Nunito Sans"/>
              </a:rPr>
              <a:t>verbalized_confidence</a:t>
            </a:r>
          </a:p>
        </p:txBody>
      </p:sp>
      <p:sp>
        <p:nvSpPr>
          <p:cNvPr id="50" name="Rounded Rectangle 49">
            <a:extLst>
              <a:ext uri="{FF2B5EF4-FFF2-40B4-BE49-F238E27FC236}">
                <a16:creationId xmlns:a16="http://schemas.microsoft.com/office/drawing/2014/main" id="{ECA278C2-5E43-4836-83D5-491A0A704703}"/>
              </a:ext>
            </a:extLst>
          </p:cNvPr>
          <p:cNvSpPr>
            <a:spLocks noGrp="1"/>
          </p:cNvSpPr>
          <p:nvPr/>
        </p:nvSpPr>
        <p:spPr>
          <a:xfrm>
            <a:off x="8134350" y="4210050"/>
            <a:ext cx="1466850" cy="266700"/>
          </a:xfrm>
          <a:prstGeom prst="roundRect">
            <a:avLst>
              <a:gd name="adj" fmla="val 28571"/>
            </a:avLst>
          </a:prstGeom>
          <a:solidFill>
            <a:srgbClr val="F8FBFF"/>
          </a:solidFill>
          <a:ln w="9525">
            <a:solidFill>
              <a:srgbClr val="D8E1ED"/>
            </a:solidFill>
            <a:prstDash val="solid"/>
          </a:ln>
        </p:spPr>
        <p:txBody>
          <a:bodyPr/>
          <a:lstStyle/>
          <a:p>
            <a:endParaRPr lang="en-US"/>
          </a:p>
        </p:txBody>
      </p:sp>
      <p:sp>
        <p:nvSpPr>
          <p:cNvPr id="51" name="Rectangle 50">
            <a:extLst>
              <a:ext uri="{FF2B5EF4-FFF2-40B4-BE49-F238E27FC236}">
                <a16:creationId xmlns:a16="http://schemas.microsoft.com/office/drawing/2014/main" id="{4C5D5D2B-83C5-4974-A5BE-94A1A077AD5D}"/>
              </a:ext>
            </a:extLst>
          </p:cNvPr>
          <p:cNvSpPr>
            <a:spLocks noGrp="1"/>
          </p:cNvSpPr>
          <p:nvPr/>
        </p:nvSpPr>
        <p:spPr>
          <a:xfrm>
            <a:off x="8229600" y="4276725"/>
            <a:ext cx="12763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02A43"/>
                </a:solidFill>
                <a:latin typeface="Nunito Sans"/>
                <a:ea typeface="Nunito Sans"/>
                <a:cs typeface="Nunito Sans"/>
              </a:defRPr>
            </a:pPr>
            <a:r>
              <a:rPr sz="825" b="1">
                <a:solidFill>
                  <a:srgbClr val="102A43"/>
                </a:solidFill>
                <a:latin typeface="Nunito Sans"/>
                <a:ea typeface="Nunito Sans"/>
                <a:cs typeface="Nunito Sans"/>
              </a:rPr>
              <a:t>needs_observation</a:t>
            </a:r>
          </a:p>
        </p:txBody>
      </p:sp>
      <p:sp>
        <p:nvSpPr>
          <p:cNvPr id="52" name="Rectangle 51">
            <a:extLst>
              <a:ext uri="{FF2B5EF4-FFF2-40B4-BE49-F238E27FC236}">
                <a16:creationId xmlns:a16="http://schemas.microsoft.com/office/drawing/2014/main" id="{6B0226F7-F2A2-4AB2-B3E2-3187404BCBD4}"/>
              </a:ext>
            </a:extLst>
          </p:cNvPr>
          <p:cNvSpPr>
            <a:spLocks noGrp="1"/>
          </p:cNvSpPr>
          <p:nvPr/>
        </p:nvSpPr>
        <p:spPr>
          <a:xfrm>
            <a:off x="6362699" y="4648199"/>
            <a:ext cx="4455117" cy="4476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E5AA8"/>
                </a:solidFill>
                <a:latin typeface="Nunito Sans"/>
                <a:ea typeface="Nunito Sans"/>
                <a:cs typeface="Nunito Sans"/>
              </a:defRPr>
            </a:pPr>
            <a:r>
              <a:rPr sz="1350" b="1" dirty="0">
                <a:solidFill>
                  <a:srgbClr val="1E5AA8"/>
                </a:solidFill>
                <a:latin typeface="Nunito Sans"/>
                <a:ea typeface="Nunito Sans"/>
                <a:cs typeface="Nunito Sans"/>
              </a:rPr>
              <a:t>Compact gate older audit run: learned@0.35 and learned@0.65 stayed at 100% success with 2.80 calls</a:t>
            </a:r>
          </a:p>
        </p:txBody>
      </p:sp>
      <p:sp>
        <p:nvSpPr>
          <p:cNvPr id="53" name="Rectangle 52">
            <a:extLst>
              <a:ext uri="{FF2B5EF4-FFF2-40B4-BE49-F238E27FC236}">
                <a16:creationId xmlns:a16="http://schemas.microsoft.com/office/drawing/2014/main" id="{40DC3D67-4D3B-4831-AD0E-1AA1D64E1774}"/>
              </a:ext>
            </a:extLst>
          </p:cNvPr>
          <p:cNvSpPr>
            <a:spLocks noGrp="1"/>
          </p:cNvSpPr>
          <p:nvPr/>
        </p:nvSpPr>
        <p:spPr>
          <a:xfrm>
            <a:off x="6362700" y="5162549"/>
            <a:ext cx="40005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B6B82"/>
                </a:solidFill>
                <a:latin typeface="Nunito Sans"/>
                <a:ea typeface="Nunito Sans"/>
                <a:cs typeface="Nunito Sans"/>
              </a:defRPr>
            </a:pPr>
            <a:r>
              <a:rPr sz="1125" b="0" dirty="0">
                <a:solidFill>
                  <a:srgbClr val="5B6B82"/>
                </a:solidFill>
                <a:latin typeface="Nunito Sans"/>
                <a:ea typeface="Nunito Sans"/>
                <a:cs typeface="Nunito Sans"/>
              </a:rPr>
              <a:t>Held-out accuracy improves to 97.0%, which makes the paper claim stronger: the gain survives a much smaller gate.</a:t>
            </a:r>
          </a:p>
        </p:txBody>
      </p:sp>
    </p:spTree>
    <p:extLst>
      <p:ext uri="{BB962C8B-B14F-4D97-AF65-F5344CB8AC3E}">
        <p14:creationId xmlns:p14="http://schemas.microsoft.com/office/powerpoint/2010/main" val="1868414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988008-A769-4ACB-A04B-020F72EFA62E}"/>
              </a:ext>
            </a:extLst>
          </p:cNvPr>
          <p:cNvSpPr>
            <a:spLocks noGrp="1"/>
          </p:cNvSpPr>
          <p:nvPr/>
        </p:nvSpPr>
        <p:spPr>
          <a:xfrm>
            <a:off x="533400" y="571500"/>
            <a:ext cx="11125200" cy="19050"/>
          </a:xfrm>
          <a:prstGeom prst="rect">
            <a:avLst/>
          </a:prstGeom>
          <a:solidFill>
            <a:srgbClr val="1E5AA8"/>
          </a:solidFill>
          <a:ln w="0">
            <a:solidFill>
              <a:srgbClr val="1E5AA8"/>
            </a:solidFill>
            <a:prstDash val="solid"/>
          </a:ln>
        </p:spPr>
        <p:txBody>
          <a:bodyPr/>
          <a:lstStyle/>
          <a:p>
            <a:endParaRPr lang="en-US"/>
          </a:p>
        </p:txBody>
      </p:sp>
      <p:sp>
        <p:nvSpPr>
          <p:cNvPr id="3" name="Rectangle 2">
            <a:extLst>
              <a:ext uri="{FF2B5EF4-FFF2-40B4-BE49-F238E27FC236}">
                <a16:creationId xmlns:a16="http://schemas.microsoft.com/office/drawing/2014/main" id="{75B1D56B-620A-4E31-81DF-C5902E29C0C4}"/>
              </a:ext>
            </a:extLst>
          </p:cNvPr>
          <p:cNvSpPr>
            <a:spLocks noGrp="1"/>
          </p:cNvSpPr>
          <p:nvPr/>
        </p:nvSpPr>
        <p:spPr>
          <a:xfrm>
            <a:off x="571500" y="247650"/>
            <a:ext cx="7810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02A43"/>
                </a:solidFill>
                <a:latin typeface="Nunito Sans ExtraBold"/>
                <a:ea typeface="Nunito Sans ExtraBold"/>
                <a:cs typeface="Nunito Sans ExtraBold"/>
              </a:defRPr>
            </a:pPr>
            <a:r>
              <a:rPr sz="2100" b="1">
                <a:solidFill>
                  <a:srgbClr val="102A43"/>
                </a:solidFill>
                <a:latin typeface="Nunito Sans ExtraBold"/>
                <a:ea typeface="Nunito Sans ExtraBold"/>
                <a:cs typeface="Nunito Sans ExtraBold"/>
              </a:rPr>
              <a:t>Where Do the Savings Come From?</a:t>
            </a:r>
          </a:p>
        </p:txBody>
      </p:sp>
      <p:sp>
        <p:nvSpPr>
          <p:cNvPr id="4" name="Rectangle 3">
            <a:extLst>
              <a:ext uri="{FF2B5EF4-FFF2-40B4-BE49-F238E27FC236}">
                <a16:creationId xmlns:a16="http://schemas.microsoft.com/office/drawing/2014/main" id="{5B977265-75FD-4DC2-89BD-2CAFAC409340}"/>
              </a:ext>
            </a:extLst>
          </p:cNvPr>
          <p:cNvSpPr>
            <a:spLocks noGrp="1"/>
          </p:cNvSpPr>
          <p:nvPr/>
        </p:nvSpPr>
        <p:spPr>
          <a:xfrm>
            <a:off x="10572750" y="247650"/>
            <a:ext cx="1047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B6B82"/>
                </a:solidFill>
                <a:latin typeface="Nunito Sans"/>
                <a:ea typeface="Nunito Sans"/>
                <a:cs typeface="Nunito Sans"/>
              </a:defRPr>
            </a:pPr>
            <a:r>
              <a:rPr sz="825" b="1">
                <a:solidFill>
                  <a:srgbClr val="5B6B82"/>
                </a:solidFill>
                <a:latin typeface="Nunito Sans"/>
                <a:ea typeface="Nunito Sans"/>
                <a:cs typeface="Nunito Sans"/>
              </a:rPr>
              <a:t>08 / 12</a:t>
            </a:r>
          </a:p>
        </p:txBody>
      </p:sp>
      <p:sp>
        <p:nvSpPr>
          <p:cNvPr id="5" name="Rectangle 4">
            <a:extLst>
              <a:ext uri="{FF2B5EF4-FFF2-40B4-BE49-F238E27FC236}">
                <a16:creationId xmlns:a16="http://schemas.microsoft.com/office/drawing/2014/main" id="{2BC25447-6266-4CA6-B1F9-846AE16EA362}"/>
              </a:ext>
            </a:extLst>
          </p:cNvPr>
          <p:cNvSpPr>
            <a:spLocks noGrp="1"/>
          </p:cNvSpPr>
          <p:nvPr/>
        </p:nvSpPr>
        <p:spPr>
          <a:xfrm>
            <a:off x="571500" y="6553200"/>
            <a:ext cx="3429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Selective Observation for Browser Agents</a:t>
            </a:r>
          </a:p>
        </p:txBody>
      </p:sp>
      <p:sp>
        <p:nvSpPr>
          <p:cNvPr id="6" name="Rectangle 5">
            <a:extLst>
              <a:ext uri="{FF2B5EF4-FFF2-40B4-BE49-F238E27FC236}">
                <a16:creationId xmlns:a16="http://schemas.microsoft.com/office/drawing/2014/main" id="{60F3C001-B17A-4C7D-947C-15C394EB7F42}"/>
              </a:ext>
            </a:extLst>
          </p:cNvPr>
          <p:cNvSpPr>
            <a:spLocks noGrp="1"/>
          </p:cNvSpPr>
          <p:nvPr/>
        </p:nvSpPr>
        <p:spPr>
          <a:xfrm>
            <a:off x="9810750" y="6553200"/>
            <a:ext cx="180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1">
                <a:solidFill>
                  <a:srgbClr val="1E5AA8"/>
                </a:solidFill>
                <a:latin typeface="Nunito Sans"/>
                <a:ea typeface="Nunito Sans"/>
                <a:cs typeface="Nunito Sans"/>
              </a:defRPr>
            </a:pPr>
            <a:r>
              <a:rPr sz="675" b="1">
                <a:solidFill>
                  <a:srgbClr val="1E5AA8"/>
                </a:solidFill>
                <a:latin typeface="Nunito Sans"/>
                <a:ea typeface="Nunito Sans"/>
                <a:cs typeface="Nunito Sans"/>
              </a:rPr>
              <a:t>UC SANTA BARBARA</a:t>
            </a:r>
          </a:p>
        </p:txBody>
      </p:sp>
      <p:sp>
        <p:nvSpPr>
          <p:cNvPr id="7" name="Rectangle 6">
            <a:extLst>
              <a:ext uri="{FF2B5EF4-FFF2-40B4-BE49-F238E27FC236}">
                <a16:creationId xmlns:a16="http://schemas.microsoft.com/office/drawing/2014/main" id="{9317FE40-7F3A-4BAC-8938-BA0C14F66A51}"/>
              </a:ext>
            </a:extLst>
          </p:cNvPr>
          <p:cNvSpPr>
            <a:spLocks noGrp="1"/>
          </p:cNvSpPr>
          <p:nvPr/>
        </p:nvSpPr>
        <p:spPr>
          <a:xfrm>
            <a:off x="571500" y="914400"/>
            <a:ext cx="8953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A43"/>
                </a:solidFill>
                <a:latin typeface="Nunito Sans ExtraBold"/>
                <a:ea typeface="Nunito Sans ExtraBold"/>
                <a:cs typeface="Nunito Sans ExtraBold"/>
              </a:defRPr>
            </a:pPr>
            <a:r>
              <a:rPr sz="2250" b="1">
                <a:solidFill>
                  <a:srgbClr val="102A43"/>
                </a:solidFill>
                <a:latin typeface="Nunito Sans ExtraBold"/>
                <a:ea typeface="Nunito Sans ExtraBold"/>
                <a:cs typeface="Nunito Sans ExtraBold"/>
              </a:rPr>
              <a:t>The gate wins on routine steps, not by gambling on adversarial cases.</a:t>
            </a:r>
          </a:p>
        </p:txBody>
      </p:sp>
      <p:sp>
        <p:nvSpPr>
          <p:cNvPr id="8" name="Rounded Rectangle 7">
            <a:extLst>
              <a:ext uri="{FF2B5EF4-FFF2-40B4-BE49-F238E27FC236}">
                <a16:creationId xmlns:a16="http://schemas.microsoft.com/office/drawing/2014/main" id="{07CAFA0C-1502-4490-A7CD-FC58F2535782}"/>
              </a:ext>
            </a:extLst>
          </p:cNvPr>
          <p:cNvSpPr>
            <a:spLocks noGrp="1"/>
          </p:cNvSpPr>
          <p:nvPr/>
        </p:nvSpPr>
        <p:spPr>
          <a:xfrm>
            <a:off x="666750" y="1981200"/>
            <a:ext cx="6191250" cy="3619500"/>
          </a:xfrm>
          <a:prstGeom prst="roundRect">
            <a:avLst>
              <a:gd name="adj" fmla="val 2105"/>
            </a:avLst>
          </a:prstGeom>
          <a:solidFill>
            <a:srgbClr val="FFFFFF"/>
          </a:solidFill>
          <a:ln w="9525">
            <a:solidFill>
              <a:srgbClr val="D8E1ED"/>
            </a:solidFill>
            <a:prstDash val="solid"/>
          </a:ln>
        </p:spPr>
        <p:txBody>
          <a:bodyPr/>
          <a:lstStyle/>
          <a:p>
            <a:endParaRPr lang="en-US"/>
          </a:p>
        </p:txBody>
      </p:sp>
      <p:sp>
        <p:nvSpPr>
          <p:cNvPr id="9" name="Rectangle 8">
            <a:extLst>
              <a:ext uri="{FF2B5EF4-FFF2-40B4-BE49-F238E27FC236}">
                <a16:creationId xmlns:a16="http://schemas.microsoft.com/office/drawing/2014/main" id="{E2671AA5-049A-4FBB-9C11-AFA4C9FC0AD9}"/>
              </a:ext>
            </a:extLst>
          </p:cNvPr>
          <p:cNvSpPr>
            <a:spLocks noGrp="1"/>
          </p:cNvSpPr>
          <p:nvPr/>
        </p:nvSpPr>
        <p:spPr>
          <a:xfrm>
            <a:off x="914400" y="2209800"/>
            <a:ext cx="2095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E5AA8"/>
                </a:solidFill>
                <a:latin typeface="Nunito Sans"/>
                <a:ea typeface="Nunito Sans"/>
                <a:cs typeface="Nunito Sans"/>
              </a:defRPr>
            </a:pPr>
            <a:r>
              <a:rPr sz="975" b="1">
                <a:solidFill>
                  <a:srgbClr val="1E5AA8"/>
                </a:solidFill>
                <a:latin typeface="Nunito Sans"/>
                <a:ea typeface="Nunito Sans"/>
                <a:cs typeface="Nunito Sans"/>
              </a:rPr>
              <a:t>Call savings versus always-observe</a:t>
            </a:r>
          </a:p>
        </p:txBody>
      </p:sp>
      <p:sp>
        <p:nvSpPr>
          <p:cNvPr id="10" name="Rectangle 9">
            <a:extLst>
              <a:ext uri="{FF2B5EF4-FFF2-40B4-BE49-F238E27FC236}">
                <a16:creationId xmlns:a16="http://schemas.microsoft.com/office/drawing/2014/main" id="{8F8EE76F-A159-46A6-AFC7-039D2C180C98}"/>
              </a:ext>
            </a:extLst>
          </p:cNvPr>
          <p:cNvSpPr>
            <a:spLocks noGrp="1"/>
          </p:cNvSpPr>
          <p:nvPr/>
        </p:nvSpPr>
        <p:spPr>
          <a:xfrm>
            <a:off x="914400" y="2876550"/>
            <a:ext cx="1047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02A43"/>
                </a:solidFill>
                <a:latin typeface="Nunito Sans"/>
                <a:ea typeface="Nunito Sans"/>
                <a:cs typeface="Nunito Sans"/>
              </a:defRPr>
            </a:pPr>
            <a:r>
              <a:rPr sz="1125" b="1">
                <a:solidFill>
                  <a:srgbClr val="102A43"/>
                </a:solidFill>
                <a:latin typeface="Nunito Sans"/>
                <a:ea typeface="Nunito Sans"/>
                <a:cs typeface="Nunito Sans"/>
              </a:rPr>
              <a:t>static</a:t>
            </a:r>
          </a:p>
        </p:txBody>
      </p:sp>
      <p:sp>
        <p:nvSpPr>
          <p:cNvPr id="11" name="Rounded Rectangle 10">
            <a:extLst>
              <a:ext uri="{FF2B5EF4-FFF2-40B4-BE49-F238E27FC236}">
                <a16:creationId xmlns:a16="http://schemas.microsoft.com/office/drawing/2014/main" id="{7BEFF4F8-A1AA-47D6-9F82-CDA0D91988FE}"/>
              </a:ext>
            </a:extLst>
          </p:cNvPr>
          <p:cNvSpPr>
            <a:spLocks noGrp="1"/>
          </p:cNvSpPr>
          <p:nvPr/>
        </p:nvSpPr>
        <p:spPr>
          <a:xfrm>
            <a:off x="2095500" y="2800350"/>
            <a:ext cx="3619500" cy="285750"/>
          </a:xfrm>
          <a:prstGeom prst="roundRect">
            <a:avLst>
              <a:gd name="adj" fmla="val 26667"/>
            </a:avLst>
          </a:prstGeom>
          <a:solidFill>
            <a:srgbClr val="F4F7FB"/>
          </a:solidFill>
          <a:ln w="0">
            <a:solidFill>
              <a:srgbClr val="F4F7FB"/>
            </a:solidFill>
            <a:prstDash val="solid"/>
          </a:ln>
        </p:spPr>
        <p:txBody>
          <a:bodyPr/>
          <a:lstStyle/>
          <a:p>
            <a:endParaRPr lang="en-US"/>
          </a:p>
        </p:txBody>
      </p:sp>
      <p:sp>
        <p:nvSpPr>
          <p:cNvPr id="12" name="Rounded Rectangle 11">
            <a:extLst>
              <a:ext uri="{FF2B5EF4-FFF2-40B4-BE49-F238E27FC236}">
                <a16:creationId xmlns:a16="http://schemas.microsoft.com/office/drawing/2014/main" id="{DB3DE379-6631-4801-9DB3-E2969EC498AB}"/>
              </a:ext>
            </a:extLst>
          </p:cNvPr>
          <p:cNvSpPr>
            <a:spLocks noGrp="1"/>
          </p:cNvSpPr>
          <p:nvPr/>
        </p:nvSpPr>
        <p:spPr>
          <a:xfrm>
            <a:off x="2095500" y="2800350"/>
            <a:ext cx="3238500" cy="285750"/>
          </a:xfrm>
          <a:prstGeom prst="roundRect">
            <a:avLst>
              <a:gd name="adj" fmla="val 26667"/>
            </a:avLst>
          </a:prstGeom>
          <a:solidFill>
            <a:srgbClr val="2D936C"/>
          </a:solidFill>
          <a:ln w="0">
            <a:solidFill>
              <a:srgbClr val="2D936C"/>
            </a:solidFill>
            <a:prstDash val="solid"/>
          </a:ln>
        </p:spPr>
        <p:txBody>
          <a:bodyPr/>
          <a:lstStyle/>
          <a:p>
            <a:endParaRPr lang="en-US"/>
          </a:p>
        </p:txBody>
      </p:sp>
      <p:sp>
        <p:nvSpPr>
          <p:cNvPr id="13" name="Rectangle 12">
            <a:extLst>
              <a:ext uri="{FF2B5EF4-FFF2-40B4-BE49-F238E27FC236}">
                <a16:creationId xmlns:a16="http://schemas.microsoft.com/office/drawing/2014/main" id="{4BB64E59-29CF-4718-8CAF-EC96420CFFCD}"/>
              </a:ext>
            </a:extLst>
          </p:cNvPr>
          <p:cNvSpPr>
            <a:spLocks noGrp="1"/>
          </p:cNvSpPr>
          <p:nvPr/>
        </p:nvSpPr>
        <p:spPr>
          <a:xfrm>
            <a:off x="5848350" y="2867025"/>
            <a:ext cx="666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2D936C"/>
                </a:solidFill>
                <a:latin typeface="Nunito Sans"/>
                <a:ea typeface="Nunito Sans"/>
                <a:cs typeface="Nunito Sans"/>
              </a:defRPr>
            </a:pPr>
            <a:r>
              <a:rPr sz="975" b="1">
                <a:solidFill>
                  <a:srgbClr val="2D936C"/>
                </a:solidFill>
                <a:latin typeface="Nunito Sans"/>
                <a:ea typeface="Nunito Sans"/>
                <a:cs typeface="Nunito Sans"/>
              </a:rPr>
              <a:t>2.20 calls</a:t>
            </a:r>
          </a:p>
        </p:txBody>
      </p:sp>
      <p:sp>
        <p:nvSpPr>
          <p:cNvPr id="14" name="Rectangle 13">
            <a:extLst>
              <a:ext uri="{FF2B5EF4-FFF2-40B4-BE49-F238E27FC236}">
                <a16:creationId xmlns:a16="http://schemas.microsoft.com/office/drawing/2014/main" id="{5D848EE4-F1C8-4F8B-892D-90B16D258DD6}"/>
              </a:ext>
            </a:extLst>
          </p:cNvPr>
          <p:cNvSpPr>
            <a:spLocks noGrp="1"/>
          </p:cNvSpPr>
          <p:nvPr/>
        </p:nvSpPr>
        <p:spPr>
          <a:xfrm>
            <a:off x="914400" y="3505200"/>
            <a:ext cx="1047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02A43"/>
                </a:solidFill>
                <a:latin typeface="Nunito Sans"/>
                <a:ea typeface="Nunito Sans"/>
                <a:cs typeface="Nunito Sans"/>
              </a:defRPr>
            </a:pPr>
            <a:r>
              <a:rPr sz="1125" b="1">
                <a:solidFill>
                  <a:srgbClr val="102A43"/>
                </a:solidFill>
                <a:latin typeface="Nunito Sans"/>
                <a:ea typeface="Nunito Sans"/>
                <a:cs typeface="Nunito Sans"/>
              </a:rPr>
              <a:t>async</a:t>
            </a:r>
          </a:p>
        </p:txBody>
      </p:sp>
      <p:sp>
        <p:nvSpPr>
          <p:cNvPr id="15" name="Rounded Rectangle 14">
            <a:extLst>
              <a:ext uri="{FF2B5EF4-FFF2-40B4-BE49-F238E27FC236}">
                <a16:creationId xmlns:a16="http://schemas.microsoft.com/office/drawing/2014/main" id="{1B68473A-20AA-4797-A91E-4321EF576836}"/>
              </a:ext>
            </a:extLst>
          </p:cNvPr>
          <p:cNvSpPr>
            <a:spLocks noGrp="1"/>
          </p:cNvSpPr>
          <p:nvPr/>
        </p:nvSpPr>
        <p:spPr>
          <a:xfrm>
            <a:off x="2095500" y="3429000"/>
            <a:ext cx="3619500" cy="285750"/>
          </a:xfrm>
          <a:prstGeom prst="roundRect">
            <a:avLst>
              <a:gd name="adj" fmla="val 26667"/>
            </a:avLst>
          </a:prstGeom>
          <a:solidFill>
            <a:srgbClr val="F4F7FB"/>
          </a:solidFill>
          <a:ln w="0">
            <a:solidFill>
              <a:srgbClr val="F4F7FB"/>
            </a:solidFill>
            <a:prstDash val="solid"/>
          </a:ln>
        </p:spPr>
        <p:txBody>
          <a:bodyPr/>
          <a:lstStyle/>
          <a:p>
            <a:endParaRPr lang="en-US"/>
          </a:p>
        </p:txBody>
      </p:sp>
      <p:sp>
        <p:nvSpPr>
          <p:cNvPr id="16" name="Rounded Rectangle 15">
            <a:extLst>
              <a:ext uri="{FF2B5EF4-FFF2-40B4-BE49-F238E27FC236}">
                <a16:creationId xmlns:a16="http://schemas.microsoft.com/office/drawing/2014/main" id="{470D9EB7-5A9A-4DEC-B722-0B0CA6EECD44}"/>
              </a:ext>
            </a:extLst>
          </p:cNvPr>
          <p:cNvSpPr>
            <a:spLocks noGrp="1"/>
          </p:cNvSpPr>
          <p:nvPr/>
        </p:nvSpPr>
        <p:spPr>
          <a:xfrm>
            <a:off x="2095500" y="3429000"/>
            <a:ext cx="2944091" cy="285750"/>
          </a:xfrm>
          <a:prstGeom prst="roundRect">
            <a:avLst>
              <a:gd name="adj" fmla="val 26667"/>
            </a:avLst>
          </a:prstGeom>
          <a:solidFill>
            <a:srgbClr val="1E5AA8"/>
          </a:solidFill>
          <a:ln w="0">
            <a:solidFill>
              <a:srgbClr val="1E5AA8"/>
            </a:solidFill>
            <a:prstDash val="solid"/>
          </a:ln>
        </p:spPr>
        <p:txBody>
          <a:bodyPr/>
          <a:lstStyle/>
          <a:p>
            <a:endParaRPr lang="en-US"/>
          </a:p>
        </p:txBody>
      </p:sp>
      <p:sp>
        <p:nvSpPr>
          <p:cNvPr id="17" name="Rectangle 16">
            <a:extLst>
              <a:ext uri="{FF2B5EF4-FFF2-40B4-BE49-F238E27FC236}">
                <a16:creationId xmlns:a16="http://schemas.microsoft.com/office/drawing/2014/main" id="{D937793E-14BE-4355-B96E-9E0B1381DCC8}"/>
              </a:ext>
            </a:extLst>
          </p:cNvPr>
          <p:cNvSpPr>
            <a:spLocks noGrp="1"/>
          </p:cNvSpPr>
          <p:nvPr/>
        </p:nvSpPr>
        <p:spPr>
          <a:xfrm>
            <a:off x="5848350" y="3495675"/>
            <a:ext cx="666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E5AA8"/>
                </a:solidFill>
                <a:latin typeface="Nunito Sans"/>
                <a:ea typeface="Nunito Sans"/>
                <a:cs typeface="Nunito Sans"/>
              </a:defRPr>
            </a:pPr>
            <a:r>
              <a:rPr sz="975" b="1">
                <a:solidFill>
                  <a:srgbClr val="1E5AA8"/>
                </a:solidFill>
                <a:latin typeface="Nunito Sans"/>
                <a:ea typeface="Nunito Sans"/>
                <a:cs typeface="Nunito Sans"/>
              </a:rPr>
              <a:t>2.00 calls</a:t>
            </a:r>
          </a:p>
        </p:txBody>
      </p:sp>
      <p:sp>
        <p:nvSpPr>
          <p:cNvPr id="18" name="Rectangle 17">
            <a:extLst>
              <a:ext uri="{FF2B5EF4-FFF2-40B4-BE49-F238E27FC236}">
                <a16:creationId xmlns:a16="http://schemas.microsoft.com/office/drawing/2014/main" id="{10F7950D-0D2F-4D12-9A8D-5A5B90B03B93}"/>
              </a:ext>
            </a:extLst>
          </p:cNvPr>
          <p:cNvSpPr>
            <a:spLocks noGrp="1"/>
          </p:cNvSpPr>
          <p:nvPr/>
        </p:nvSpPr>
        <p:spPr>
          <a:xfrm>
            <a:off x="914400" y="4133850"/>
            <a:ext cx="1047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02A43"/>
                </a:solidFill>
                <a:latin typeface="Nunito Sans"/>
                <a:ea typeface="Nunito Sans"/>
                <a:cs typeface="Nunito Sans"/>
              </a:defRPr>
            </a:pPr>
            <a:r>
              <a:rPr sz="1125" b="1">
                <a:solidFill>
                  <a:srgbClr val="102A43"/>
                </a:solidFill>
                <a:latin typeface="Nunito Sans"/>
                <a:ea typeface="Nunito Sans"/>
                <a:cs typeface="Nunito Sans"/>
              </a:rPr>
              <a:t>value drift</a:t>
            </a:r>
          </a:p>
        </p:txBody>
      </p:sp>
      <p:sp>
        <p:nvSpPr>
          <p:cNvPr id="19" name="Rounded Rectangle 18">
            <a:extLst>
              <a:ext uri="{FF2B5EF4-FFF2-40B4-BE49-F238E27FC236}">
                <a16:creationId xmlns:a16="http://schemas.microsoft.com/office/drawing/2014/main" id="{5AEF1974-99C2-4734-A02B-3C964E5D1D2C}"/>
              </a:ext>
            </a:extLst>
          </p:cNvPr>
          <p:cNvSpPr>
            <a:spLocks noGrp="1"/>
          </p:cNvSpPr>
          <p:nvPr/>
        </p:nvSpPr>
        <p:spPr>
          <a:xfrm>
            <a:off x="2095500" y="4057650"/>
            <a:ext cx="3619500" cy="285750"/>
          </a:xfrm>
          <a:prstGeom prst="roundRect">
            <a:avLst>
              <a:gd name="adj" fmla="val 26667"/>
            </a:avLst>
          </a:prstGeom>
          <a:solidFill>
            <a:srgbClr val="F4F7FB"/>
          </a:solidFill>
          <a:ln w="0">
            <a:solidFill>
              <a:srgbClr val="F4F7FB"/>
            </a:solidFill>
            <a:prstDash val="solid"/>
          </a:ln>
        </p:spPr>
        <p:txBody>
          <a:bodyPr/>
          <a:lstStyle/>
          <a:p>
            <a:endParaRPr lang="en-US"/>
          </a:p>
        </p:txBody>
      </p:sp>
      <p:sp>
        <p:nvSpPr>
          <p:cNvPr id="29" name="Rounded Rectangle 28"/>
          <p:cNvSpPr>
            <a:spLocks noGrp="1"/>
          </p:cNvSpPr>
          <p:nvPr/>
        </p:nvSpPr>
        <p:spPr>
          <a:xfrm>
            <a:off x="2095500" y="4057650"/>
            <a:ext cx="1472045" cy="285750"/>
          </a:xfrm>
          <a:prstGeom prst="roundRect">
            <a:avLst>
              <a:gd name="adj" fmla="val 26667"/>
            </a:avLst>
          </a:prstGeom>
          <a:solidFill>
            <a:srgbClr val="D1495B"/>
          </a:solidFill>
          <a:ln w="0">
            <a:solidFill>
              <a:srgbClr val="D1495B"/>
            </a:solidFill>
            <a:prstDash val="solid"/>
          </a:ln>
        </p:spPr>
        <p:txBody>
          <a:bodyPr/>
          <a:lstStyle/>
          <a:p>
            <a:endParaRPr lang="en-US"/>
          </a:p>
        </p:txBody>
      </p:sp>
      <p:sp>
        <p:nvSpPr>
          <p:cNvPr id="20" name="Rectangle 19">
            <a:extLst>
              <a:ext uri="{FF2B5EF4-FFF2-40B4-BE49-F238E27FC236}">
                <a16:creationId xmlns:a16="http://schemas.microsoft.com/office/drawing/2014/main" id="{BFC2058B-1641-485B-BD74-5CA2EA8A2730}"/>
              </a:ext>
            </a:extLst>
          </p:cNvPr>
          <p:cNvSpPr>
            <a:spLocks noGrp="1"/>
          </p:cNvSpPr>
          <p:nvPr/>
        </p:nvSpPr>
        <p:spPr>
          <a:xfrm>
            <a:off x="5848350" y="4124325"/>
            <a:ext cx="666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D1495B"/>
                </a:solidFill>
                <a:latin typeface="Nunito Sans"/>
                <a:ea typeface="Nunito Sans"/>
                <a:cs typeface="Nunito Sans"/>
              </a:defRPr>
            </a:pPr>
            <a:r>
              <a:rPr sz="975" b="1">
                <a:solidFill>
                  <a:srgbClr val="D1495B"/>
                </a:solidFill>
                <a:latin typeface="Nunito Sans"/>
                <a:ea typeface="Nunito Sans"/>
                <a:cs typeface="Nunito Sans"/>
              </a:rPr>
              <a:t>1.00 calls</a:t>
            </a:r>
          </a:p>
        </p:txBody>
      </p:sp>
      <p:sp>
        <p:nvSpPr>
          <p:cNvPr id="21" name="Rectangle 20">
            <a:extLst>
              <a:ext uri="{FF2B5EF4-FFF2-40B4-BE49-F238E27FC236}">
                <a16:creationId xmlns:a16="http://schemas.microsoft.com/office/drawing/2014/main" id="{3751FE45-77D9-4B3E-8879-E9C07D562134}"/>
              </a:ext>
            </a:extLst>
          </p:cNvPr>
          <p:cNvSpPr>
            <a:spLocks noGrp="1"/>
          </p:cNvSpPr>
          <p:nvPr/>
        </p:nvSpPr>
        <p:spPr>
          <a:xfrm>
            <a:off x="914400" y="4762500"/>
            <a:ext cx="1047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02A43"/>
                </a:solidFill>
                <a:latin typeface="Nunito Sans"/>
                <a:ea typeface="Nunito Sans"/>
                <a:cs typeface="Nunito Sans"/>
              </a:defRPr>
            </a:pPr>
            <a:r>
              <a:rPr sz="1125" b="1">
                <a:solidFill>
                  <a:srgbClr val="102A43"/>
                </a:solidFill>
                <a:latin typeface="Nunito Sans"/>
                <a:ea typeface="Nunito Sans"/>
                <a:cs typeface="Nunito Sans"/>
              </a:rPr>
              <a:t>delayed opt.</a:t>
            </a:r>
          </a:p>
        </p:txBody>
      </p:sp>
      <p:sp>
        <p:nvSpPr>
          <p:cNvPr id="22" name="Rounded Rectangle 21">
            <a:extLst>
              <a:ext uri="{FF2B5EF4-FFF2-40B4-BE49-F238E27FC236}">
                <a16:creationId xmlns:a16="http://schemas.microsoft.com/office/drawing/2014/main" id="{2DD573DA-E8A3-49C4-AB7D-3B7F7F9CAA61}"/>
              </a:ext>
            </a:extLst>
          </p:cNvPr>
          <p:cNvSpPr>
            <a:spLocks noGrp="1"/>
          </p:cNvSpPr>
          <p:nvPr/>
        </p:nvSpPr>
        <p:spPr>
          <a:xfrm>
            <a:off x="2095500" y="4686300"/>
            <a:ext cx="3619500" cy="285750"/>
          </a:xfrm>
          <a:prstGeom prst="roundRect">
            <a:avLst>
              <a:gd name="adj" fmla="val 26667"/>
            </a:avLst>
          </a:prstGeom>
          <a:solidFill>
            <a:srgbClr val="F4F7FB"/>
          </a:solidFill>
          <a:ln w="0">
            <a:solidFill>
              <a:srgbClr val="F4F7FB"/>
            </a:solidFill>
            <a:prstDash val="solid"/>
          </a:ln>
        </p:spPr>
        <p:txBody>
          <a:bodyPr/>
          <a:lstStyle/>
          <a:p>
            <a:endParaRPr lang="en-US"/>
          </a:p>
        </p:txBody>
      </p:sp>
      <p:sp>
        <p:nvSpPr>
          <p:cNvPr id="23" name="Rectangle 22">
            <a:extLst>
              <a:ext uri="{FF2B5EF4-FFF2-40B4-BE49-F238E27FC236}">
                <a16:creationId xmlns:a16="http://schemas.microsoft.com/office/drawing/2014/main" id="{FDFB7FE3-3784-48F6-A7BF-6016C1A14474}"/>
              </a:ext>
            </a:extLst>
          </p:cNvPr>
          <p:cNvSpPr>
            <a:spLocks noGrp="1"/>
          </p:cNvSpPr>
          <p:nvPr/>
        </p:nvSpPr>
        <p:spPr>
          <a:xfrm>
            <a:off x="5848350" y="4752975"/>
            <a:ext cx="666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8B5CF6"/>
                </a:solidFill>
                <a:latin typeface="Nunito Sans"/>
                <a:ea typeface="Nunito Sans"/>
                <a:cs typeface="Nunito Sans"/>
              </a:defRPr>
            </a:pPr>
            <a:r>
              <a:rPr sz="975" b="1">
                <a:solidFill>
                  <a:srgbClr val="8B5CF6"/>
                </a:solidFill>
                <a:latin typeface="Nunito Sans"/>
                <a:ea typeface="Nunito Sans"/>
                <a:cs typeface="Nunito Sans"/>
              </a:rPr>
              <a:t>0.00 calls</a:t>
            </a:r>
          </a:p>
        </p:txBody>
      </p:sp>
      <p:sp>
        <p:nvSpPr>
          <p:cNvPr id="24" name="Rounded Rectangle 23">
            <a:extLst>
              <a:ext uri="{FF2B5EF4-FFF2-40B4-BE49-F238E27FC236}">
                <a16:creationId xmlns:a16="http://schemas.microsoft.com/office/drawing/2014/main" id="{D0FBA38A-C74E-4D36-BE43-8BB0C6579695}"/>
              </a:ext>
            </a:extLst>
          </p:cNvPr>
          <p:cNvSpPr>
            <a:spLocks noGrp="1"/>
          </p:cNvSpPr>
          <p:nvPr/>
        </p:nvSpPr>
        <p:spPr>
          <a:xfrm>
            <a:off x="7277100" y="1981200"/>
            <a:ext cx="3810000" cy="3619500"/>
          </a:xfrm>
          <a:prstGeom prst="roundRect">
            <a:avLst>
              <a:gd name="adj" fmla="val 2105"/>
            </a:avLst>
          </a:prstGeom>
          <a:solidFill>
            <a:srgbClr val="F7FAFC"/>
          </a:solidFill>
          <a:ln w="9525">
            <a:solidFill>
              <a:srgbClr val="D8E1ED"/>
            </a:solidFill>
            <a:prstDash val="solid"/>
          </a:ln>
        </p:spPr>
        <p:txBody>
          <a:bodyPr/>
          <a:lstStyle/>
          <a:p>
            <a:endParaRPr lang="en-US"/>
          </a:p>
        </p:txBody>
      </p:sp>
      <p:sp>
        <p:nvSpPr>
          <p:cNvPr id="25" name="Rectangle 24">
            <a:extLst>
              <a:ext uri="{FF2B5EF4-FFF2-40B4-BE49-F238E27FC236}">
                <a16:creationId xmlns:a16="http://schemas.microsoft.com/office/drawing/2014/main" id="{C1185D93-9DE1-4E4D-A574-0023CC2E6516}"/>
              </a:ext>
            </a:extLst>
          </p:cNvPr>
          <p:cNvSpPr>
            <a:spLocks noGrp="1"/>
          </p:cNvSpPr>
          <p:nvPr/>
        </p:nvSpPr>
        <p:spPr>
          <a:xfrm>
            <a:off x="7524750" y="220980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E5AA8"/>
                </a:solidFill>
                <a:latin typeface="Nunito Sans"/>
                <a:ea typeface="Nunito Sans"/>
                <a:cs typeface="Nunito Sans"/>
              </a:defRPr>
            </a:pPr>
            <a:r>
              <a:rPr sz="975" b="1">
                <a:solidFill>
                  <a:srgbClr val="1E5AA8"/>
                </a:solidFill>
                <a:latin typeface="Nunito Sans"/>
                <a:ea typeface="Nunito Sans"/>
                <a:cs typeface="Nunito Sans"/>
              </a:rPr>
              <a:t>Interpretation</a:t>
            </a:r>
          </a:p>
        </p:txBody>
      </p:sp>
      <p:sp>
        <p:nvSpPr>
          <p:cNvPr id="26" name="Rectangle 25">
            <a:extLst>
              <a:ext uri="{FF2B5EF4-FFF2-40B4-BE49-F238E27FC236}">
                <a16:creationId xmlns:a16="http://schemas.microsoft.com/office/drawing/2014/main" id="{E70F8F8C-99AB-45CF-9E69-367131E44CA7}"/>
              </a:ext>
            </a:extLst>
          </p:cNvPr>
          <p:cNvSpPr>
            <a:spLocks noGrp="1"/>
          </p:cNvSpPr>
          <p:nvPr/>
        </p:nvSpPr>
        <p:spPr>
          <a:xfrm>
            <a:off x="7524750" y="2571750"/>
            <a:ext cx="31432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02A43"/>
                </a:solidFill>
                <a:latin typeface="Nunito Sans"/>
                <a:ea typeface="Nunito Sans"/>
                <a:cs typeface="Nunito Sans"/>
              </a:defRPr>
            </a:pPr>
            <a:r>
              <a:rPr sz="1275" b="0">
                <a:solidFill>
                  <a:srgbClr val="102A43"/>
                </a:solidFill>
                <a:latin typeface="Nunito Sans"/>
                <a:ea typeface="Nunito Sans"/>
                <a:cs typeface="Nunito Sans"/>
              </a:rPr>
              <a:t>- Savings are largest on static and visible async tasks: they hold the most redundant mid-step observations.</a:t>
            </a:r>
          </a:p>
        </p:txBody>
      </p:sp>
      <p:sp>
        <p:nvSpPr>
          <p:cNvPr id="27" name="Rectangle 26">
            <a:extLst>
              <a:ext uri="{FF2B5EF4-FFF2-40B4-BE49-F238E27FC236}">
                <a16:creationId xmlns:a16="http://schemas.microsoft.com/office/drawing/2014/main" id="{520E3202-9F52-4BCD-97AD-6D1F16CA3F69}"/>
              </a:ext>
            </a:extLst>
          </p:cNvPr>
          <p:cNvSpPr>
            <a:spLocks noGrp="1"/>
          </p:cNvSpPr>
          <p:nvPr/>
        </p:nvSpPr>
        <p:spPr>
          <a:xfrm>
            <a:off x="7524750" y="3257550"/>
            <a:ext cx="31432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02A43"/>
                </a:solidFill>
                <a:latin typeface="Nunito Sans"/>
                <a:ea typeface="Nunito Sans"/>
                <a:cs typeface="Nunito Sans"/>
              </a:defRPr>
            </a:pPr>
            <a:r>
              <a:rPr sz="1275" b="0" dirty="0">
                <a:solidFill>
                  <a:srgbClr val="102A43"/>
                </a:solidFill>
                <a:latin typeface="Nunito Sans"/>
                <a:ea typeface="Nunito Sans"/>
                <a:cs typeface="Nunito Sans"/>
              </a:rPr>
              <a:t>- Value drift saves less and delayed options none: the gate keeps re-checking around the risky checkpoints.</a:t>
            </a:r>
          </a:p>
        </p:txBody>
      </p:sp>
      <p:sp>
        <p:nvSpPr>
          <p:cNvPr id="28" name="Rectangle 27">
            <a:extLst>
              <a:ext uri="{FF2B5EF4-FFF2-40B4-BE49-F238E27FC236}">
                <a16:creationId xmlns:a16="http://schemas.microsoft.com/office/drawing/2014/main" id="{710A8508-49AA-470A-A7E4-E2FCF95B697A}"/>
              </a:ext>
            </a:extLst>
          </p:cNvPr>
          <p:cNvSpPr>
            <a:spLocks noGrp="1"/>
          </p:cNvSpPr>
          <p:nvPr/>
        </p:nvSpPr>
        <p:spPr>
          <a:xfrm>
            <a:off x="7524750" y="4000500"/>
            <a:ext cx="31432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02A43"/>
                </a:solidFill>
                <a:latin typeface="Nunito Sans"/>
                <a:ea typeface="Nunito Sans"/>
                <a:cs typeface="Nunito Sans"/>
              </a:defRPr>
            </a:pPr>
            <a:r>
              <a:rPr sz="1275" b="0" dirty="0">
                <a:solidFill>
                  <a:srgbClr val="102A43"/>
                </a:solidFill>
                <a:latin typeface="Nunito Sans"/>
                <a:ea typeface="Nunito Sans"/>
                <a:cs typeface="Nunito Sans"/>
              </a:rPr>
              <a:t>- Success stays 100% on every family: gains come from cutting routine reads, not from gambling on silent drift.</a:t>
            </a:r>
          </a:p>
        </p:txBody>
      </p:sp>
    </p:spTree>
    <p:extLst>
      <p:ext uri="{BB962C8B-B14F-4D97-AF65-F5344CB8AC3E}">
        <p14:creationId xmlns:p14="http://schemas.microsoft.com/office/powerpoint/2010/main" val="2376220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9BA91D3-CA51-45AB-A345-02E2B996B69C}"/>
              </a:ext>
            </a:extLst>
          </p:cNvPr>
          <p:cNvSpPr>
            <a:spLocks noGrp="1"/>
          </p:cNvSpPr>
          <p:nvPr/>
        </p:nvSpPr>
        <p:spPr>
          <a:xfrm>
            <a:off x="533400" y="571500"/>
            <a:ext cx="11125200" cy="19050"/>
          </a:xfrm>
          <a:prstGeom prst="rect">
            <a:avLst/>
          </a:prstGeom>
          <a:solidFill>
            <a:srgbClr val="1E5AA8"/>
          </a:solidFill>
          <a:ln w="0">
            <a:solidFill>
              <a:srgbClr val="1E5AA8"/>
            </a:solidFill>
            <a:prstDash val="solid"/>
          </a:ln>
        </p:spPr>
        <p:txBody>
          <a:bodyPr/>
          <a:lstStyle/>
          <a:p>
            <a:endParaRPr lang="en-US"/>
          </a:p>
        </p:txBody>
      </p:sp>
      <p:sp>
        <p:nvSpPr>
          <p:cNvPr id="3" name="Rectangle 2">
            <a:extLst>
              <a:ext uri="{FF2B5EF4-FFF2-40B4-BE49-F238E27FC236}">
                <a16:creationId xmlns:a16="http://schemas.microsoft.com/office/drawing/2014/main" id="{C516F88E-2C4E-4388-8F0D-1B6726C1C5FD}"/>
              </a:ext>
            </a:extLst>
          </p:cNvPr>
          <p:cNvSpPr>
            <a:spLocks noGrp="1"/>
          </p:cNvSpPr>
          <p:nvPr/>
        </p:nvSpPr>
        <p:spPr>
          <a:xfrm>
            <a:off x="571500" y="247650"/>
            <a:ext cx="7810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02A43"/>
                </a:solidFill>
                <a:latin typeface="Nunito Sans ExtraBold"/>
                <a:ea typeface="Nunito Sans ExtraBold"/>
                <a:cs typeface="Nunito Sans ExtraBold"/>
              </a:defRPr>
            </a:pPr>
            <a:r>
              <a:rPr sz="2100" b="1">
                <a:solidFill>
                  <a:srgbClr val="102A43"/>
                </a:solidFill>
                <a:latin typeface="Nunito Sans ExtraBold"/>
                <a:ea typeface="Nunito Sans ExtraBold"/>
                <a:cs typeface="Nunito Sans ExtraBold"/>
              </a:rPr>
              <a:t>Why Handrule Is Not Enough</a:t>
            </a:r>
          </a:p>
        </p:txBody>
      </p:sp>
      <p:sp>
        <p:nvSpPr>
          <p:cNvPr id="4" name="Rectangle 3">
            <a:extLst>
              <a:ext uri="{FF2B5EF4-FFF2-40B4-BE49-F238E27FC236}">
                <a16:creationId xmlns:a16="http://schemas.microsoft.com/office/drawing/2014/main" id="{59C3A02B-C11A-4670-99C5-CD3CD9D9A8A9}"/>
              </a:ext>
            </a:extLst>
          </p:cNvPr>
          <p:cNvSpPr>
            <a:spLocks noGrp="1"/>
          </p:cNvSpPr>
          <p:nvPr/>
        </p:nvSpPr>
        <p:spPr>
          <a:xfrm>
            <a:off x="10572750" y="247650"/>
            <a:ext cx="1047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B6B82"/>
                </a:solidFill>
                <a:latin typeface="Nunito Sans"/>
                <a:ea typeface="Nunito Sans"/>
                <a:cs typeface="Nunito Sans"/>
              </a:defRPr>
            </a:pPr>
            <a:r>
              <a:rPr sz="825" b="1">
                <a:solidFill>
                  <a:srgbClr val="5B6B82"/>
                </a:solidFill>
                <a:latin typeface="Nunito Sans"/>
                <a:ea typeface="Nunito Sans"/>
                <a:cs typeface="Nunito Sans"/>
              </a:rPr>
              <a:t>09 / 12</a:t>
            </a:r>
          </a:p>
        </p:txBody>
      </p:sp>
      <p:sp>
        <p:nvSpPr>
          <p:cNvPr id="5" name="Rectangle 4">
            <a:extLst>
              <a:ext uri="{FF2B5EF4-FFF2-40B4-BE49-F238E27FC236}">
                <a16:creationId xmlns:a16="http://schemas.microsoft.com/office/drawing/2014/main" id="{4B4B9773-5396-4793-BB77-319F9F1D5020}"/>
              </a:ext>
            </a:extLst>
          </p:cNvPr>
          <p:cNvSpPr>
            <a:spLocks noGrp="1"/>
          </p:cNvSpPr>
          <p:nvPr/>
        </p:nvSpPr>
        <p:spPr>
          <a:xfrm>
            <a:off x="571500" y="6553200"/>
            <a:ext cx="3429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Selective Observation for Browser Agents</a:t>
            </a:r>
          </a:p>
        </p:txBody>
      </p:sp>
      <p:sp>
        <p:nvSpPr>
          <p:cNvPr id="6" name="Rectangle 5">
            <a:extLst>
              <a:ext uri="{FF2B5EF4-FFF2-40B4-BE49-F238E27FC236}">
                <a16:creationId xmlns:a16="http://schemas.microsoft.com/office/drawing/2014/main" id="{2386E06B-8322-41E0-8E59-82515A599446}"/>
              </a:ext>
            </a:extLst>
          </p:cNvPr>
          <p:cNvSpPr>
            <a:spLocks noGrp="1"/>
          </p:cNvSpPr>
          <p:nvPr/>
        </p:nvSpPr>
        <p:spPr>
          <a:xfrm>
            <a:off x="9810750" y="6553200"/>
            <a:ext cx="180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1">
                <a:solidFill>
                  <a:srgbClr val="1E5AA8"/>
                </a:solidFill>
                <a:latin typeface="Nunito Sans"/>
                <a:ea typeface="Nunito Sans"/>
                <a:cs typeface="Nunito Sans"/>
              </a:defRPr>
            </a:pPr>
            <a:r>
              <a:rPr sz="675" b="1">
                <a:solidFill>
                  <a:srgbClr val="1E5AA8"/>
                </a:solidFill>
                <a:latin typeface="Nunito Sans"/>
                <a:ea typeface="Nunito Sans"/>
                <a:cs typeface="Nunito Sans"/>
              </a:rPr>
              <a:t>UC SANTA BARBARA</a:t>
            </a:r>
          </a:p>
        </p:txBody>
      </p:sp>
      <p:sp>
        <p:nvSpPr>
          <p:cNvPr id="7" name="Rectangle 6">
            <a:extLst>
              <a:ext uri="{FF2B5EF4-FFF2-40B4-BE49-F238E27FC236}">
                <a16:creationId xmlns:a16="http://schemas.microsoft.com/office/drawing/2014/main" id="{8B65D149-0839-4005-A429-69E1AA029D3D}"/>
              </a:ext>
            </a:extLst>
          </p:cNvPr>
          <p:cNvSpPr>
            <a:spLocks noGrp="1"/>
          </p:cNvSpPr>
          <p:nvPr/>
        </p:nvSpPr>
        <p:spPr>
          <a:xfrm>
            <a:off x="571500" y="914400"/>
            <a:ext cx="8191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A43"/>
                </a:solidFill>
                <a:latin typeface="Nunito Sans ExtraBold"/>
                <a:ea typeface="Nunito Sans ExtraBold"/>
                <a:cs typeface="Nunito Sans ExtraBold"/>
              </a:defRPr>
            </a:pPr>
            <a:r>
              <a:rPr sz="2250" b="1">
                <a:solidFill>
                  <a:srgbClr val="102A43"/>
                </a:solidFill>
                <a:latin typeface="Nunito Sans ExtraBold"/>
                <a:ea typeface="Nunito Sans ExtraBold"/>
                <a:cs typeface="Nunito Sans ExtraBold"/>
              </a:rPr>
              <a:t>Visible change and silent drift are fundamentally different regimes.</a:t>
            </a:r>
          </a:p>
        </p:txBody>
      </p:sp>
      <p:sp>
        <p:nvSpPr>
          <p:cNvPr id="8" name="Rounded Rectangle 7">
            <a:extLst>
              <a:ext uri="{FF2B5EF4-FFF2-40B4-BE49-F238E27FC236}">
                <a16:creationId xmlns:a16="http://schemas.microsoft.com/office/drawing/2014/main" id="{A88D554D-E25B-4F02-B6D5-E7475E60FB37}"/>
              </a:ext>
            </a:extLst>
          </p:cNvPr>
          <p:cNvSpPr>
            <a:spLocks noGrp="1"/>
          </p:cNvSpPr>
          <p:nvPr/>
        </p:nvSpPr>
        <p:spPr>
          <a:xfrm>
            <a:off x="685800" y="2000250"/>
            <a:ext cx="4819650" cy="3848100"/>
          </a:xfrm>
          <a:prstGeom prst="roundRect">
            <a:avLst>
              <a:gd name="adj" fmla="val 1980"/>
            </a:avLst>
          </a:prstGeom>
          <a:solidFill>
            <a:srgbClr val="FFFFFF"/>
          </a:solidFill>
          <a:ln w="9525">
            <a:solidFill>
              <a:srgbClr val="D8E1ED"/>
            </a:solidFill>
            <a:prstDash val="solid"/>
          </a:ln>
        </p:spPr>
        <p:txBody>
          <a:bodyPr/>
          <a:lstStyle/>
          <a:p>
            <a:endParaRPr lang="en-US"/>
          </a:p>
        </p:txBody>
      </p:sp>
      <p:sp>
        <p:nvSpPr>
          <p:cNvPr id="9" name="Rectangle 8">
            <a:extLst>
              <a:ext uri="{FF2B5EF4-FFF2-40B4-BE49-F238E27FC236}">
                <a16:creationId xmlns:a16="http://schemas.microsoft.com/office/drawing/2014/main" id="{921CBBC5-0F5D-4499-B027-28C358FA8044}"/>
              </a:ext>
            </a:extLst>
          </p:cNvPr>
          <p:cNvSpPr>
            <a:spLocks noGrp="1"/>
          </p:cNvSpPr>
          <p:nvPr/>
        </p:nvSpPr>
        <p:spPr>
          <a:xfrm>
            <a:off x="685800" y="2000250"/>
            <a:ext cx="4819650" cy="57150"/>
          </a:xfrm>
          <a:prstGeom prst="rect">
            <a:avLst/>
          </a:prstGeom>
          <a:solidFill>
            <a:srgbClr val="1E5AA8"/>
          </a:solidFill>
          <a:ln w="0">
            <a:solidFill>
              <a:srgbClr val="1E5AA8"/>
            </a:solidFill>
            <a:prstDash val="solid"/>
          </a:ln>
        </p:spPr>
        <p:txBody>
          <a:bodyPr/>
          <a:lstStyle/>
          <a:p>
            <a:endParaRPr lang="en-US"/>
          </a:p>
        </p:txBody>
      </p:sp>
      <p:sp>
        <p:nvSpPr>
          <p:cNvPr id="10" name="Rectangle 9">
            <a:extLst>
              <a:ext uri="{FF2B5EF4-FFF2-40B4-BE49-F238E27FC236}">
                <a16:creationId xmlns:a16="http://schemas.microsoft.com/office/drawing/2014/main" id="{2CC3F510-6F86-40EA-9A6B-CF16DC8CDAD7}"/>
              </a:ext>
            </a:extLst>
          </p:cNvPr>
          <p:cNvSpPr>
            <a:spLocks noGrp="1"/>
          </p:cNvSpPr>
          <p:nvPr/>
        </p:nvSpPr>
        <p:spPr>
          <a:xfrm>
            <a:off x="933450" y="2286000"/>
            <a:ext cx="2952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02A43"/>
                </a:solidFill>
                <a:latin typeface="Nunito Sans ExtraBold"/>
                <a:ea typeface="Nunito Sans ExtraBold"/>
                <a:cs typeface="Nunito Sans ExtraBold"/>
              </a:defRPr>
            </a:pPr>
            <a:r>
              <a:rPr sz="1800" b="1" dirty="0">
                <a:solidFill>
                  <a:srgbClr val="102A43"/>
                </a:solidFill>
                <a:latin typeface="Nunito Sans ExtraBold"/>
                <a:ea typeface="Nunito Sans ExtraBold"/>
                <a:cs typeface="Nunito Sans ExtraBold"/>
              </a:rPr>
              <a:t>Visible async change</a:t>
            </a:r>
          </a:p>
        </p:txBody>
      </p:sp>
      <p:sp>
        <p:nvSpPr>
          <p:cNvPr id="11" name="Rectangle 10">
            <a:extLst>
              <a:ext uri="{FF2B5EF4-FFF2-40B4-BE49-F238E27FC236}">
                <a16:creationId xmlns:a16="http://schemas.microsoft.com/office/drawing/2014/main" id="{8E2D06BF-50A7-43F8-A074-2DD73B400E3E}"/>
              </a:ext>
            </a:extLst>
          </p:cNvPr>
          <p:cNvSpPr>
            <a:spLocks noGrp="1"/>
          </p:cNvSpPr>
          <p:nvPr/>
        </p:nvSpPr>
        <p:spPr>
          <a:xfrm>
            <a:off x="933450" y="2705100"/>
            <a:ext cx="4095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02A43"/>
                </a:solidFill>
                <a:latin typeface="Nunito Sans"/>
                <a:ea typeface="Nunito Sans"/>
                <a:cs typeface="Nunito Sans"/>
              </a:defRPr>
            </a:pPr>
            <a:r>
              <a:rPr sz="1275" b="0">
                <a:solidFill>
                  <a:srgbClr val="102A43"/>
                </a:solidFill>
                <a:latin typeface="Nunito Sans"/>
                <a:ea typeface="Nunito Sans"/>
                <a:cs typeface="Nunito Sans"/>
              </a:rPr>
              <a:t>- Example: shop or contacts search results appear later</a:t>
            </a:r>
          </a:p>
        </p:txBody>
      </p:sp>
      <p:sp>
        <p:nvSpPr>
          <p:cNvPr id="12" name="Rectangle 11">
            <a:extLst>
              <a:ext uri="{FF2B5EF4-FFF2-40B4-BE49-F238E27FC236}">
                <a16:creationId xmlns:a16="http://schemas.microsoft.com/office/drawing/2014/main" id="{D7AF69C4-05D6-485D-9F35-E39FCE789C5F}"/>
              </a:ext>
            </a:extLst>
          </p:cNvPr>
          <p:cNvSpPr>
            <a:spLocks noGrp="1"/>
          </p:cNvSpPr>
          <p:nvPr/>
        </p:nvSpPr>
        <p:spPr>
          <a:xfrm>
            <a:off x="933450" y="3048000"/>
            <a:ext cx="4095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02A43"/>
                </a:solidFill>
                <a:latin typeface="Nunito Sans"/>
                <a:ea typeface="Nunito Sans"/>
                <a:cs typeface="Nunito Sans"/>
              </a:defRPr>
            </a:pPr>
            <a:r>
              <a:rPr sz="1275" b="0">
                <a:solidFill>
                  <a:srgbClr val="102A43"/>
                </a:solidFill>
                <a:latin typeface="Nunito Sans"/>
                <a:ea typeface="Nunito Sans"/>
                <a:cs typeface="Nunito Sans"/>
              </a:rPr>
              <a:t>- Status text and candidate set both change</a:t>
            </a:r>
          </a:p>
        </p:txBody>
      </p:sp>
      <p:sp>
        <p:nvSpPr>
          <p:cNvPr id="13" name="Rectangle 12">
            <a:extLst>
              <a:ext uri="{FF2B5EF4-FFF2-40B4-BE49-F238E27FC236}">
                <a16:creationId xmlns:a16="http://schemas.microsoft.com/office/drawing/2014/main" id="{14567F50-12A9-45F8-9DA0-824C4C4F1603}"/>
              </a:ext>
            </a:extLst>
          </p:cNvPr>
          <p:cNvSpPr>
            <a:spLocks noGrp="1"/>
          </p:cNvSpPr>
          <p:nvPr/>
        </p:nvSpPr>
        <p:spPr>
          <a:xfrm>
            <a:off x="933450" y="3390900"/>
            <a:ext cx="4095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02A43"/>
                </a:solidFill>
                <a:latin typeface="Nunito Sans"/>
                <a:ea typeface="Nunito Sans"/>
                <a:cs typeface="Nunito Sans"/>
              </a:defRPr>
            </a:pPr>
            <a:r>
              <a:rPr sz="1275" b="0">
                <a:solidFill>
                  <a:srgbClr val="102A43"/>
                </a:solidFill>
                <a:latin typeface="Nunito Sans"/>
                <a:ea typeface="Nunito Sans"/>
                <a:cs typeface="Nunito Sans"/>
              </a:rPr>
              <a:t>- Handrule gets a clear signal and fires correctly</a:t>
            </a:r>
          </a:p>
        </p:txBody>
      </p:sp>
      <p:sp>
        <p:nvSpPr>
          <p:cNvPr id="14" name="Rounded Rectangle 13">
            <a:extLst>
              <a:ext uri="{FF2B5EF4-FFF2-40B4-BE49-F238E27FC236}">
                <a16:creationId xmlns:a16="http://schemas.microsoft.com/office/drawing/2014/main" id="{1CA507D6-A9B4-4D66-AA92-9CBD8E1418C3}"/>
              </a:ext>
            </a:extLst>
          </p:cNvPr>
          <p:cNvSpPr>
            <a:spLocks noGrp="1"/>
          </p:cNvSpPr>
          <p:nvPr/>
        </p:nvSpPr>
        <p:spPr>
          <a:xfrm>
            <a:off x="952500" y="4076700"/>
            <a:ext cx="3981450" cy="1123950"/>
          </a:xfrm>
          <a:prstGeom prst="roundRect">
            <a:avLst>
              <a:gd name="adj" fmla="val 6780"/>
            </a:avLst>
          </a:prstGeom>
          <a:solidFill>
            <a:srgbClr val="F8FBFF"/>
          </a:solidFill>
          <a:ln w="9525">
            <a:solidFill>
              <a:srgbClr val="D8E1ED"/>
            </a:solidFill>
            <a:prstDash val="solid"/>
          </a:ln>
        </p:spPr>
        <p:txBody>
          <a:bodyPr/>
          <a:lstStyle/>
          <a:p>
            <a:endParaRPr lang="en-US"/>
          </a:p>
        </p:txBody>
      </p:sp>
      <p:sp>
        <p:nvSpPr>
          <p:cNvPr id="15" name="Rectangle 14">
            <a:extLst>
              <a:ext uri="{FF2B5EF4-FFF2-40B4-BE49-F238E27FC236}">
                <a16:creationId xmlns:a16="http://schemas.microsoft.com/office/drawing/2014/main" id="{D5C2AEB4-3B05-43DD-8816-D9304C40A486}"/>
              </a:ext>
            </a:extLst>
          </p:cNvPr>
          <p:cNvSpPr>
            <a:spLocks noGrp="1"/>
          </p:cNvSpPr>
          <p:nvPr/>
        </p:nvSpPr>
        <p:spPr>
          <a:xfrm>
            <a:off x="1181100" y="4305300"/>
            <a:ext cx="1238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1E5AA8"/>
                </a:solidFill>
                <a:latin typeface="Nunito Sans"/>
                <a:ea typeface="Nunito Sans"/>
                <a:cs typeface="Nunito Sans"/>
              </a:defRPr>
            </a:pPr>
            <a:r>
              <a:rPr sz="975" b="1">
                <a:solidFill>
                  <a:srgbClr val="1E5AA8"/>
                </a:solidFill>
                <a:latin typeface="Nunito Sans"/>
                <a:ea typeface="Nunito Sans"/>
                <a:cs typeface="Nunito Sans"/>
              </a:rPr>
              <a:t>Signal available</a:t>
            </a:r>
          </a:p>
        </p:txBody>
      </p:sp>
      <p:sp>
        <p:nvSpPr>
          <p:cNvPr id="16" name="Rectangle 15">
            <a:extLst>
              <a:ext uri="{FF2B5EF4-FFF2-40B4-BE49-F238E27FC236}">
                <a16:creationId xmlns:a16="http://schemas.microsoft.com/office/drawing/2014/main" id="{1D8EC6F1-86A5-4FD0-B443-52835C59AE6F}"/>
              </a:ext>
            </a:extLst>
          </p:cNvPr>
          <p:cNvSpPr>
            <a:spLocks noGrp="1"/>
          </p:cNvSpPr>
          <p:nvPr/>
        </p:nvSpPr>
        <p:spPr>
          <a:xfrm>
            <a:off x="1162050" y="4591050"/>
            <a:ext cx="3626926"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02A43"/>
                </a:solidFill>
                <a:latin typeface="Nunito Sans ExtraBold"/>
                <a:ea typeface="Nunito Sans ExtraBold"/>
                <a:cs typeface="Nunito Sans ExtraBold"/>
              </a:defRPr>
            </a:pPr>
            <a:r>
              <a:rPr sz="1650" b="1" dirty="0" err="1">
                <a:solidFill>
                  <a:srgbClr val="102A43"/>
                </a:solidFill>
                <a:latin typeface="Nunito Sans ExtraBold"/>
                <a:ea typeface="Nunito Sans ExtraBold"/>
                <a:cs typeface="Nunito Sans ExtraBold"/>
              </a:rPr>
              <a:t>screen_changed_last</a:t>
            </a:r>
            <a:r>
              <a:rPr sz="1650" b="1" dirty="0">
                <a:solidFill>
                  <a:srgbClr val="102A43"/>
                </a:solidFill>
                <a:latin typeface="Nunito Sans ExtraBold"/>
                <a:ea typeface="Nunito Sans ExtraBold"/>
                <a:cs typeface="Nunito Sans ExtraBold"/>
              </a:rPr>
              <a:t> = 1</a:t>
            </a:r>
          </a:p>
          <a:p>
            <a:pPr algn="l">
              <a:defRPr sz="1650" b="1">
                <a:solidFill>
                  <a:srgbClr val="102A43"/>
                </a:solidFill>
                <a:latin typeface="Nunito Sans ExtraBold"/>
                <a:ea typeface="Nunito Sans ExtraBold"/>
                <a:cs typeface="Nunito Sans ExtraBold"/>
              </a:defRPr>
            </a:pPr>
            <a:r>
              <a:rPr sz="1650" b="1" dirty="0" err="1">
                <a:solidFill>
                  <a:srgbClr val="102A43"/>
                </a:solidFill>
                <a:latin typeface="Nunito Sans ExtraBold"/>
                <a:ea typeface="Nunito Sans ExtraBold"/>
                <a:cs typeface="Nunito Sans ExtraBold"/>
              </a:rPr>
              <a:t>candidates_changed_last</a:t>
            </a:r>
            <a:r>
              <a:rPr sz="1650" b="1" dirty="0">
                <a:solidFill>
                  <a:srgbClr val="102A43"/>
                </a:solidFill>
                <a:latin typeface="Nunito Sans ExtraBold"/>
                <a:ea typeface="Nunito Sans ExtraBold"/>
                <a:cs typeface="Nunito Sans ExtraBold"/>
              </a:rPr>
              <a:t> = 1</a:t>
            </a:r>
          </a:p>
        </p:txBody>
      </p:sp>
      <p:sp>
        <p:nvSpPr>
          <p:cNvPr id="17" name="Rounded Rectangle 16">
            <a:extLst>
              <a:ext uri="{FF2B5EF4-FFF2-40B4-BE49-F238E27FC236}">
                <a16:creationId xmlns:a16="http://schemas.microsoft.com/office/drawing/2014/main" id="{0CA9BC93-0BAF-4F51-8EF9-18E7BF8C456D}"/>
              </a:ext>
            </a:extLst>
          </p:cNvPr>
          <p:cNvSpPr>
            <a:spLocks noGrp="1"/>
          </p:cNvSpPr>
          <p:nvPr/>
        </p:nvSpPr>
        <p:spPr>
          <a:xfrm>
            <a:off x="6191250" y="2000250"/>
            <a:ext cx="4895850" cy="3848100"/>
          </a:xfrm>
          <a:prstGeom prst="roundRect">
            <a:avLst>
              <a:gd name="adj" fmla="val 1980"/>
            </a:avLst>
          </a:prstGeom>
          <a:solidFill>
            <a:srgbClr val="FFFFFF"/>
          </a:solidFill>
          <a:ln w="9525">
            <a:solidFill>
              <a:srgbClr val="D8E1ED"/>
            </a:solidFill>
            <a:prstDash val="solid"/>
          </a:ln>
        </p:spPr>
        <p:txBody>
          <a:bodyPr/>
          <a:lstStyle/>
          <a:p>
            <a:endParaRPr lang="en-US"/>
          </a:p>
        </p:txBody>
      </p:sp>
      <p:sp>
        <p:nvSpPr>
          <p:cNvPr id="18" name="Rectangle 17">
            <a:extLst>
              <a:ext uri="{FF2B5EF4-FFF2-40B4-BE49-F238E27FC236}">
                <a16:creationId xmlns:a16="http://schemas.microsoft.com/office/drawing/2014/main" id="{94F75E3E-2986-4745-8D2C-48366CD02DF4}"/>
              </a:ext>
            </a:extLst>
          </p:cNvPr>
          <p:cNvSpPr>
            <a:spLocks noGrp="1"/>
          </p:cNvSpPr>
          <p:nvPr/>
        </p:nvSpPr>
        <p:spPr>
          <a:xfrm>
            <a:off x="6191250" y="2000250"/>
            <a:ext cx="4895850" cy="57150"/>
          </a:xfrm>
          <a:prstGeom prst="rect">
            <a:avLst/>
          </a:prstGeom>
          <a:solidFill>
            <a:srgbClr val="D1495B"/>
          </a:solidFill>
          <a:ln w="0">
            <a:solidFill>
              <a:srgbClr val="D1495B"/>
            </a:solidFill>
            <a:prstDash val="solid"/>
          </a:ln>
        </p:spPr>
        <p:txBody>
          <a:bodyPr/>
          <a:lstStyle/>
          <a:p>
            <a:endParaRPr lang="en-US"/>
          </a:p>
        </p:txBody>
      </p:sp>
      <p:sp>
        <p:nvSpPr>
          <p:cNvPr id="19" name="Rectangle 18">
            <a:extLst>
              <a:ext uri="{FF2B5EF4-FFF2-40B4-BE49-F238E27FC236}">
                <a16:creationId xmlns:a16="http://schemas.microsoft.com/office/drawing/2014/main" id="{8E4570F1-2FE2-4F46-9095-B17CFC3225B5}"/>
              </a:ext>
            </a:extLst>
          </p:cNvPr>
          <p:cNvSpPr>
            <a:spLocks noGrp="1"/>
          </p:cNvSpPr>
          <p:nvPr/>
        </p:nvSpPr>
        <p:spPr>
          <a:xfrm>
            <a:off x="6438900" y="2286000"/>
            <a:ext cx="209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02A43"/>
                </a:solidFill>
                <a:latin typeface="Nunito Sans ExtraBold"/>
                <a:ea typeface="Nunito Sans ExtraBold"/>
                <a:cs typeface="Nunito Sans ExtraBold"/>
              </a:defRPr>
            </a:pPr>
            <a:r>
              <a:rPr sz="1800" b="1">
                <a:solidFill>
                  <a:srgbClr val="102A43"/>
                </a:solidFill>
                <a:latin typeface="Nunito Sans ExtraBold"/>
                <a:ea typeface="Nunito Sans ExtraBold"/>
                <a:cs typeface="Nunito Sans ExtraBold"/>
              </a:rPr>
              <a:t>Silent value drift</a:t>
            </a:r>
          </a:p>
        </p:txBody>
      </p:sp>
      <p:sp>
        <p:nvSpPr>
          <p:cNvPr id="20" name="Rectangle 19">
            <a:extLst>
              <a:ext uri="{FF2B5EF4-FFF2-40B4-BE49-F238E27FC236}">
                <a16:creationId xmlns:a16="http://schemas.microsoft.com/office/drawing/2014/main" id="{91763C7A-5C45-464B-900A-CA5F2DFC6736}"/>
              </a:ext>
            </a:extLst>
          </p:cNvPr>
          <p:cNvSpPr>
            <a:spLocks noGrp="1"/>
          </p:cNvSpPr>
          <p:nvPr/>
        </p:nvSpPr>
        <p:spPr>
          <a:xfrm>
            <a:off x="6438900" y="2705100"/>
            <a:ext cx="41910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02A43"/>
                </a:solidFill>
                <a:latin typeface="Nunito Sans"/>
                <a:ea typeface="Nunito Sans"/>
                <a:cs typeface="Nunito Sans"/>
              </a:defRPr>
            </a:pPr>
            <a:r>
              <a:rPr sz="1275" b="0">
                <a:solidFill>
                  <a:srgbClr val="102A43"/>
                </a:solidFill>
                <a:latin typeface="Nunito Sans"/>
                <a:ea typeface="Nunito Sans"/>
                <a:cs typeface="Nunito Sans"/>
              </a:rPr>
              <a:t>- Example: recipient resolves from 'Resolving...' to a real address</a:t>
            </a:r>
          </a:p>
        </p:txBody>
      </p:sp>
      <p:sp>
        <p:nvSpPr>
          <p:cNvPr id="21" name="Rectangle 20">
            <a:extLst>
              <a:ext uri="{FF2B5EF4-FFF2-40B4-BE49-F238E27FC236}">
                <a16:creationId xmlns:a16="http://schemas.microsoft.com/office/drawing/2014/main" id="{CDC61A56-C7E2-4384-B197-44F9C070EC83}"/>
              </a:ext>
            </a:extLst>
          </p:cNvPr>
          <p:cNvSpPr>
            <a:spLocks noGrp="1"/>
          </p:cNvSpPr>
          <p:nvPr/>
        </p:nvSpPr>
        <p:spPr>
          <a:xfrm>
            <a:off x="6438900" y="3048000"/>
            <a:ext cx="41910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02A43"/>
                </a:solidFill>
                <a:latin typeface="Nunito Sans"/>
                <a:ea typeface="Nunito Sans"/>
                <a:cs typeface="Nunito Sans"/>
              </a:defRPr>
            </a:pPr>
            <a:r>
              <a:rPr sz="1275" b="0">
                <a:solidFill>
                  <a:srgbClr val="102A43"/>
                </a:solidFill>
                <a:latin typeface="Nunito Sans"/>
                <a:ea typeface="Nunito Sans"/>
                <a:cs typeface="Nunito Sans"/>
              </a:rPr>
              <a:t>- Selector set is unchanged, so coarse structure looks stable</a:t>
            </a:r>
          </a:p>
        </p:txBody>
      </p:sp>
      <p:sp>
        <p:nvSpPr>
          <p:cNvPr id="22" name="Rectangle 21">
            <a:extLst>
              <a:ext uri="{FF2B5EF4-FFF2-40B4-BE49-F238E27FC236}">
                <a16:creationId xmlns:a16="http://schemas.microsoft.com/office/drawing/2014/main" id="{237CBDE8-1CA2-42D2-8D5F-E55CC561567E}"/>
              </a:ext>
            </a:extLst>
          </p:cNvPr>
          <p:cNvSpPr>
            <a:spLocks noGrp="1"/>
          </p:cNvSpPr>
          <p:nvPr/>
        </p:nvSpPr>
        <p:spPr>
          <a:xfrm>
            <a:off x="6438900" y="3390900"/>
            <a:ext cx="41910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02A43"/>
                </a:solidFill>
                <a:latin typeface="Nunito Sans"/>
                <a:ea typeface="Nunito Sans"/>
                <a:cs typeface="Nunito Sans"/>
              </a:defRPr>
            </a:pPr>
            <a:r>
              <a:rPr sz="1275" b="0">
                <a:solidFill>
                  <a:srgbClr val="102A43"/>
                </a:solidFill>
                <a:latin typeface="Nunito Sans"/>
                <a:ea typeface="Nunito Sans"/>
                <a:cs typeface="Nunito Sans"/>
              </a:rPr>
              <a:t>- The gate needs uncertainty and plan-age signals to know another read is worth it</a:t>
            </a:r>
          </a:p>
        </p:txBody>
      </p:sp>
      <p:sp>
        <p:nvSpPr>
          <p:cNvPr id="23" name="Rounded Rectangle 22">
            <a:extLst>
              <a:ext uri="{FF2B5EF4-FFF2-40B4-BE49-F238E27FC236}">
                <a16:creationId xmlns:a16="http://schemas.microsoft.com/office/drawing/2014/main" id="{CA9D1242-B654-4E2F-A05B-7E00605F6283}"/>
              </a:ext>
            </a:extLst>
          </p:cNvPr>
          <p:cNvSpPr>
            <a:spLocks noGrp="1"/>
          </p:cNvSpPr>
          <p:nvPr/>
        </p:nvSpPr>
        <p:spPr>
          <a:xfrm>
            <a:off x="6457950" y="4076700"/>
            <a:ext cx="4095750" cy="1123950"/>
          </a:xfrm>
          <a:prstGeom prst="roundRect">
            <a:avLst>
              <a:gd name="adj" fmla="val 6780"/>
            </a:avLst>
          </a:prstGeom>
          <a:solidFill>
            <a:srgbClr val="FFF7F7"/>
          </a:solidFill>
          <a:ln w="9525">
            <a:solidFill>
              <a:srgbClr val="F2D6DB"/>
            </a:solidFill>
            <a:prstDash val="solid"/>
          </a:ln>
        </p:spPr>
        <p:txBody>
          <a:bodyPr/>
          <a:lstStyle/>
          <a:p>
            <a:endParaRPr lang="en-US"/>
          </a:p>
        </p:txBody>
      </p:sp>
      <p:sp>
        <p:nvSpPr>
          <p:cNvPr id="24" name="Rectangle 23">
            <a:extLst>
              <a:ext uri="{FF2B5EF4-FFF2-40B4-BE49-F238E27FC236}">
                <a16:creationId xmlns:a16="http://schemas.microsoft.com/office/drawing/2014/main" id="{930D58DF-EEA3-4E40-B62E-0193AC09B8B6}"/>
              </a:ext>
            </a:extLst>
          </p:cNvPr>
          <p:cNvSpPr>
            <a:spLocks noGrp="1"/>
          </p:cNvSpPr>
          <p:nvPr/>
        </p:nvSpPr>
        <p:spPr>
          <a:xfrm>
            <a:off x="6705600" y="4305300"/>
            <a:ext cx="1143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D1495B"/>
                </a:solidFill>
                <a:latin typeface="Nunito Sans"/>
                <a:ea typeface="Nunito Sans"/>
                <a:cs typeface="Nunito Sans"/>
              </a:defRPr>
            </a:pPr>
            <a:r>
              <a:rPr sz="975" b="1">
                <a:solidFill>
                  <a:srgbClr val="D1495B"/>
                </a:solidFill>
                <a:latin typeface="Nunito Sans"/>
                <a:ea typeface="Nunito Sans"/>
                <a:cs typeface="Nunito Sans"/>
              </a:rPr>
              <a:t>Blind spot</a:t>
            </a:r>
          </a:p>
        </p:txBody>
      </p:sp>
      <p:sp>
        <p:nvSpPr>
          <p:cNvPr id="25" name="Rectangle 24">
            <a:extLst>
              <a:ext uri="{FF2B5EF4-FFF2-40B4-BE49-F238E27FC236}">
                <a16:creationId xmlns:a16="http://schemas.microsoft.com/office/drawing/2014/main" id="{69CFCA18-AF70-4B07-96BB-37D3D5DD2C35}"/>
              </a:ext>
            </a:extLst>
          </p:cNvPr>
          <p:cNvSpPr>
            <a:spLocks noGrp="1"/>
          </p:cNvSpPr>
          <p:nvPr/>
        </p:nvSpPr>
        <p:spPr>
          <a:xfrm>
            <a:off x="6686550" y="4591050"/>
            <a:ext cx="26670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02A43"/>
                </a:solidFill>
                <a:latin typeface="Nunito Sans ExtraBold"/>
                <a:ea typeface="Nunito Sans ExtraBold"/>
                <a:cs typeface="Nunito Sans ExtraBold"/>
              </a:defRPr>
            </a:pPr>
            <a:r>
              <a:rPr sz="1650" b="1" dirty="0" err="1">
                <a:solidFill>
                  <a:srgbClr val="102A43"/>
                </a:solidFill>
                <a:latin typeface="Nunito Sans ExtraBold"/>
                <a:ea typeface="Nunito Sans ExtraBold"/>
                <a:cs typeface="Nunito Sans ExtraBold"/>
              </a:rPr>
              <a:t>screen_changed_last</a:t>
            </a:r>
            <a:r>
              <a:rPr sz="1650" b="1" dirty="0">
                <a:solidFill>
                  <a:srgbClr val="102A43"/>
                </a:solidFill>
                <a:latin typeface="Nunito Sans ExtraBold"/>
                <a:ea typeface="Nunito Sans ExtraBold"/>
                <a:cs typeface="Nunito Sans ExtraBold"/>
              </a:rPr>
              <a:t> = 0</a:t>
            </a:r>
          </a:p>
          <a:p>
            <a:pPr algn="l">
              <a:defRPr sz="1650" b="1">
                <a:solidFill>
                  <a:srgbClr val="102A43"/>
                </a:solidFill>
                <a:latin typeface="Nunito Sans ExtraBold"/>
                <a:ea typeface="Nunito Sans ExtraBold"/>
                <a:cs typeface="Nunito Sans ExtraBold"/>
              </a:defRPr>
            </a:pPr>
            <a:r>
              <a:rPr sz="1650" b="1" dirty="0">
                <a:solidFill>
                  <a:srgbClr val="102A43"/>
                </a:solidFill>
                <a:latin typeface="Nunito Sans ExtraBold"/>
                <a:ea typeface="Nunito Sans ExtraBold"/>
                <a:cs typeface="Nunito Sans ExtraBold"/>
              </a:rPr>
              <a:t>candidate set unchanged</a:t>
            </a:r>
          </a:p>
        </p:txBody>
      </p:sp>
    </p:spTree>
    <p:extLst>
      <p:ext uri="{BB962C8B-B14F-4D97-AF65-F5344CB8AC3E}">
        <p14:creationId xmlns:p14="http://schemas.microsoft.com/office/powerpoint/2010/main" val="1764312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D05848-C434-4617-A221-FF89DD77C37C}"/>
              </a:ext>
            </a:extLst>
          </p:cNvPr>
          <p:cNvSpPr>
            <a:spLocks noGrp="1"/>
          </p:cNvSpPr>
          <p:nvPr/>
        </p:nvSpPr>
        <p:spPr>
          <a:xfrm>
            <a:off x="533400" y="571500"/>
            <a:ext cx="11125200" cy="19050"/>
          </a:xfrm>
          <a:prstGeom prst="rect">
            <a:avLst/>
          </a:prstGeom>
          <a:solidFill>
            <a:srgbClr val="1E5AA8"/>
          </a:solidFill>
          <a:ln w="0">
            <a:solidFill>
              <a:srgbClr val="1E5AA8"/>
            </a:solidFill>
            <a:prstDash val="solid"/>
          </a:ln>
        </p:spPr>
        <p:txBody>
          <a:bodyPr/>
          <a:lstStyle/>
          <a:p>
            <a:endParaRPr lang="en-US"/>
          </a:p>
        </p:txBody>
      </p:sp>
      <p:sp>
        <p:nvSpPr>
          <p:cNvPr id="3" name="Rectangle 2">
            <a:extLst>
              <a:ext uri="{FF2B5EF4-FFF2-40B4-BE49-F238E27FC236}">
                <a16:creationId xmlns:a16="http://schemas.microsoft.com/office/drawing/2014/main" id="{A4415D1E-38DD-412B-9C14-99D052FD6507}"/>
              </a:ext>
            </a:extLst>
          </p:cNvPr>
          <p:cNvSpPr>
            <a:spLocks noGrp="1"/>
          </p:cNvSpPr>
          <p:nvPr/>
        </p:nvSpPr>
        <p:spPr>
          <a:xfrm>
            <a:off x="571500" y="247650"/>
            <a:ext cx="7810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02A43"/>
                </a:solidFill>
                <a:latin typeface="Nunito Sans ExtraBold"/>
                <a:ea typeface="Nunito Sans ExtraBold"/>
                <a:cs typeface="Nunito Sans ExtraBold"/>
              </a:defRPr>
            </a:pPr>
            <a:r>
              <a:rPr sz="2100" b="1">
                <a:solidFill>
                  <a:srgbClr val="102A43"/>
                </a:solidFill>
                <a:latin typeface="Nunito Sans ExtraBold"/>
                <a:ea typeface="Nunito Sans ExtraBold"/>
                <a:cs typeface="Nunito Sans ExtraBold"/>
              </a:rPr>
              <a:t>Demo Gallery: Four Real Tasks</a:t>
            </a:r>
          </a:p>
        </p:txBody>
      </p:sp>
      <p:sp>
        <p:nvSpPr>
          <p:cNvPr id="4" name="Rectangle 3">
            <a:extLst>
              <a:ext uri="{FF2B5EF4-FFF2-40B4-BE49-F238E27FC236}">
                <a16:creationId xmlns:a16="http://schemas.microsoft.com/office/drawing/2014/main" id="{431C23A9-8C5E-4A92-9F73-015282691010}"/>
              </a:ext>
            </a:extLst>
          </p:cNvPr>
          <p:cNvSpPr>
            <a:spLocks noGrp="1"/>
          </p:cNvSpPr>
          <p:nvPr/>
        </p:nvSpPr>
        <p:spPr>
          <a:xfrm>
            <a:off x="10572750" y="247650"/>
            <a:ext cx="1047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B6B82"/>
                </a:solidFill>
                <a:latin typeface="Nunito Sans"/>
                <a:ea typeface="Nunito Sans"/>
                <a:cs typeface="Nunito Sans"/>
              </a:defRPr>
            </a:pPr>
            <a:r>
              <a:rPr sz="825" b="1">
                <a:solidFill>
                  <a:srgbClr val="5B6B82"/>
                </a:solidFill>
                <a:latin typeface="Nunito Sans"/>
                <a:ea typeface="Nunito Sans"/>
                <a:cs typeface="Nunito Sans"/>
              </a:rPr>
              <a:t>10 / 12</a:t>
            </a:r>
          </a:p>
        </p:txBody>
      </p:sp>
      <p:sp>
        <p:nvSpPr>
          <p:cNvPr id="12" name="TextBox 11"/>
          <p:cNvSpPr txBox="1">
            <a:spLocks noGrp="1"/>
          </p:cNvSpPr>
          <p:nvPr/>
        </p:nvSpPr>
        <p:spPr>
          <a:xfrm>
            <a:off x="600000" y="3500584"/>
            <a:ext cx="5396000" cy="200000"/>
          </a:xfrm>
          <a:prstGeom prst="rect">
            <a:avLst/>
          </a:prstGeom>
          <a:noFill/>
        </p:spPr>
        <p:txBody>
          <a:bodyPr wrap="square">
            <a:spAutoFit/>
          </a:bodyPr>
          <a:lstStyle/>
          <a:p>
            <a:pPr algn="ctr"/>
            <a:r>
              <a:rPr sz="1000" b="0">
                <a:solidFill>
                  <a:srgbClr val="64748B"/>
                </a:solidFill>
              </a:rPr>
              <a:t>Silent recipient drift · mail-send-suggested-finance</a:t>
            </a:r>
          </a:p>
        </p:txBody>
      </p:sp>
      <p:sp>
        <p:nvSpPr>
          <p:cNvPr id="13" name="TextBox 12"/>
          <p:cNvSpPr txBox="1">
            <a:spLocks noGrp="1"/>
          </p:cNvSpPr>
          <p:nvPr/>
        </p:nvSpPr>
        <p:spPr>
          <a:xfrm>
            <a:off x="6196000" y="3500584"/>
            <a:ext cx="5396000" cy="200000"/>
          </a:xfrm>
          <a:prstGeom prst="rect">
            <a:avLst/>
          </a:prstGeom>
          <a:noFill/>
        </p:spPr>
        <p:txBody>
          <a:bodyPr wrap="square">
            <a:spAutoFit/>
          </a:bodyPr>
          <a:lstStyle/>
          <a:p>
            <a:pPr algn="ctr"/>
            <a:r>
              <a:rPr sz="1000" b="0">
                <a:solidFill>
                  <a:srgbClr val="64748B"/>
                </a:solidFill>
              </a:rPr>
              <a:t>Visible async results · shop-add-notebook-async-slow</a:t>
            </a:r>
          </a:p>
        </p:txBody>
      </p:sp>
      <p:sp>
        <p:nvSpPr>
          <p:cNvPr id="14" name="TextBox 13"/>
          <p:cNvSpPr txBox="1">
            <a:spLocks noGrp="1"/>
          </p:cNvSpPr>
          <p:nvPr/>
        </p:nvSpPr>
        <p:spPr>
          <a:xfrm>
            <a:off x="640855" y="6486550"/>
            <a:ext cx="5396000" cy="200000"/>
          </a:xfrm>
          <a:prstGeom prst="rect">
            <a:avLst/>
          </a:prstGeom>
          <a:noFill/>
        </p:spPr>
        <p:txBody>
          <a:bodyPr wrap="square">
            <a:spAutoFit/>
          </a:bodyPr>
          <a:lstStyle/>
          <a:p>
            <a:pPr algn="ctr"/>
            <a:r>
              <a:rPr sz="1000" b="0">
                <a:solidFill>
                  <a:srgbClr val="64748B"/>
                </a:solidFill>
              </a:rPr>
              <a:t>Visible async contacts · contacts-open-jordan-async-slow</a:t>
            </a:r>
          </a:p>
        </p:txBody>
      </p:sp>
      <p:sp>
        <p:nvSpPr>
          <p:cNvPr id="15" name="TextBox 14"/>
          <p:cNvSpPr txBox="1">
            <a:spLocks noGrp="1"/>
          </p:cNvSpPr>
          <p:nvPr/>
        </p:nvSpPr>
        <p:spPr>
          <a:xfrm>
            <a:off x="6098476" y="6486550"/>
            <a:ext cx="5396000" cy="200000"/>
          </a:xfrm>
          <a:prstGeom prst="rect">
            <a:avLst/>
          </a:prstGeom>
          <a:noFill/>
        </p:spPr>
        <p:txBody>
          <a:bodyPr wrap="square">
            <a:spAutoFit/>
          </a:bodyPr>
          <a:lstStyle/>
          <a:p>
            <a:pPr algn="ctr"/>
            <a:r>
              <a:rPr sz="1000" b="0" dirty="0">
                <a:solidFill>
                  <a:srgbClr val="64748B"/>
                </a:solidFill>
              </a:rPr>
              <a:t>Delayed options · settings-save-</a:t>
            </a:r>
            <a:r>
              <a:rPr sz="1000" b="0" dirty="0" err="1">
                <a:solidFill>
                  <a:srgbClr val="64748B"/>
                </a:solidFill>
              </a:rPr>
              <a:t>french</a:t>
            </a:r>
            <a:r>
              <a:rPr sz="1000" b="0" dirty="0">
                <a:solidFill>
                  <a:srgbClr val="64748B"/>
                </a:solidFill>
              </a:rPr>
              <a:t>-resolve</a:t>
            </a:r>
          </a:p>
        </p:txBody>
      </p:sp>
      <p:pic>
        <p:nvPicPr>
          <p:cNvPr id="18" name="contacts-open-jordan-async-slow__always">
            <a:hlinkClick r:id="" action="ppaction://media"/>
            <a:extLst>
              <a:ext uri="{FF2B5EF4-FFF2-40B4-BE49-F238E27FC236}">
                <a16:creationId xmlns:a16="http://schemas.microsoft.com/office/drawing/2014/main" id="{FE4DA20C-811A-EABD-9497-88670C895122}"/>
              </a:ext>
            </a:extLst>
          </p:cNvPr>
          <p:cNvPicPr>
            <a:picLocks noChangeAspect="1"/>
          </p:cNvPicPr>
          <p:nvPr>
            <a:videoFile r:link="rId2"/>
            <p:extLst>
              <p:ext uri="{DAA4B4D4-6D71-4841-9C94-3DE7FCFB9230}">
                <p14:media xmlns:p14="http://schemas.microsoft.com/office/powerpoint/2010/main" r:embed="rId1"/>
              </p:ext>
            </p:extLst>
          </p:nvPr>
        </p:nvPicPr>
        <p:blipFill>
          <a:blip r:embed="rId11"/>
          <a:stretch>
            <a:fillRect/>
          </a:stretch>
        </p:blipFill>
        <p:spPr>
          <a:xfrm>
            <a:off x="1358277" y="3788017"/>
            <a:ext cx="3837913" cy="2698533"/>
          </a:xfrm>
          <a:prstGeom prst="rect">
            <a:avLst/>
          </a:prstGeom>
        </p:spPr>
      </p:pic>
      <p:pic>
        <p:nvPicPr>
          <p:cNvPr id="20" name="settings-save-french-resolve__always">
            <a:hlinkClick r:id="" action="ppaction://media"/>
            <a:extLst>
              <a:ext uri="{FF2B5EF4-FFF2-40B4-BE49-F238E27FC236}">
                <a16:creationId xmlns:a16="http://schemas.microsoft.com/office/drawing/2014/main" id="{2FDFF0BE-F02A-96E9-E083-9ABFDB84712A}"/>
              </a:ext>
            </a:extLst>
          </p:cNvPr>
          <p:cNvPicPr>
            <a:picLocks noChangeAspect="1"/>
          </p:cNvPicPr>
          <p:nvPr>
            <a:videoFile r:link="rId4"/>
            <p:extLst>
              <p:ext uri="{DAA4B4D4-6D71-4841-9C94-3DE7FCFB9230}">
                <p14:media xmlns:p14="http://schemas.microsoft.com/office/powerpoint/2010/main" r:embed="rId3"/>
              </p:ext>
            </p:extLst>
          </p:nvPr>
        </p:nvPicPr>
        <p:blipFill>
          <a:blip r:embed="rId12"/>
          <a:stretch>
            <a:fillRect/>
          </a:stretch>
        </p:blipFill>
        <p:spPr>
          <a:xfrm>
            <a:off x="6877520" y="3788018"/>
            <a:ext cx="3837913" cy="2698532"/>
          </a:xfrm>
          <a:prstGeom prst="rect">
            <a:avLst/>
          </a:prstGeom>
        </p:spPr>
      </p:pic>
      <p:pic>
        <p:nvPicPr>
          <p:cNvPr id="21" name="shop-add-notebook-async-slow__always">
            <a:hlinkClick r:id="" action="ppaction://media"/>
            <a:extLst>
              <a:ext uri="{FF2B5EF4-FFF2-40B4-BE49-F238E27FC236}">
                <a16:creationId xmlns:a16="http://schemas.microsoft.com/office/drawing/2014/main" id="{4C2243C5-7857-AA85-8741-C78C736B9C19}"/>
              </a:ext>
            </a:extLst>
          </p:cNvPr>
          <p:cNvPicPr>
            <a:picLocks noChangeAspect="1"/>
          </p:cNvPicPr>
          <p:nvPr>
            <a:videoFile r:link="rId6"/>
            <p:extLst>
              <p:ext uri="{DAA4B4D4-6D71-4841-9C94-3DE7FCFB9230}">
                <p14:media xmlns:p14="http://schemas.microsoft.com/office/powerpoint/2010/main" r:embed="rId5"/>
              </p:ext>
            </p:extLst>
          </p:nvPr>
        </p:nvPicPr>
        <p:blipFill>
          <a:blip r:embed="rId13"/>
          <a:stretch>
            <a:fillRect/>
          </a:stretch>
        </p:blipFill>
        <p:spPr>
          <a:xfrm>
            <a:off x="6877328" y="801917"/>
            <a:ext cx="3838105" cy="2698667"/>
          </a:xfrm>
          <a:prstGeom prst="rect">
            <a:avLst/>
          </a:prstGeom>
        </p:spPr>
      </p:pic>
      <p:pic>
        <p:nvPicPr>
          <p:cNvPr id="19" name="mail-send-suggested-finance__always">
            <a:hlinkClick r:id="" action="ppaction://media"/>
            <a:extLst>
              <a:ext uri="{FF2B5EF4-FFF2-40B4-BE49-F238E27FC236}">
                <a16:creationId xmlns:a16="http://schemas.microsoft.com/office/drawing/2014/main" id="{08C03E4D-9981-E5BB-D843-2711CA642740}"/>
              </a:ext>
            </a:extLst>
          </p:cNvPr>
          <p:cNvPicPr>
            <a:picLocks noChangeAspect="1"/>
          </p:cNvPicPr>
          <p:nvPr>
            <a:videoFile r:link="rId8"/>
            <p:extLst>
              <p:ext uri="{DAA4B4D4-6D71-4841-9C94-3DE7FCFB9230}">
                <p14:media xmlns:p14="http://schemas.microsoft.com/office/powerpoint/2010/main" r:embed="rId7"/>
              </p:ext>
            </p:extLst>
          </p:nvPr>
        </p:nvPicPr>
        <p:blipFill>
          <a:blip r:embed="rId14"/>
          <a:stretch>
            <a:fillRect/>
          </a:stretch>
        </p:blipFill>
        <p:spPr>
          <a:xfrm>
            <a:off x="1358085" y="771634"/>
            <a:ext cx="3838105" cy="269866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80" fill="hold"/>
                                        <p:tgtEl>
                                          <p:spTgt spid="19"/>
                                        </p:tgtEl>
                                      </p:cBhvr>
                                    </p:cmd>
                                  </p:childTnLst>
                                </p:cTn>
                              </p:par>
                              <p:par>
                                <p:cTn id="7" presetID="1" presetClass="mediacall" presetSubtype="0" fill="hold" nodeType="withEffect">
                                  <p:stCondLst>
                                    <p:cond delay="0"/>
                                  </p:stCondLst>
                                  <p:childTnLst>
                                    <p:cmd type="call" cmd="playFrom(0.0)">
                                      <p:cBhvr>
                                        <p:cTn id="8" dur="7880" fill="hold"/>
                                        <p:tgtEl>
                                          <p:spTgt spid="18"/>
                                        </p:tgtEl>
                                      </p:cBhvr>
                                    </p:cmd>
                                  </p:childTnLst>
                                </p:cTn>
                              </p:par>
                              <p:par>
                                <p:cTn id="9" presetID="1" presetClass="mediacall" presetSubtype="0" fill="hold" nodeType="withEffect">
                                  <p:stCondLst>
                                    <p:cond delay="0"/>
                                  </p:stCondLst>
                                  <p:childTnLst>
                                    <p:cmd type="call" cmd="playFrom(0.0)">
                                      <p:cBhvr>
                                        <p:cTn id="10" dur="12960" fill="hold"/>
                                        <p:tgtEl>
                                          <p:spTgt spid="21"/>
                                        </p:tgtEl>
                                      </p:cBhvr>
                                    </p:cmd>
                                  </p:childTnLst>
                                </p:cTn>
                              </p:par>
                              <p:par>
                                <p:cTn id="11" presetID="1" presetClass="mediacall" presetSubtype="0" fill="hold" nodeType="withEffect">
                                  <p:stCondLst>
                                    <p:cond delay="0"/>
                                  </p:stCondLst>
                                  <p:childTnLst>
                                    <p:cmd type="call" cmd="playFrom(0.0)">
                                      <p:cBhvr>
                                        <p:cTn id="12" dur="8520"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3" repeatCount="indefinite" fill="hold" display="0">
                  <p:stCondLst>
                    <p:cond delay="indefinite"/>
                  </p:stCondLst>
                </p:cTn>
                <p:tgtEl>
                  <p:spTgt spid="19"/>
                </p:tgtEl>
              </p:cMediaNode>
            </p:video>
            <p:seq concurrent="1" nextAc="seek">
              <p:cTn id="14" restart="whenNotActive" fill="hold" evtFilter="cancelBubble" nodeType="interactiveSeq">
                <p:stCondLst>
                  <p:cond evt="onClick" delay="0">
                    <p:tgtEl>
                      <p:spTgt spid="19"/>
                    </p:tgtEl>
                  </p:cond>
                </p:stCondLst>
                <p:endSync evt="end" delay="0">
                  <p:rtn val="all"/>
                </p:endSync>
                <p:childTnLst>
                  <p:par>
                    <p:cTn id="15" fill="hold">
                      <p:stCondLst>
                        <p:cond delay="0"/>
                      </p:stCondLst>
                      <p:childTnLst>
                        <p:par>
                          <p:cTn id="16" fill="hold">
                            <p:stCondLst>
                              <p:cond delay="0"/>
                            </p:stCondLst>
                            <p:childTnLst>
                              <p:par>
                                <p:cTn id="17" presetID="2" presetClass="mediacall" presetSubtype="0" fill="hold" nodeType="clickEffect">
                                  <p:stCondLst>
                                    <p:cond delay="0"/>
                                  </p:stCondLst>
                                  <p:childTnLst>
                                    <p:cmd type="call" cmd="togglePause">
                                      <p:cBhvr>
                                        <p:cTn id="18" dur="1" fill="hold"/>
                                        <p:tgtEl>
                                          <p:spTgt spid="19"/>
                                        </p:tgtEl>
                                      </p:cBhvr>
                                    </p:cmd>
                                  </p:childTnLst>
                                </p:cTn>
                              </p:par>
                            </p:childTnLst>
                          </p:cTn>
                        </p:par>
                      </p:childTnLst>
                    </p:cTn>
                  </p:par>
                </p:childTnLst>
              </p:cTn>
              <p:nextCondLst>
                <p:cond evt="onClick" delay="0">
                  <p:tgtEl>
                    <p:spTgt spid="19"/>
                  </p:tgtEl>
                </p:cond>
              </p:nextCondLst>
            </p:seq>
            <p:video>
              <p:cMediaNode vol="80000">
                <p:cTn id="19" repeatCount="indefinite" fill="hold" display="0">
                  <p:stCondLst>
                    <p:cond delay="indefinite"/>
                  </p:stCondLst>
                </p:cTn>
                <p:tgtEl>
                  <p:spTgt spid="18"/>
                </p:tgtEl>
              </p:cMediaNode>
            </p:video>
            <p:seq concurrent="1" nextAc="seek">
              <p:cTn id="20" restart="whenNotActive" fill="hold" evtFilter="cancelBubble" nodeType="interactiveSeq">
                <p:stCondLst>
                  <p:cond evt="onClick" delay="0">
                    <p:tgtEl>
                      <p:spTgt spid="18"/>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afterEffect">
                                  <p:stCondLst>
                                    <p:cond delay="0"/>
                                  </p:stCondLst>
                                  <p:childTnLst>
                                    <p:cmd type="call" cmd="togglePause">
                                      <p:cBhvr>
                                        <p:cTn id="24" dur="1" fill="hold"/>
                                        <p:tgtEl>
                                          <p:spTgt spid="18"/>
                                        </p:tgtEl>
                                      </p:cBhvr>
                                    </p:cmd>
                                  </p:childTnLst>
                                </p:cTn>
                              </p:par>
                            </p:childTnLst>
                          </p:cTn>
                        </p:par>
                      </p:childTnLst>
                    </p:cTn>
                  </p:par>
                </p:childTnLst>
              </p:cTn>
              <p:nextCondLst>
                <p:cond evt="onClick" delay="0">
                  <p:tgtEl>
                    <p:spTgt spid="18"/>
                  </p:tgtEl>
                </p:cond>
              </p:nextCondLst>
            </p:seq>
            <p:video>
              <p:cMediaNode vol="80000">
                <p:cTn id="25" repeatCount="indefinite" fill="hold" display="0">
                  <p:stCondLst>
                    <p:cond delay="indefinite"/>
                  </p:stCondLst>
                </p:cTn>
                <p:tgtEl>
                  <p:spTgt spid="21"/>
                </p:tgtEl>
              </p:cMediaNode>
            </p:video>
            <p:seq concurrent="1" nextAc="seek">
              <p:cTn id="26" restart="whenNotActive" fill="hold" evtFilter="cancelBubble" nodeType="interactiveSeq">
                <p:stCondLst>
                  <p:cond evt="onClick" delay="0">
                    <p:tgtEl>
                      <p:spTgt spid="21"/>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afterEffect">
                                  <p:stCondLst>
                                    <p:cond delay="0"/>
                                  </p:stCondLst>
                                  <p:childTnLst>
                                    <p:cmd type="call" cmd="togglePause">
                                      <p:cBhvr>
                                        <p:cTn id="30" dur="1" fill="hold"/>
                                        <p:tgtEl>
                                          <p:spTgt spid="21"/>
                                        </p:tgtEl>
                                      </p:cBhvr>
                                    </p:cmd>
                                  </p:childTnLst>
                                </p:cTn>
                              </p:par>
                            </p:childTnLst>
                          </p:cTn>
                        </p:par>
                      </p:childTnLst>
                    </p:cTn>
                  </p:par>
                </p:childTnLst>
              </p:cTn>
              <p:nextCondLst>
                <p:cond evt="onClick" delay="0">
                  <p:tgtEl>
                    <p:spTgt spid="21"/>
                  </p:tgtEl>
                </p:cond>
              </p:nextCondLst>
            </p:seq>
            <p:video>
              <p:cMediaNode vol="80000">
                <p:cTn id="31" repeatCount="indefinite" fill="hold" display="0">
                  <p:stCondLst>
                    <p:cond delay="indefinite"/>
                  </p:stCondLst>
                </p:cTn>
                <p:tgtEl>
                  <p:spTgt spid="20"/>
                </p:tgtEl>
              </p:cMediaNode>
            </p:video>
            <p:seq concurrent="1" nextAc="seek">
              <p:cTn id="32" restart="whenNotActive" fill="hold" evtFilter="cancelBubble" nodeType="interactiveSeq">
                <p:stCondLst>
                  <p:cond evt="onClick" delay="0">
                    <p:tgtEl>
                      <p:spTgt spid="20"/>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afterEffect">
                                  <p:stCondLst>
                                    <p:cond delay="0"/>
                                  </p:stCondLst>
                                  <p:childTnLst>
                                    <p:cmd type="call" cmd="togglePause">
                                      <p:cBhvr>
                                        <p:cTn id="36"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E726EB-E84D-43AE-9F4C-C71BAB32149B}"/>
              </a:ext>
            </a:extLst>
          </p:cNvPr>
          <p:cNvSpPr>
            <a:spLocks noGrp="1"/>
          </p:cNvSpPr>
          <p:nvPr/>
        </p:nvSpPr>
        <p:spPr>
          <a:xfrm>
            <a:off x="533400" y="571500"/>
            <a:ext cx="11125200" cy="19050"/>
          </a:xfrm>
          <a:prstGeom prst="rect">
            <a:avLst/>
          </a:prstGeom>
          <a:solidFill>
            <a:srgbClr val="1E5AA8"/>
          </a:solidFill>
          <a:ln w="0">
            <a:solidFill>
              <a:srgbClr val="1E5AA8"/>
            </a:solidFill>
            <a:prstDash val="solid"/>
          </a:ln>
        </p:spPr>
        <p:txBody>
          <a:bodyPr/>
          <a:lstStyle/>
          <a:p>
            <a:endParaRPr lang="en-US"/>
          </a:p>
        </p:txBody>
      </p:sp>
      <p:sp>
        <p:nvSpPr>
          <p:cNvPr id="3" name="Rectangle 2">
            <a:extLst>
              <a:ext uri="{FF2B5EF4-FFF2-40B4-BE49-F238E27FC236}">
                <a16:creationId xmlns:a16="http://schemas.microsoft.com/office/drawing/2014/main" id="{B18226F5-7D7C-42BF-AEF5-2A21AD19B803}"/>
              </a:ext>
            </a:extLst>
          </p:cNvPr>
          <p:cNvSpPr>
            <a:spLocks noGrp="1"/>
          </p:cNvSpPr>
          <p:nvPr/>
        </p:nvSpPr>
        <p:spPr>
          <a:xfrm>
            <a:off x="571500" y="247650"/>
            <a:ext cx="7810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02A43"/>
                </a:solidFill>
                <a:latin typeface="Nunito Sans ExtraBold"/>
                <a:ea typeface="Nunito Sans ExtraBold"/>
                <a:cs typeface="Nunito Sans ExtraBold"/>
              </a:defRPr>
            </a:pPr>
            <a:r>
              <a:rPr sz="2100" b="1">
                <a:solidFill>
                  <a:srgbClr val="102A43"/>
                </a:solidFill>
                <a:latin typeface="Nunito Sans ExtraBold"/>
                <a:ea typeface="Nunito Sans ExtraBold"/>
                <a:cs typeface="Nunito Sans ExtraBold"/>
              </a:rPr>
              <a:t>Limitations and Why This Suite Still Matters</a:t>
            </a:r>
          </a:p>
        </p:txBody>
      </p:sp>
      <p:sp>
        <p:nvSpPr>
          <p:cNvPr id="4" name="Rectangle 3">
            <a:extLst>
              <a:ext uri="{FF2B5EF4-FFF2-40B4-BE49-F238E27FC236}">
                <a16:creationId xmlns:a16="http://schemas.microsoft.com/office/drawing/2014/main" id="{F99C3A81-6113-4A53-832A-47E41615C94D}"/>
              </a:ext>
            </a:extLst>
          </p:cNvPr>
          <p:cNvSpPr>
            <a:spLocks noGrp="1"/>
          </p:cNvSpPr>
          <p:nvPr/>
        </p:nvSpPr>
        <p:spPr>
          <a:xfrm>
            <a:off x="10572750" y="247650"/>
            <a:ext cx="1047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B6B82"/>
                </a:solidFill>
                <a:latin typeface="Nunito Sans"/>
                <a:ea typeface="Nunito Sans"/>
                <a:cs typeface="Nunito Sans"/>
              </a:defRPr>
            </a:pPr>
            <a:r>
              <a:rPr sz="825" b="1">
                <a:solidFill>
                  <a:srgbClr val="5B6B82"/>
                </a:solidFill>
                <a:latin typeface="Nunito Sans"/>
                <a:ea typeface="Nunito Sans"/>
                <a:cs typeface="Nunito Sans"/>
              </a:rPr>
              <a:t>11 / 12</a:t>
            </a:r>
          </a:p>
        </p:txBody>
      </p:sp>
      <p:sp>
        <p:nvSpPr>
          <p:cNvPr id="5" name="Rectangle 4">
            <a:extLst>
              <a:ext uri="{FF2B5EF4-FFF2-40B4-BE49-F238E27FC236}">
                <a16:creationId xmlns:a16="http://schemas.microsoft.com/office/drawing/2014/main" id="{BDFC1B52-14A2-45EB-BDB4-35D3D906DC8B}"/>
              </a:ext>
            </a:extLst>
          </p:cNvPr>
          <p:cNvSpPr>
            <a:spLocks noGrp="1"/>
          </p:cNvSpPr>
          <p:nvPr/>
        </p:nvSpPr>
        <p:spPr>
          <a:xfrm>
            <a:off x="571500" y="6553200"/>
            <a:ext cx="3429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Selective Observation for Browser Agents</a:t>
            </a:r>
          </a:p>
        </p:txBody>
      </p:sp>
      <p:sp>
        <p:nvSpPr>
          <p:cNvPr id="6" name="Rectangle 5">
            <a:extLst>
              <a:ext uri="{FF2B5EF4-FFF2-40B4-BE49-F238E27FC236}">
                <a16:creationId xmlns:a16="http://schemas.microsoft.com/office/drawing/2014/main" id="{4DD3FF6A-1AC1-4F10-96ED-A20040A67A65}"/>
              </a:ext>
            </a:extLst>
          </p:cNvPr>
          <p:cNvSpPr>
            <a:spLocks noGrp="1"/>
          </p:cNvSpPr>
          <p:nvPr/>
        </p:nvSpPr>
        <p:spPr>
          <a:xfrm>
            <a:off x="9810750" y="6553200"/>
            <a:ext cx="180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1">
                <a:solidFill>
                  <a:srgbClr val="1E5AA8"/>
                </a:solidFill>
                <a:latin typeface="Nunito Sans"/>
                <a:ea typeface="Nunito Sans"/>
                <a:cs typeface="Nunito Sans"/>
              </a:defRPr>
            </a:pPr>
            <a:r>
              <a:rPr sz="675" b="1">
                <a:solidFill>
                  <a:srgbClr val="1E5AA8"/>
                </a:solidFill>
                <a:latin typeface="Nunito Sans"/>
                <a:ea typeface="Nunito Sans"/>
                <a:cs typeface="Nunito Sans"/>
              </a:rPr>
              <a:t>UC SANTA BARBARA</a:t>
            </a:r>
          </a:p>
        </p:txBody>
      </p:sp>
      <p:sp>
        <p:nvSpPr>
          <p:cNvPr id="7" name="Rectangle 6">
            <a:extLst>
              <a:ext uri="{FF2B5EF4-FFF2-40B4-BE49-F238E27FC236}">
                <a16:creationId xmlns:a16="http://schemas.microsoft.com/office/drawing/2014/main" id="{AEF9BC4D-D21C-48B6-BD23-E8C7CE223788}"/>
              </a:ext>
            </a:extLst>
          </p:cNvPr>
          <p:cNvSpPr>
            <a:spLocks noGrp="1"/>
          </p:cNvSpPr>
          <p:nvPr/>
        </p:nvSpPr>
        <p:spPr>
          <a:xfrm>
            <a:off x="571500" y="914400"/>
            <a:ext cx="8953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02A43"/>
                </a:solidFill>
                <a:latin typeface="Nunito Sans ExtraBold"/>
                <a:ea typeface="Nunito Sans ExtraBold"/>
                <a:cs typeface="Nunito Sans ExtraBold"/>
              </a:defRPr>
            </a:pPr>
            <a:r>
              <a:rPr sz="2250" b="1" dirty="0">
                <a:solidFill>
                  <a:srgbClr val="102A43"/>
                </a:solidFill>
                <a:latin typeface="Nunito Sans ExtraBold"/>
                <a:ea typeface="Nunito Sans ExtraBold"/>
                <a:cs typeface="Nunito Sans ExtraBold"/>
              </a:rPr>
              <a:t>This is a local diagnostic suite, not the final external benchmark claim.</a:t>
            </a:r>
          </a:p>
        </p:txBody>
      </p:sp>
      <p:sp>
        <p:nvSpPr>
          <p:cNvPr id="8" name="Rounded Rectangle 7">
            <a:extLst>
              <a:ext uri="{FF2B5EF4-FFF2-40B4-BE49-F238E27FC236}">
                <a16:creationId xmlns:a16="http://schemas.microsoft.com/office/drawing/2014/main" id="{35CF4C39-2D9B-45C6-9F8E-F202A4FAD03E}"/>
              </a:ext>
            </a:extLst>
          </p:cNvPr>
          <p:cNvSpPr>
            <a:spLocks noGrp="1"/>
          </p:cNvSpPr>
          <p:nvPr/>
        </p:nvSpPr>
        <p:spPr>
          <a:xfrm>
            <a:off x="685800" y="1866900"/>
            <a:ext cx="2571750" cy="3067050"/>
          </a:xfrm>
          <a:prstGeom prst="roundRect">
            <a:avLst>
              <a:gd name="adj" fmla="val 2963"/>
            </a:avLst>
          </a:prstGeom>
          <a:solidFill>
            <a:srgbClr val="FFFFFF"/>
          </a:solidFill>
          <a:ln w="9525">
            <a:solidFill>
              <a:srgbClr val="D8E1ED"/>
            </a:solidFill>
            <a:prstDash val="solid"/>
          </a:ln>
        </p:spPr>
        <p:txBody>
          <a:bodyPr/>
          <a:lstStyle/>
          <a:p>
            <a:endParaRPr lang="en-US"/>
          </a:p>
        </p:txBody>
      </p:sp>
      <p:sp>
        <p:nvSpPr>
          <p:cNvPr id="9" name="Rectangle 8">
            <a:extLst>
              <a:ext uri="{FF2B5EF4-FFF2-40B4-BE49-F238E27FC236}">
                <a16:creationId xmlns:a16="http://schemas.microsoft.com/office/drawing/2014/main" id="{61BC8361-350A-4E98-87E8-229D69B58300}"/>
              </a:ext>
            </a:extLst>
          </p:cNvPr>
          <p:cNvSpPr>
            <a:spLocks noGrp="1"/>
          </p:cNvSpPr>
          <p:nvPr/>
        </p:nvSpPr>
        <p:spPr>
          <a:xfrm>
            <a:off x="685800" y="1866900"/>
            <a:ext cx="2571750" cy="57150"/>
          </a:xfrm>
          <a:prstGeom prst="rect">
            <a:avLst/>
          </a:prstGeom>
          <a:solidFill>
            <a:srgbClr val="D1495B"/>
          </a:solidFill>
          <a:ln w="0">
            <a:solidFill>
              <a:srgbClr val="D1495B"/>
            </a:solidFill>
            <a:prstDash val="solid"/>
          </a:ln>
        </p:spPr>
        <p:txBody>
          <a:bodyPr/>
          <a:lstStyle/>
          <a:p>
            <a:endParaRPr lang="en-US"/>
          </a:p>
        </p:txBody>
      </p:sp>
      <p:sp>
        <p:nvSpPr>
          <p:cNvPr id="10" name="Rectangle 9">
            <a:extLst>
              <a:ext uri="{FF2B5EF4-FFF2-40B4-BE49-F238E27FC236}">
                <a16:creationId xmlns:a16="http://schemas.microsoft.com/office/drawing/2014/main" id="{5768B793-7626-431B-8EC0-5D94BEE2C1A5}"/>
              </a:ext>
            </a:extLst>
          </p:cNvPr>
          <p:cNvSpPr>
            <a:spLocks noGrp="1"/>
          </p:cNvSpPr>
          <p:nvPr/>
        </p:nvSpPr>
        <p:spPr>
          <a:xfrm>
            <a:off x="857250" y="2095500"/>
            <a:ext cx="1714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102A43"/>
                </a:solidFill>
                <a:latin typeface="Nunito Sans ExtraBold"/>
                <a:ea typeface="Nunito Sans ExtraBold"/>
                <a:cs typeface="Nunito Sans ExtraBold"/>
              </a:defRPr>
            </a:pPr>
            <a:r>
              <a:rPr sz="1725" b="1">
                <a:solidFill>
                  <a:srgbClr val="102A43"/>
                </a:solidFill>
                <a:latin typeface="Nunito Sans ExtraBold"/>
                <a:ea typeface="Nunito Sans ExtraBold"/>
                <a:cs typeface="Nunito Sans ExtraBold"/>
              </a:rPr>
              <a:t>Limitation 1</a:t>
            </a:r>
          </a:p>
        </p:txBody>
      </p:sp>
      <p:sp>
        <p:nvSpPr>
          <p:cNvPr id="11" name="Rectangle 10">
            <a:extLst>
              <a:ext uri="{FF2B5EF4-FFF2-40B4-BE49-F238E27FC236}">
                <a16:creationId xmlns:a16="http://schemas.microsoft.com/office/drawing/2014/main" id="{F753C89F-CDF1-4BDA-8673-839A34851E5F}"/>
              </a:ext>
            </a:extLst>
          </p:cNvPr>
          <p:cNvSpPr>
            <a:spLocks noGrp="1"/>
          </p:cNvSpPr>
          <p:nvPr/>
        </p:nvSpPr>
        <p:spPr>
          <a:xfrm>
            <a:off x="2495550" y="2095500"/>
            <a:ext cx="552450" cy="2667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12" name="Rectangle 11">
            <a:extLst>
              <a:ext uri="{FF2B5EF4-FFF2-40B4-BE49-F238E27FC236}">
                <a16:creationId xmlns:a16="http://schemas.microsoft.com/office/drawing/2014/main" id="{B235066B-C9D1-48FF-A3FE-E7953AC32C0A}"/>
              </a:ext>
            </a:extLst>
          </p:cNvPr>
          <p:cNvSpPr>
            <a:spLocks noGrp="1"/>
          </p:cNvSpPr>
          <p:nvPr/>
        </p:nvSpPr>
        <p:spPr>
          <a:xfrm>
            <a:off x="857250" y="264795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- 15 tasks is still small</a:t>
            </a:r>
          </a:p>
        </p:txBody>
      </p:sp>
      <p:sp>
        <p:nvSpPr>
          <p:cNvPr id="13" name="Rectangle 12">
            <a:extLst>
              <a:ext uri="{FF2B5EF4-FFF2-40B4-BE49-F238E27FC236}">
                <a16:creationId xmlns:a16="http://schemas.microsoft.com/office/drawing/2014/main" id="{E23C5FDF-8D16-4CAA-8476-4BAA5ACDE4FA}"/>
              </a:ext>
            </a:extLst>
          </p:cNvPr>
          <p:cNvSpPr>
            <a:spLocks noGrp="1"/>
          </p:cNvSpPr>
          <p:nvPr/>
        </p:nvSpPr>
        <p:spPr>
          <a:xfrm>
            <a:off x="857250" y="291465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no multi-seed sweep yet</a:t>
            </a:r>
          </a:p>
        </p:txBody>
      </p:sp>
      <p:sp>
        <p:nvSpPr>
          <p:cNvPr id="14" name="Rectangle 13">
            <a:extLst>
              <a:ext uri="{FF2B5EF4-FFF2-40B4-BE49-F238E27FC236}">
                <a16:creationId xmlns:a16="http://schemas.microsoft.com/office/drawing/2014/main" id="{73C799C0-5297-4D83-AA10-910B5F8596D3}"/>
              </a:ext>
            </a:extLst>
          </p:cNvPr>
          <p:cNvSpPr>
            <a:spLocks noGrp="1"/>
          </p:cNvSpPr>
          <p:nvPr/>
        </p:nvSpPr>
        <p:spPr>
          <a:xfrm>
            <a:off x="857250" y="318135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external validity remains future work</a:t>
            </a:r>
          </a:p>
        </p:txBody>
      </p:sp>
      <p:sp>
        <p:nvSpPr>
          <p:cNvPr id="15" name="Rounded Rectangle 14">
            <a:extLst>
              <a:ext uri="{FF2B5EF4-FFF2-40B4-BE49-F238E27FC236}">
                <a16:creationId xmlns:a16="http://schemas.microsoft.com/office/drawing/2014/main" id="{08287731-C135-45A3-B25B-CAA56A8CB1AD}"/>
              </a:ext>
            </a:extLst>
          </p:cNvPr>
          <p:cNvSpPr>
            <a:spLocks noGrp="1"/>
          </p:cNvSpPr>
          <p:nvPr/>
        </p:nvSpPr>
        <p:spPr>
          <a:xfrm>
            <a:off x="857250" y="4076700"/>
            <a:ext cx="2209800" cy="609600"/>
          </a:xfrm>
          <a:prstGeom prst="roundRect">
            <a:avLst>
              <a:gd name="adj" fmla="val 12500"/>
            </a:avLst>
          </a:prstGeom>
          <a:solidFill>
            <a:srgbClr val="F7FAFC"/>
          </a:solidFill>
          <a:ln w="9525">
            <a:solidFill>
              <a:srgbClr val="D8E1ED"/>
            </a:solidFill>
            <a:prstDash val="solid"/>
          </a:ln>
        </p:spPr>
        <p:txBody>
          <a:bodyPr/>
          <a:lstStyle/>
          <a:p>
            <a:endParaRPr lang="en-US"/>
          </a:p>
        </p:txBody>
      </p:sp>
      <p:sp>
        <p:nvSpPr>
          <p:cNvPr id="16" name="Rectangle 15">
            <a:extLst>
              <a:ext uri="{FF2B5EF4-FFF2-40B4-BE49-F238E27FC236}">
                <a16:creationId xmlns:a16="http://schemas.microsoft.com/office/drawing/2014/main" id="{FF4DD048-A369-4763-A8B3-293522C84B06}"/>
              </a:ext>
            </a:extLst>
          </p:cNvPr>
          <p:cNvSpPr>
            <a:spLocks noGrp="1"/>
          </p:cNvSpPr>
          <p:nvPr/>
        </p:nvSpPr>
        <p:spPr>
          <a:xfrm>
            <a:off x="971550" y="4229100"/>
            <a:ext cx="19812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5B6B82"/>
                </a:solidFill>
                <a:latin typeface="Nunito Sans"/>
                <a:ea typeface="Nunito Sans"/>
                <a:cs typeface="Nunito Sans"/>
              </a:defRPr>
            </a:pPr>
            <a:r>
              <a:rPr sz="975" b="1">
                <a:solidFill>
                  <a:srgbClr val="5B6B82"/>
                </a:solidFill>
                <a:latin typeface="Nunito Sans"/>
                <a:ea typeface="Nunito Sans"/>
                <a:cs typeface="Nunito Sans"/>
              </a:rPr>
              <a:t>Next credibility jump: WebArena / WorkArena / OSWorld.</a:t>
            </a:r>
          </a:p>
        </p:txBody>
      </p:sp>
      <p:sp>
        <p:nvSpPr>
          <p:cNvPr id="17" name="Rounded Rectangle 16">
            <a:extLst>
              <a:ext uri="{FF2B5EF4-FFF2-40B4-BE49-F238E27FC236}">
                <a16:creationId xmlns:a16="http://schemas.microsoft.com/office/drawing/2014/main" id="{A65E9028-DDE4-42EB-B526-630F87B560AC}"/>
              </a:ext>
            </a:extLst>
          </p:cNvPr>
          <p:cNvSpPr>
            <a:spLocks noGrp="1"/>
          </p:cNvSpPr>
          <p:nvPr/>
        </p:nvSpPr>
        <p:spPr>
          <a:xfrm>
            <a:off x="3676650" y="1866900"/>
            <a:ext cx="2571750" cy="3067050"/>
          </a:xfrm>
          <a:prstGeom prst="roundRect">
            <a:avLst>
              <a:gd name="adj" fmla="val 2963"/>
            </a:avLst>
          </a:prstGeom>
          <a:solidFill>
            <a:srgbClr val="FFFFFF"/>
          </a:solidFill>
          <a:ln w="9525">
            <a:solidFill>
              <a:srgbClr val="D8E1ED"/>
            </a:solidFill>
            <a:prstDash val="solid"/>
          </a:ln>
        </p:spPr>
        <p:txBody>
          <a:bodyPr/>
          <a:lstStyle/>
          <a:p>
            <a:endParaRPr lang="en-US"/>
          </a:p>
        </p:txBody>
      </p:sp>
      <p:sp>
        <p:nvSpPr>
          <p:cNvPr id="18" name="Rectangle 17">
            <a:extLst>
              <a:ext uri="{FF2B5EF4-FFF2-40B4-BE49-F238E27FC236}">
                <a16:creationId xmlns:a16="http://schemas.microsoft.com/office/drawing/2014/main" id="{748E02E1-A840-4084-915F-1A202F04A4ED}"/>
              </a:ext>
            </a:extLst>
          </p:cNvPr>
          <p:cNvSpPr>
            <a:spLocks noGrp="1"/>
          </p:cNvSpPr>
          <p:nvPr/>
        </p:nvSpPr>
        <p:spPr>
          <a:xfrm>
            <a:off x="3676650" y="1866900"/>
            <a:ext cx="2571750" cy="57150"/>
          </a:xfrm>
          <a:prstGeom prst="rect">
            <a:avLst/>
          </a:prstGeom>
          <a:solidFill>
            <a:srgbClr val="C9832B"/>
          </a:solidFill>
          <a:ln w="0">
            <a:solidFill>
              <a:srgbClr val="C9832B"/>
            </a:solidFill>
            <a:prstDash val="solid"/>
          </a:ln>
        </p:spPr>
        <p:txBody>
          <a:bodyPr/>
          <a:lstStyle/>
          <a:p>
            <a:endParaRPr lang="en-US"/>
          </a:p>
        </p:txBody>
      </p:sp>
      <p:sp>
        <p:nvSpPr>
          <p:cNvPr id="19" name="Rectangle 18">
            <a:extLst>
              <a:ext uri="{FF2B5EF4-FFF2-40B4-BE49-F238E27FC236}">
                <a16:creationId xmlns:a16="http://schemas.microsoft.com/office/drawing/2014/main" id="{D6EB2B34-346C-4334-9653-43BE0DCF3F25}"/>
              </a:ext>
            </a:extLst>
          </p:cNvPr>
          <p:cNvSpPr>
            <a:spLocks noGrp="1"/>
          </p:cNvSpPr>
          <p:nvPr/>
        </p:nvSpPr>
        <p:spPr>
          <a:xfrm>
            <a:off x="3848100" y="2095500"/>
            <a:ext cx="1714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102A43"/>
                </a:solidFill>
                <a:latin typeface="Nunito Sans ExtraBold"/>
                <a:ea typeface="Nunito Sans ExtraBold"/>
                <a:cs typeface="Nunito Sans ExtraBold"/>
              </a:defRPr>
            </a:pPr>
            <a:r>
              <a:rPr sz="1725" b="1">
                <a:solidFill>
                  <a:srgbClr val="102A43"/>
                </a:solidFill>
                <a:latin typeface="Nunito Sans ExtraBold"/>
                <a:ea typeface="Nunito Sans ExtraBold"/>
                <a:cs typeface="Nunito Sans ExtraBold"/>
              </a:rPr>
              <a:t>Limitation 2</a:t>
            </a:r>
          </a:p>
        </p:txBody>
      </p:sp>
      <p:sp>
        <p:nvSpPr>
          <p:cNvPr id="20" name="Rectangle 19">
            <a:extLst>
              <a:ext uri="{FF2B5EF4-FFF2-40B4-BE49-F238E27FC236}">
                <a16:creationId xmlns:a16="http://schemas.microsoft.com/office/drawing/2014/main" id="{806A229E-1478-4FA1-A23F-D0C67EE28EB8}"/>
              </a:ext>
            </a:extLst>
          </p:cNvPr>
          <p:cNvSpPr>
            <a:spLocks noGrp="1"/>
          </p:cNvSpPr>
          <p:nvPr/>
        </p:nvSpPr>
        <p:spPr>
          <a:xfrm>
            <a:off x="5486400" y="2095500"/>
            <a:ext cx="552450" cy="2667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21" name="Rectangle 20">
            <a:extLst>
              <a:ext uri="{FF2B5EF4-FFF2-40B4-BE49-F238E27FC236}">
                <a16:creationId xmlns:a16="http://schemas.microsoft.com/office/drawing/2014/main" id="{2E4EA882-C354-413E-906A-98CFFC8D572C}"/>
              </a:ext>
            </a:extLst>
          </p:cNvPr>
          <p:cNvSpPr>
            <a:spLocks noGrp="1"/>
          </p:cNvSpPr>
          <p:nvPr/>
        </p:nvSpPr>
        <p:spPr>
          <a:xfrm>
            <a:off x="3848100" y="264795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uncertainty is verbalized</a:t>
            </a:r>
          </a:p>
        </p:txBody>
      </p:sp>
      <p:sp>
        <p:nvSpPr>
          <p:cNvPr id="22" name="Rectangle 21">
            <a:extLst>
              <a:ext uri="{FF2B5EF4-FFF2-40B4-BE49-F238E27FC236}">
                <a16:creationId xmlns:a16="http://schemas.microsoft.com/office/drawing/2014/main" id="{B8DCF3C4-C217-428B-9441-625170277220}"/>
              </a:ext>
            </a:extLst>
          </p:cNvPr>
          <p:cNvSpPr>
            <a:spLocks noGrp="1"/>
          </p:cNvSpPr>
          <p:nvPr/>
        </p:nvSpPr>
        <p:spPr>
          <a:xfrm>
            <a:off x="3848100" y="291465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not token logprobs</a:t>
            </a:r>
          </a:p>
        </p:txBody>
      </p:sp>
      <p:sp>
        <p:nvSpPr>
          <p:cNvPr id="23" name="Rectangle 22">
            <a:extLst>
              <a:ext uri="{FF2B5EF4-FFF2-40B4-BE49-F238E27FC236}">
                <a16:creationId xmlns:a16="http://schemas.microsoft.com/office/drawing/2014/main" id="{6D713A9C-608A-4075-9959-ACEFC1E6D4DC}"/>
              </a:ext>
            </a:extLst>
          </p:cNvPr>
          <p:cNvSpPr>
            <a:spLocks noGrp="1"/>
          </p:cNvSpPr>
          <p:nvPr/>
        </p:nvSpPr>
        <p:spPr>
          <a:xfrm>
            <a:off x="3848100" y="318135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threshold sweep is partly bimodal</a:t>
            </a:r>
          </a:p>
        </p:txBody>
      </p:sp>
      <p:sp>
        <p:nvSpPr>
          <p:cNvPr id="24" name="Rounded Rectangle 23">
            <a:extLst>
              <a:ext uri="{FF2B5EF4-FFF2-40B4-BE49-F238E27FC236}">
                <a16:creationId xmlns:a16="http://schemas.microsoft.com/office/drawing/2014/main" id="{24DB74CB-5529-434A-80EB-301926D69BCB}"/>
              </a:ext>
            </a:extLst>
          </p:cNvPr>
          <p:cNvSpPr>
            <a:spLocks noGrp="1"/>
          </p:cNvSpPr>
          <p:nvPr/>
        </p:nvSpPr>
        <p:spPr>
          <a:xfrm>
            <a:off x="3848100" y="4076700"/>
            <a:ext cx="2209800" cy="609600"/>
          </a:xfrm>
          <a:prstGeom prst="roundRect">
            <a:avLst>
              <a:gd name="adj" fmla="val 12500"/>
            </a:avLst>
          </a:prstGeom>
          <a:solidFill>
            <a:srgbClr val="F7FAFC"/>
          </a:solidFill>
          <a:ln w="9525">
            <a:solidFill>
              <a:srgbClr val="D8E1ED"/>
            </a:solidFill>
            <a:prstDash val="solid"/>
          </a:ln>
        </p:spPr>
        <p:txBody>
          <a:bodyPr/>
          <a:lstStyle/>
          <a:p>
            <a:endParaRPr lang="en-US"/>
          </a:p>
        </p:txBody>
      </p:sp>
      <p:sp>
        <p:nvSpPr>
          <p:cNvPr id="25" name="Rectangle 24">
            <a:extLst>
              <a:ext uri="{FF2B5EF4-FFF2-40B4-BE49-F238E27FC236}">
                <a16:creationId xmlns:a16="http://schemas.microsoft.com/office/drawing/2014/main" id="{12F111E0-AB47-413D-AA09-6E2E1897A7AE}"/>
              </a:ext>
            </a:extLst>
          </p:cNvPr>
          <p:cNvSpPr>
            <a:spLocks noGrp="1"/>
          </p:cNvSpPr>
          <p:nvPr/>
        </p:nvSpPr>
        <p:spPr>
          <a:xfrm>
            <a:off x="3962400" y="4229100"/>
            <a:ext cx="19812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5B6B82"/>
                </a:solidFill>
                <a:latin typeface="Nunito Sans"/>
                <a:ea typeface="Nunito Sans"/>
                <a:cs typeface="Nunito Sans"/>
              </a:defRPr>
            </a:pPr>
            <a:r>
              <a:rPr sz="975" b="1">
                <a:solidFill>
                  <a:srgbClr val="5B6B82"/>
                </a:solidFill>
                <a:latin typeface="Nunito Sans"/>
                <a:ea typeface="Nunito Sans"/>
                <a:cs typeface="Nunito Sans"/>
              </a:rPr>
              <a:t>Compact ablation helps, but uncertainty signals can still improve.</a:t>
            </a:r>
          </a:p>
        </p:txBody>
      </p:sp>
      <p:sp>
        <p:nvSpPr>
          <p:cNvPr id="26" name="Rounded Rectangle 25">
            <a:extLst>
              <a:ext uri="{FF2B5EF4-FFF2-40B4-BE49-F238E27FC236}">
                <a16:creationId xmlns:a16="http://schemas.microsoft.com/office/drawing/2014/main" id="{7219A162-7FF1-4699-961E-A28A56A18D67}"/>
              </a:ext>
            </a:extLst>
          </p:cNvPr>
          <p:cNvSpPr>
            <a:spLocks noGrp="1"/>
          </p:cNvSpPr>
          <p:nvPr/>
        </p:nvSpPr>
        <p:spPr>
          <a:xfrm>
            <a:off x="6667500" y="1866900"/>
            <a:ext cx="2571750" cy="3067050"/>
          </a:xfrm>
          <a:prstGeom prst="roundRect">
            <a:avLst>
              <a:gd name="adj" fmla="val 2963"/>
            </a:avLst>
          </a:prstGeom>
          <a:solidFill>
            <a:srgbClr val="FFFFFF"/>
          </a:solidFill>
          <a:ln w="9525">
            <a:solidFill>
              <a:srgbClr val="D8E1ED"/>
            </a:solidFill>
            <a:prstDash val="solid"/>
          </a:ln>
        </p:spPr>
        <p:txBody>
          <a:bodyPr/>
          <a:lstStyle/>
          <a:p>
            <a:endParaRPr lang="en-US"/>
          </a:p>
        </p:txBody>
      </p:sp>
      <p:sp>
        <p:nvSpPr>
          <p:cNvPr id="27" name="Rectangle 26">
            <a:extLst>
              <a:ext uri="{FF2B5EF4-FFF2-40B4-BE49-F238E27FC236}">
                <a16:creationId xmlns:a16="http://schemas.microsoft.com/office/drawing/2014/main" id="{CFA1D1FD-4CBD-4F9F-90D4-9C44CF21A7F9}"/>
              </a:ext>
            </a:extLst>
          </p:cNvPr>
          <p:cNvSpPr>
            <a:spLocks noGrp="1"/>
          </p:cNvSpPr>
          <p:nvPr/>
        </p:nvSpPr>
        <p:spPr>
          <a:xfrm>
            <a:off x="6667500" y="1866900"/>
            <a:ext cx="2571750" cy="57150"/>
          </a:xfrm>
          <a:prstGeom prst="rect">
            <a:avLst/>
          </a:prstGeom>
          <a:solidFill>
            <a:srgbClr val="2D936C"/>
          </a:solidFill>
          <a:ln w="0">
            <a:solidFill>
              <a:srgbClr val="2D936C"/>
            </a:solidFill>
            <a:prstDash val="solid"/>
          </a:ln>
        </p:spPr>
        <p:txBody>
          <a:bodyPr/>
          <a:lstStyle/>
          <a:p>
            <a:endParaRPr lang="en-US"/>
          </a:p>
        </p:txBody>
      </p:sp>
      <p:sp>
        <p:nvSpPr>
          <p:cNvPr id="28" name="Rectangle 27">
            <a:extLst>
              <a:ext uri="{FF2B5EF4-FFF2-40B4-BE49-F238E27FC236}">
                <a16:creationId xmlns:a16="http://schemas.microsoft.com/office/drawing/2014/main" id="{DA3FDF71-00E3-414F-BCA5-A7D179AD1E64}"/>
              </a:ext>
            </a:extLst>
          </p:cNvPr>
          <p:cNvSpPr>
            <a:spLocks noGrp="1"/>
          </p:cNvSpPr>
          <p:nvPr/>
        </p:nvSpPr>
        <p:spPr>
          <a:xfrm>
            <a:off x="6838950" y="2095500"/>
            <a:ext cx="1714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102A43"/>
                </a:solidFill>
                <a:latin typeface="Nunito Sans ExtraBold"/>
                <a:ea typeface="Nunito Sans ExtraBold"/>
                <a:cs typeface="Nunito Sans ExtraBold"/>
              </a:defRPr>
            </a:pPr>
            <a:r>
              <a:rPr sz="1725" b="1">
                <a:solidFill>
                  <a:srgbClr val="102A43"/>
                </a:solidFill>
                <a:latin typeface="Nunito Sans ExtraBold"/>
                <a:ea typeface="Nunito Sans ExtraBold"/>
                <a:cs typeface="Nunito Sans ExtraBold"/>
              </a:rPr>
              <a:t>Why keep it</a:t>
            </a:r>
          </a:p>
        </p:txBody>
      </p:sp>
      <p:sp>
        <p:nvSpPr>
          <p:cNvPr id="29" name="Rectangle 28">
            <a:extLst>
              <a:ext uri="{FF2B5EF4-FFF2-40B4-BE49-F238E27FC236}">
                <a16:creationId xmlns:a16="http://schemas.microsoft.com/office/drawing/2014/main" id="{CD6E7CED-C965-4FBD-8A5F-ABADF836F57E}"/>
              </a:ext>
            </a:extLst>
          </p:cNvPr>
          <p:cNvSpPr>
            <a:spLocks noGrp="1"/>
          </p:cNvSpPr>
          <p:nvPr/>
        </p:nvSpPr>
        <p:spPr>
          <a:xfrm>
            <a:off x="8477250" y="2095500"/>
            <a:ext cx="552450" cy="266700"/>
          </a:xfrm>
          <a:prstGeom prst="rect">
            <a:avLst/>
          </a:prstGeom>
          <a:solidFill>
            <a:srgbClr val="000000">
              <a:alpha val="0"/>
            </a:srgbClr>
          </a:solidFill>
          <a:ln w="0">
            <a:solidFill>
              <a:srgbClr val="000000">
                <a:alpha val="0"/>
              </a:srgbClr>
            </a:solidFill>
            <a:prstDash val="solid"/>
          </a:ln>
        </p:spPr>
        <p:txBody>
          <a:bodyPr lIns="0" tIns="0" rIns="0" bIns="0" anchor="t"/>
          <a:lstStyle/>
          <a:p>
            <a:endParaRPr/>
          </a:p>
        </p:txBody>
      </p:sp>
      <p:sp>
        <p:nvSpPr>
          <p:cNvPr id="30" name="Rectangle 29">
            <a:extLst>
              <a:ext uri="{FF2B5EF4-FFF2-40B4-BE49-F238E27FC236}">
                <a16:creationId xmlns:a16="http://schemas.microsoft.com/office/drawing/2014/main" id="{FD28CA32-9DF1-4274-8D08-C28CCA84A306}"/>
              </a:ext>
            </a:extLst>
          </p:cNvPr>
          <p:cNvSpPr>
            <a:spLocks noGrp="1"/>
          </p:cNvSpPr>
          <p:nvPr/>
        </p:nvSpPr>
        <p:spPr>
          <a:xfrm>
            <a:off x="6838950" y="264795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mechanism matches the hypothesis</a:t>
            </a:r>
          </a:p>
        </p:txBody>
      </p:sp>
      <p:sp>
        <p:nvSpPr>
          <p:cNvPr id="31" name="Rectangle 30">
            <a:extLst>
              <a:ext uri="{FF2B5EF4-FFF2-40B4-BE49-F238E27FC236}">
                <a16:creationId xmlns:a16="http://schemas.microsoft.com/office/drawing/2014/main" id="{E468008F-8FF5-4463-84F8-DDC647BD8BA7}"/>
              </a:ext>
            </a:extLst>
          </p:cNvPr>
          <p:cNvSpPr>
            <a:spLocks noGrp="1"/>
          </p:cNvSpPr>
          <p:nvPr/>
        </p:nvSpPr>
        <p:spPr>
          <a:xfrm>
            <a:off x="6838950" y="291465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blind spots are controllable</a:t>
            </a:r>
          </a:p>
        </p:txBody>
      </p:sp>
      <p:sp>
        <p:nvSpPr>
          <p:cNvPr id="32" name="Rectangle 31">
            <a:extLst>
              <a:ext uri="{FF2B5EF4-FFF2-40B4-BE49-F238E27FC236}">
                <a16:creationId xmlns:a16="http://schemas.microsoft.com/office/drawing/2014/main" id="{F9935C12-DF9C-4604-AFE5-409777D9E4EB}"/>
              </a:ext>
            </a:extLst>
          </p:cNvPr>
          <p:cNvSpPr>
            <a:spLocks noGrp="1"/>
          </p:cNvSpPr>
          <p:nvPr/>
        </p:nvSpPr>
        <p:spPr>
          <a:xfrm>
            <a:off x="6838950" y="3181350"/>
            <a:ext cx="21717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02A43"/>
                </a:solidFill>
                <a:latin typeface="Nunito Sans"/>
                <a:ea typeface="Nunito Sans"/>
                <a:cs typeface="Nunito Sans"/>
              </a:defRPr>
            </a:pPr>
            <a:r>
              <a:rPr sz="1125" b="0">
                <a:solidFill>
                  <a:srgbClr val="102A43"/>
                </a:solidFill>
                <a:latin typeface="Nunito Sans"/>
                <a:ea typeface="Nunito Sans"/>
                <a:cs typeface="Nunito Sans"/>
              </a:rPr>
              <a:t>- debugging is fast and honest</a:t>
            </a:r>
          </a:p>
        </p:txBody>
      </p:sp>
      <p:sp>
        <p:nvSpPr>
          <p:cNvPr id="33" name="Rounded Rectangle 32">
            <a:extLst>
              <a:ext uri="{FF2B5EF4-FFF2-40B4-BE49-F238E27FC236}">
                <a16:creationId xmlns:a16="http://schemas.microsoft.com/office/drawing/2014/main" id="{DAF2988C-64AF-4409-9A8A-83BE703A734C}"/>
              </a:ext>
            </a:extLst>
          </p:cNvPr>
          <p:cNvSpPr>
            <a:spLocks noGrp="1"/>
          </p:cNvSpPr>
          <p:nvPr/>
        </p:nvSpPr>
        <p:spPr>
          <a:xfrm>
            <a:off x="6838950" y="4076700"/>
            <a:ext cx="2209800" cy="609600"/>
          </a:xfrm>
          <a:prstGeom prst="roundRect">
            <a:avLst>
              <a:gd name="adj" fmla="val 12500"/>
            </a:avLst>
          </a:prstGeom>
          <a:solidFill>
            <a:srgbClr val="F7FAFC"/>
          </a:solidFill>
          <a:ln w="9525">
            <a:solidFill>
              <a:srgbClr val="D8E1ED"/>
            </a:solidFill>
            <a:prstDash val="solid"/>
          </a:ln>
        </p:spPr>
        <p:txBody>
          <a:bodyPr/>
          <a:lstStyle/>
          <a:p>
            <a:endParaRPr lang="en-US"/>
          </a:p>
        </p:txBody>
      </p:sp>
      <p:sp>
        <p:nvSpPr>
          <p:cNvPr id="34" name="Rectangle 33">
            <a:extLst>
              <a:ext uri="{FF2B5EF4-FFF2-40B4-BE49-F238E27FC236}">
                <a16:creationId xmlns:a16="http://schemas.microsoft.com/office/drawing/2014/main" id="{4A0E3238-C1CB-45C4-A5BF-5595F747B4F9}"/>
              </a:ext>
            </a:extLst>
          </p:cNvPr>
          <p:cNvSpPr>
            <a:spLocks noGrp="1"/>
          </p:cNvSpPr>
          <p:nvPr/>
        </p:nvSpPr>
        <p:spPr>
          <a:xfrm>
            <a:off x="6953250" y="4229100"/>
            <a:ext cx="19812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5B6B82"/>
                </a:solidFill>
                <a:latin typeface="Nunito Sans"/>
                <a:ea typeface="Nunito Sans"/>
                <a:cs typeface="Nunito Sans"/>
              </a:defRPr>
            </a:pPr>
            <a:r>
              <a:rPr sz="975" b="1">
                <a:solidFill>
                  <a:srgbClr val="5B6B82"/>
                </a:solidFill>
                <a:latin typeface="Nunito Sans"/>
                <a:ea typeface="Nunito Sans"/>
                <a:cs typeface="Nunito Sans"/>
              </a:rPr>
              <a:t>A good diagnostic layer is useful even after benchmark migration.</a:t>
            </a:r>
          </a:p>
        </p:txBody>
      </p:sp>
      <p:sp>
        <p:nvSpPr>
          <p:cNvPr id="37" name="Closing Elevation Band">
            <a:extLst>
              <a:ext uri="{FF2B5EF4-FFF2-40B4-BE49-F238E27FC236}">
                <a16:creationId xmlns:a16="http://schemas.microsoft.com/office/drawing/2014/main" id="{3B594375-7A04-7E7A-9E77-5C76316C2003}"/>
              </a:ext>
            </a:extLst>
          </p:cNvPr>
          <p:cNvSpPr/>
          <p:nvPr/>
        </p:nvSpPr>
        <p:spPr>
          <a:xfrm>
            <a:off x="666750" y="5200650"/>
            <a:ext cx="10344150" cy="880000"/>
          </a:xfrm>
          <a:prstGeom prst="roundRect">
            <a:avLst>
              <a:gd name="adj" fmla="val 6000"/>
            </a:avLst>
          </a:prstGeom>
          <a:solidFill>
            <a:srgbClr val="0F172A"/>
          </a:solidFill>
        </p:spPr>
        <p:txBody>
          <a:bodyPr wrap="square" lIns="182880" tIns="73152" rIns="182880" bIns="73152" anchor="ctr"/>
          <a:lstStyle/>
          <a:p>
            <a:pPr>
              <a:spcAft>
                <a:spcPts val="400"/>
              </a:spcAft>
            </a:pPr>
            <a:r>
              <a:rPr lang="en-US" sz="1000" b="1" spc="40" dirty="0">
                <a:solidFill>
                  <a:srgbClr val="B7C7D9"/>
                </a:solidFill>
                <a:latin typeface="Nunito Sans"/>
              </a:rPr>
              <a:t>Real web apps constantly act on state that may already be stale</a:t>
            </a:r>
            <a:r>
              <a:rPr lang="en-US" altLang="zh-CN" sz="1000" b="1" spc="40" dirty="0">
                <a:solidFill>
                  <a:srgbClr val="B7C7D9"/>
                </a:solidFill>
                <a:latin typeface="Nunito Sans"/>
              </a:rPr>
              <a:t> — async content loading, background-resolved form fields, live-updating prices</a:t>
            </a:r>
            <a:endParaRPr lang="en-US" sz="1000" b="1" spc="40" dirty="0">
              <a:solidFill>
                <a:srgbClr val="B7C7D9"/>
              </a:solidFill>
              <a:latin typeface="Nunito Sans"/>
            </a:endParaRPr>
          </a:p>
          <a:p>
            <a:r>
              <a:rPr lang="en-US" sz="1300" b="1" dirty="0">
                <a:solidFill>
                  <a:srgbClr val="FFFFFF"/>
                </a:solidFill>
                <a:latin typeface="Nunito Sans ExtraBold"/>
              </a:rPr>
              <a:t>So the contribution of this work is better understood as proposing and formalizing a previously unexplored research framework, rather than providing a production-ready solution for direct integration.</a:t>
            </a:r>
          </a:p>
        </p:txBody>
      </p:sp>
    </p:spTree>
    <p:extLst>
      <p:ext uri="{BB962C8B-B14F-4D97-AF65-F5344CB8AC3E}">
        <p14:creationId xmlns:p14="http://schemas.microsoft.com/office/powerpoint/2010/main" val="830372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B0E841-1160-49E3-B3D1-BA23C3D4610C}"/>
              </a:ext>
            </a:extLst>
          </p:cNvPr>
          <p:cNvSpPr>
            <a:spLocks noGrp="1"/>
          </p:cNvSpPr>
          <p:nvPr/>
        </p:nvSpPr>
        <p:spPr>
          <a:xfrm>
            <a:off x="533400" y="571500"/>
            <a:ext cx="11125200" cy="19050"/>
          </a:xfrm>
          <a:prstGeom prst="rect">
            <a:avLst/>
          </a:prstGeom>
          <a:solidFill>
            <a:srgbClr val="1E5AA8"/>
          </a:solidFill>
          <a:ln w="0">
            <a:solidFill>
              <a:srgbClr val="1E5AA8"/>
            </a:solidFill>
            <a:prstDash val="solid"/>
          </a:ln>
        </p:spPr>
        <p:txBody>
          <a:bodyPr/>
          <a:lstStyle/>
          <a:p>
            <a:endParaRPr lang="en-US"/>
          </a:p>
        </p:txBody>
      </p:sp>
      <p:sp>
        <p:nvSpPr>
          <p:cNvPr id="3" name="Rectangle 2">
            <a:extLst>
              <a:ext uri="{FF2B5EF4-FFF2-40B4-BE49-F238E27FC236}">
                <a16:creationId xmlns:a16="http://schemas.microsoft.com/office/drawing/2014/main" id="{D02369D6-B6A4-46BA-8B90-D6AC6536D07B}"/>
              </a:ext>
            </a:extLst>
          </p:cNvPr>
          <p:cNvSpPr>
            <a:spLocks noGrp="1"/>
          </p:cNvSpPr>
          <p:nvPr/>
        </p:nvSpPr>
        <p:spPr>
          <a:xfrm>
            <a:off x="571500" y="247650"/>
            <a:ext cx="7810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02A43"/>
                </a:solidFill>
                <a:latin typeface="Nunito Sans ExtraBold"/>
                <a:ea typeface="Nunito Sans ExtraBold"/>
                <a:cs typeface="Nunito Sans ExtraBold"/>
              </a:defRPr>
            </a:pPr>
            <a:r>
              <a:rPr sz="2100" b="1">
                <a:solidFill>
                  <a:srgbClr val="102A43"/>
                </a:solidFill>
                <a:latin typeface="Nunito Sans ExtraBold"/>
                <a:ea typeface="Nunito Sans ExtraBold"/>
                <a:cs typeface="Nunito Sans ExtraBold"/>
              </a:rPr>
              <a:t>Takeaways</a:t>
            </a:r>
          </a:p>
        </p:txBody>
      </p:sp>
      <p:sp>
        <p:nvSpPr>
          <p:cNvPr id="4" name="Rectangle 3">
            <a:extLst>
              <a:ext uri="{FF2B5EF4-FFF2-40B4-BE49-F238E27FC236}">
                <a16:creationId xmlns:a16="http://schemas.microsoft.com/office/drawing/2014/main" id="{EEC24BC6-ED33-49BA-A9CC-90E9F9CD874A}"/>
              </a:ext>
            </a:extLst>
          </p:cNvPr>
          <p:cNvSpPr>
            <a:spLocks noGrp="1"/>
          </p:cNvSpPr>
          <p:nvPr/>
        </p:nvSpPr>
        <p:spPr>
          <a:xfrm>
            <a:off x="10572750" y="247650"/>
            <a:ext cx="1047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B6B82"/>
                </a:solidFill>
                <a:latin typeface="Nunito Sans"/>
                <a:ea typeface="Nunito Sans"/>
                <a:cs typeface="Nunito Sans"/>
              </a:defRPr>
            </a:pPr>
            <a:r>
              <a:rPr sz="825" b="1">
                <a:solidFill>
                  <a:srgbClr val="5B6B82"/>
                </a:solidFill>
                <a:latin typeface="Nunito Sans"/>
                <a:ea typeface="Nunito Sans"/>
                <a:cs typeface="Nunito Sans"/>
              </a:rPr>
              <a:t>12 / 12</a:t>
            </a:r>
          </a:p>
        </p:txBody>
      </p:sp>
      <p:sp>
        <p:nvSpPr>
          <p:cNvPr id="5" name="Rectangle 4">
            <a:extLst>
              <a:ext uri="{FF2B5EF4-FFF2-40B4-BE49-F238E27FC236}">
                <a16:creationId xmlns:a16="http://schemas.microsoft.com/office/drawing/2014/main" id="{18A70F93-AC21-43C3-B5DD-BEE5D6DC64F3}"/>
              </a:ext>
            </a:extLst>
          </p:cNvPr>
          <p:cNvSpPr>
            <a:spLocks noGrp="1"/>
          </p:cNvSpPr>
          <p:nvPr/>
        </p:nvSpPr>
        <p:spPr>
          <a:xfrm>
            <a:off x="571500" y="6553200"/>
            <a:ext cx="3429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75" b="0">
                <a:solidFill>
                  <a:srgbClr val="5B6B82"/>
                </a:solidFill>
                <a:latin typeface="Nunito Sans"/>
                <a:ea typeface="Nunito Sans"/>
                <a:cs typeface="Nunito Sans"/>
              </a:defRPr>
            </a:pPr>
            <a:r>
              <a:rPr sz="675" b="0">
                <a:solidFill>
                  <a:srgbClr val="5B6B82"/>
                </a:solidFill>
                <a:latin typeface="Nunito Sans"/>
                <a:ea typeface="Nunito Sans"/>
                <a:cs typeface="Nunito Sans"/>
              </a:rPr>
              <a:t>Selective Observation for Browser Agents</a:t>
            </a:r>
          </a:p>
        </p:txBody>
      </p:sp>
      <p:sp>
        <p:nvSpPr>
          <p:cNvPr id="6" name="Rectangle 5">
            <a:extLst>
              <a:ext uri="{FF2B5EF4-FFF2-40B4-BE49-F238E27FC236}">
                <a16:creationId xmlns:a16="http://schemas.microsoft.com/office/drawing/2014/main" id="{D5B22BB2-EB02-4306-882F-4F83C42CF157}"/>
              </a:ext>
            </a:extLst>
          </p:cNvPr>
          <p:cNvSpPr>
            <a:spLocks noGrp="1"/>
          </p:cNvSpPr>
          <p:nvPr/>
        </p:nvSpPr>
        <p:spPr>
          <a:xfrm>
            <a:off x="9810750" y="6553200"/>
            <a:ext cx="180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75" b="1">
                <a:solidFill>
                  <a:srgbClr val="1E5AA8"/>
                </a:solidFill>
                <a:latin typeface="Nunito Sans"/>
                <a:ea typeface="Nunito Sans"/>
                <a:cs typeface="Nunito Sans"/>
              </a:defRPr>
            </a:pPr>
            <a:r>
              <a:rPr sz="675" b="1">
                <a:solidFill>
                  <a:srgbClr val="1E5AA8"/>
                </a:solidFill>
                <a:latin typeface="Nunito Sans"/>
                <a:ea typeface="Nunito Sans"/>
                <a:cs typeface="Nunito Sans"/>
              </a:rPr>
              <a:t>UC SANTA BARBARA</a:t>
            </a:r>
          </a:p>
        </p:txBody>
      </p:sp>
      <p:sp>
        <p:nvSpPr>
          <p:cNvPr id="7" name="Rectangle 6">
            <a:extLst>
              <a:ext uri="{FF2B5EF4-FFF2-40B4-BE49-F238E27FC236}">
                <a16:creationId xmlns:a16="http://schemas.microsoft.com/office/drawing/2014/main" id="{22B88B0D-6886-4F10-BEAC-4D223BA36DA3}"/>
              </a:ext>
            </a:extLst>
          </p:cNvPr>
          <p:cNvSpPr>
            <a:spLocks noGrp="1"/>
          </p:cNvSpPr>
          <p:nvPr/>
        </p:nvSpPr>
        <p:spPr>
          <a:xfrm>
            <a:off x="571500" y="914400"/>
            <a:ext cx="49530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00" b="1">
                <a:solidFill>
                  <a:srgbClr val="102A43"/>
                </a:solidFill>
                <a:latin typeface="Nunito Sans ExtraBold"/>
                <a:ea typeface="Nunito Sans ExtraBold"/>
                <a:cs typeface="Nunito Sans ExtraBold"/>
              </a:defRPr>
            </a:pPr>
            <a:r>
              <a:rPr sz="2400" b="1">
                <a:solidFill>
                  <a:srgbClr val="102A43"/>
                </a:solidFill>
                <a:latin typeface="Nunito Sans ExtraBold"/>
                <a:ea typeface="Nunito Sans ExtraBold"/>
                <a:cs typeface="Nunito Sans ExtraBold"/>
              </a:rPr>
              <a:t>Three things to remember.</a:t>
            </a:r>
          </a:p>
        </p:txBody>
      </p:sp>
      <p:sp>
        <p:nvSpPr>
          <p:cNvPr id="8" name="Rounded Rectangle 7">
            <a:extLst>
              <a:ext uri="{FF2B5EF4-FFF2-40B4-BE49-F238E27FC236}">
                <a16:creationId xmlns:a16="http://schemas.microsoft.com/office/drawing/2014/main" id="{D7EC95A8-1216-4E33-A0BA-5E68BD3C74FF}"/>
              </a:ext>
            </a:extLst>
          </p:cNvPr>
          <p:cNvSpPr>
            <a:spLocks noGrp="1"/>
          </p:cNvSpPr>
          <p:nvPr/>
        </p:nvSpPr>
        <p:spPr>
          <a:xfrm>
            <a:off x="666750" y="2305050"/>
            <a:ext cx="7620000" cy="876300"/>
          </a:xfrm>
          <a:prstGeom prst="roundRect">
            <a:avLst>
              <a:gd name="adj" fmla="val 8696"/>
            </a:avLst>
          </a:prstGeom>
          <a:solidFill>
            <a:srgbClr val="FFFFFF"/>
          </a:solidFill>
          <a:ln w="9525">
            <a:solidFill>
              <a:srgbClr val="D8E1ED"/>
            </a:solidFill>
            <a:prstDash val="solid"/>
          </a:ln>
        </p:spPr>
        <p:txBody>
          <a:bodyPr/>
          <a:lstStyle/>
          <a:p>
            <a:endParaRPr lang="en-US"/>
          </a:p>
        </p:txBody>
      </p:sp>
      <p:sp>
        <p:nvSpPr>
          <p:cNvPr id="9" name="Rectangle 8">
            <a:extLst>
              <a:ext uri="{FF2B5EF4-FFF2-40B4-BE49-F238E27FC236}">
                <a16:creationId xmlns:a16="http://schemas.microsoft.com/office/drawing/2014/main" id="{BED83905-50AE-4120-9979-F71A91708851}"/>
              </a:ext>
            </a:extLst>
          </p:cNvPr>
          <p:cNvSpPr>
            <a:spLocks noGrp="1"/>
          </p:cNvSpPr>
          <p:nvPr/>
        </p:nvSpPr>
        <p:spPr>
          <a:xfrm>
            <a:off x="914400" y="2571750"/>
            <a:ext cx="514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1E5AA8"/>
                </a:solidFill>
                <a:latin typeface="Nunito Sans ExtraBold"/>
                <a:ea typeface="Nunito Sans ExtraBold"/>
                <a:cs typeface="Nunito Sans ExtraBold"/>
              </a:defRPr>
            </a:pPr>
            <a:r>
              <a:rPr sz="1950" b="1">
                <a:solidFill>
                  <a:srgbClr val="1E5AA8"/>
                </a:solidFill>
                <a:latin typeface="Nunito Sans ExtraBold"/>
                <a:ea typeface="Nunito Sans ExtraBold"/>
                <a:cs typeface="Nunito Sans ExtraBold"/>
              </a:rPr>
              <a:t>01</a:t>
            </a:r>
          </a:p>
        </p:txBody>
      </p:sp>
      <p:sp>
        <p:nvSpPr>
          <p:cNvPr id="10" name="Rectangle 9">
            <a:extLst>
              <a:ext uri="{FF2B5EF4-FFF2-40B4-BE49-F238E27FC236}">
                <a16:creationId xmlns:a16="http://schemas.microsoft.com/office/drawing/2014/main" id="{5F42E7BC-584B-47A8-A13E-34214FFB6B41}"/>
              </a:ext>
            </a:extLst>
          </p:cNvPr>
          <p:cNvSpPr>
            <a:spLocks noGrp="1"/>
          </p:cNvSpPr>
          <p:nvPr/>
        </p:nvSpPr>
        <p:spPr>
          <a:xfrm>
            <a:off x="1581150" y="2495550"/>
            <a:ext cx="5619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02A43"/>
                </a:solidFill>
                <a:latin typeface="Nunito Sans ExtraBold"/>
                <a:ea typeface="Nunito Sans ExtraBold"/>
                <a:cs typeface="Nunito Sans ExtraBold"/>
              </a:defRPr>
            </a:pPr>
            <a:r>
              <a:rPr sz="1800" b="1">
                <a:solidFill>
                  <a:srgbClr val="102A43"/>
                </a:solidFill>
                <a:latin typeface="Nunito Sans ExtraBold"/>
                <a:ea typeface="Nunito Sans ExtraBold"/>
                <a:cs typeface="Nunito Sans ExtraBold"/>
              </a:rPr>
              <a:t>Observation scheduling is learnable.</a:t>
            </a:r>
          </a:p>
        </p:txBody>
      </p:sp>
      <p:sp>
        <p:nvSpPr>
          <p:cNvPr id="11" name="Rectangle 10">
            <a:extLst>
              <a:ext uri="{FF2B5EF4-FFF2-40B4-BE49-F238E27FC236}">
                <a16:creationId xmlns:a16="http://schemas.microsoft.com/office/drawing/2014/main" id="{D329A2DA-DCF5-4C91-9A32-2F2729AF2BD4}"/>
              </a:ext>
            </a:extLst>
          </p:cNvPr>
          <p:cNvSpPr>
            <a:spLocks noGrp="1"/>
          </p:cNvSpPr>
          <p:nvPr/>
        </p:nvSpPr>
        <p:spPr>
          <a:xfrm>
            <a:off x="1581150" y="2781300"/>
            <a:ext cx="5810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B6B82"/>
                </a:solidFill>
                <a:latin typeface="Nunito Sans"/>
                <a:ea typeface="Nunito Sans"/>
                <a:cs typeface="Nunito Sans"/>
              </a:defRPr>
            </a:pPr>
            <a:r>
              <a:rPr sz="1050" b="0">
                <a:solidFill>
                  <a:srgbClr val="5B6B82"/>
                </a:solidFill>
                <a:latin typeface="Nunito Sans"/>
                <a:ea typeface="Nunito Sans"/>
                <a:cs typeface="Nunito Sans"/>
              </a:rPr>
              <a:t>A simple logistic gate can decide when another DOM read is worth paying for.</a:t>
            </a:r>
          </a:p>
        </p:txBody>
      </p:sp>
      <p:sp>
        <p:nvSpPr>
          <p:cNvPr id="12" name="Rounded Rectangle 11">
            <a:extLst>
              <a:ext uri="{FF2B5EF4-FFF2-40B4-BE49-F238E27FC236}">
                <a16:creationId xmlns:a16="http://schemas.microsoft.com/office/drawing/2014/main" id="{DB4E3754-AFFB-4938-AF9F-7A4BAB81AA6A}"/>
              </a:ext>
            </a:extLst>
          </p:cNvPr>
          <p:cNvSpPr>
            <a:spLocks noGrp="1"/>
          </p:cNvSpPr>
          <p:nvPr/>
        </p:nvSpPr>
        <p:spPr>
          <a:xfrm>
            <a:off x="666750" y="3429000"/>
            <a:ext cx="7620000" cy="876300"/>
          </a:xfrm>
          <a:prstGeom prst="roundRect">
            <a:avLst>
              <a:gd name="adj" fmla="val 8696"/>
            </a:avLst>
          </a:prstGeom>
          <a:solidFill>
            <a:srgbClr val="F2FBF7"/>
          </a:solidFill>
          <a:ln w="9525">
            <a:solidFill>
              <a:srgbClr val="D8E1ED"/>
            </a:solidFill>
            <a:prstDash val="solid"/>
          </a:ln>
        </p:spPr>
        <p:txBody>
          <a:bodyPr/>
          <a:lstStyle/>
          <a:p>
            <a:endParaRPr lang="en-US"/>
          </a:p>
        </p:txBody>
      </p:sp>
      <p:sp>
        <p:nvSpPr>
          <p:cNvPr id="13" name="Rectangle 12">
            <a:extLst>
              <a:ext uri="{FF2B5EF4-FFF2-40B4-BE49-F238E27FC236}">
                <a16:creationId xmlns:a16="http://schemas.microsoft.com/office/drawing/2014/main" id="{86BB8A9D-15C7-4B07-BE70-D161E20A1FF6}"/>
              </a:ext>
            </a:extLst>
          </p:cNvPr>
          <p:cNvSpPr>
            <a:spLocks noGrp="1"/>
          </p:cNvSpPr>
          <p:nvPr/>
        </p:nvSpPr>
        <p:spPr>
          <a:xfrm>
            <a:off x="914400" y="3695700"/>
            <a:ext cx="514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2D936C"/>
                </a:solidFill>
                <a:latin typeface="Nunito Sans ExtraBold"/>
                <a:ea typeface="Nunito Sans ExtraBold"/>
                <a:cs typeface="Nunito Sans ExtraBold"/>
              </a:defRPr>
            </a:pPr>
            <a:r>
              <a:rPr sz="1950" b="1">
                <a:solidFill>
                  <a:srgbClr val="2D936C"/>
                </a:solidFill>
                <a:latin typeface="Nunito Sans ExtraBold"/>
                <a:ea typeface="Nunito Sans ExtraBold"/>
                <a:cs typeface="Nunito Sans ExtraBold"/>
              </a:rPr>
              <a:t>02</a:t>
            </a:r>
          </a:p>
        </p:txBody>
      </p:sp>
      <p:sp>
        <p:nvSpPr>
          <p:cNvPr id="14" name="Rectangle 13">
            <a:extLst>
              <a:ext uri="{FF2B5EF4-FFF2-40B4-BE49-F238E27FC236}">
                <a16:creationId xmlns:a16="http://schemas.microsoft.com/office/drawing/2014/main" id="{5C95319E-A565-46AE-9434-E4CF63407442}"/>
              </a:ext>
            </a:extLst>
          </p:cNvPr>
          <p:cNvSpPr>
            <a:spLocks noGrp="1"/>
          </p:cNvSpPr>
          <p:nvPr/>
        </p:nvSpPr>
        <p:spPr>
          <a:xfrm>
            <a:off x="1581150" y="3619500"/>
            <a:ext cx="6096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02A43"/>
                </a:solidFill>
                <a:latin typeface="Nunito Sans ExtraBold"/>
                <a:ea typeface="Nunito Sans ExtraBold"/>
                <a:cs typeface="Nunito Sans ExtraBold"/>
              </a:defRPr>
            </a:pPr>
            <a:r>
              <a:rPr sz="1800" b="1" dirty="0">
                <a:solidFill>
                  <a:srgbClr val="102A43"/>
                </a:solidFill>
                <a:latin typeface="Nunito Sans ExtraBold"/>
                <a:ea typeface="Nunito Sans ExtraBold"/>
                <a:cs typeface="Nunito Sans ExtraBold"/>
              </a:rPr>
              <a:t>Learned beats </a:t>
            </a:r>
            <a:r>
              <a:rPr sz="1800" b="1" dirty="0" err="1">
                <a:solidFill>
                  <a:srgbClr val="102A43"/>
                </a:solidFill>
                <a:latin typeface="Nunito Sans ExtraBold"/>
                <a:ea typeface="Nunito Sans ExtraBold"/>
                <a:cs typeface="Nunito Sans ExtraBold"/>
              </a:rPr>
              <a:t>handrule</a:t>
            </a:r>
            <a:r>
              <a:rPr sz="1800" b="1" dirty="0">
                <a:solidFill>
                  <a:srgbClr val="102A43"/>
                </a:solidFill>
                <a:latin typeface="Nunito Sans ExtraBold"/>
                <a:ea typeface="Nunito Sans ExtraBold"/>
                <a:cs typeface="Nunito Sans ExtraBold"/>
              </a:rPr>
              <a:t> on the success-cost frontier.</a:t>
            </a:r>
          </a:p>
        </p:txBody>
      </p:sp>
      <p:sp>
        <p:nvSpPr>
          <p:cNvPr id="15" name="Rectangle 14">
            <a:extLst>
              <a:ext uri="{FF2B5EF4-FFF2-40B4-BE49-F238E27FC236}">
                <a16:creationId xmlns:a16="http://schemas.microsoft.com/office/drawing/2014/main" id="{98064E77-B50D-4E5D-A6B0-C93F16D4915D}"/>
              </a:ext>
            </a:extLst>
          </p:cNvPr>
          <p:cNvSpPr>
            <a:spLocks noGrp="1"/>
          </p:cNvSpPr>
          <p:nvPr/>
        </p:nvSpPr>
        <p:spPr>
          <a:xfrm>
            <a:off x="1581150" y="3905250"/>
            <a:ext cx="5810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B6B82"/>
                </a:solidFill>
                <a:latin typeface="Nunito Sans"/>
                <a:ea typeface="Nunito Sans"/>
                <a:cs typeface="Nunito Sans"/>
              </a:defRPr>
            </a:pPr>
            <a:r>
              <a:rPr sz="1050" b="0">
                <a:solidFill>
                  <a:srgbClr val="5B6B82"/>
                </a:solidFill>
                <a:latin typeface="Nunito Sans"/>
                <a:ea typeface="Nunito Sans"/>
                <a:cs typeface="Nunito Sans"/>
              </a:rPr>
              <a:t>learned@0.2 keeps 100% success while using 2.07 calls instead of 3.07.</a:t>
            </a:r>
          </a:p>
        </p:txBody>
      </p:sp>
      <p:sp>
        <p:nvSpPr>
          <p:cNvPr id="16" name="Rounded Rectangle 15">
            <a:extLst>
              <a:ext uri="{FF2B5EF4-FFF2-40B4-BE49-F238E27FC236}">
                <a16:creationId xmlns:a16="http://schemas.microsoft.com/office/drawing/2014/main" id="{27529BF7-918E-4948-97BB-AC3080D3A5BB}"/>
              </a:ext>
            </a:extLst>
          </p:cNvPr>
          <p:cNvSpPr>
            <a:spLocks noGrp="1"/>
          </p:cNvSpPr>
          <p:nvPr/>
        </p:nvSpPr>
        <p:spPr>
          <a:xfrm>
            <a:off x="666750" y="4552950"/>
            <a:ext cx="7620000" cy="876300"/>
          </a:xfrm>
          <a:prstGeom prst="roundRect">
            <a:avLst>
              <a:gd name="adj" fmla="val 8696"/>
            </a:avLst>
          </a:prstGeom>
          <a:solidFill>
            <a:srgbClr val="FFFFFF"/>
          </a:solidFill>
          <a:ln w="9525">
            <a:solidFill>
              <a:srgbClr val="D8E1ED"/>
            </a:solidFill>
            <a:prstDash val="solid"/>
          </a:ln>
        </p:spPr>
        <p:txBody>
          <a:bodyPr/>
          <a:lstStyle/>
          <a:p>
            <a:endParaRPr lang="en-US"/>
          </a:p>
        </p:txBody>
      </p:sp>
      <p:sp>
        <p:nvSpPr>
          <p:cNvPr id="17" name="Rectangle 16">
            <a:extLst>
              <a:ext uri="{FF2B5EF4-FFF2-40B4-BE49-F238E27FC236}">
                <a16:creationId xmlns:a16="http://schemas.microsoft.com/office/drawing/2014/main" id="{063638F0-1C5F-4755-8EC2-59115D4C4565}"/>
              </a:ext>
            </a:extLst>
          </p:cNvPr>
          <p:cNvSpPr>
            <a:spLocks noGrp="1"/>
          </p:cNvSpPr>
          <p:nvPr/>
        </p:nvSpPr>
        <p:spPr>
          <a:xfrm>
            <a:off x="914400" y="4819650"/>
            <a:ext cx="514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1E5AA8"/>
                </a:solidFill>
                <a:latin typeface="Nunito Sans ExtraBold"/>
                <a:ea typeface="Nunito Sans ExtraBold"/>
                <a:cs typeface="Nunito Sans ExtraBold"/>
              </a:defRPr>
            </a:pPr>
            <a:r>
              <a:rPr sz="1950" b="1">
                <a:solidFill>
                  <a:srgbClr val="1E5AA8"/>
                </a:solidFill>
                <a:latin typeface="Nunito Sans ExtraBold"/>
                <a:ea typeface="Nunito Sans ExtraBold"/>
                <a:cs typeface="Nunito Sans ExtraBold"/>
              </a:rPr>
              <a:t>03</a:t>
            </a:r>
          </a:p>
        </p:txBody>
      </p:sp>
      <p:sp>
        <p:nvSpPr>
          <p:cNvPr id="18" name="Rectangle 17">
            <a:extLst>
              <a:ext uri="{FF2B5EF4-FFF2-40B4-BE49-F238E27FC236}">
                <a16:creationId xmlns:a16="http://schemas.microsoft.com/office/drawing/2014/main" id="{543A4564-04AD-41CB-9CB0-5C942B8ED0CA}"/>
              </a:ext>
            </a:extLst>
          </p:cNvPr>
          <p:cNvSpPr>
            <a:spLocks noGrp="1"/>
          </p:cNvSpPr>
          <p:nvPr/>
        </p:nvSpPr>
        <p:spPr>
          <a:xfrm>
            <a:off x="1581150" y="4743450"/>
            <a:ext cx="5619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02A43"/>
                </a:solidFill>
                <a:latin typeface="Nunito Sans ExtraBold"/>
                <a:ea typeface="Nunito Sans ExtraBold"/>
                <a:cs typeface="Nunito Sans ExtraBold"/>
              </a:defRPr>
            </a:pPr>
            <a:r>
              <a:rPr sz="1800" b="1">
                <a:solidFill>
                  <a:srgbClr val="102A43"/>
                </a:solidFill>
                <a:latin typeface="Nunito Sans ExtraBold"/>
                <a:ea typeface="Nunito Sans ExtraBold"/>
                <a:cs typeface="Nunito Sans ExtraBold"/>
              </a:rPr>
              <a:t>The claim survives a smaller gate.</a:t>
            </a:r>
          </a:p>
        </p:txBody>
      </p:sp>
      <p:sp>
        <p:nvSpPr>
          <p:cNvPr id="19" name="Rectangle 18">
            <a:extLst>
              <a:ext uri="{FF2B5EF4-FFF2-40B4-BE49-F238E27FC236}">
                <a16:creationId xmlns:a16="http://schemas.microsoft.com/office/drawing/2014/main" id="{3C53148A-E184-4339-9843-4C39529219F4}"/>
              </a:ext>
            </a:extLst>
          </p:cNvPr>
          <p:cNvSpPr>
            <a:spLocks noGrp="1"/>
          </p:cNvSpPr>
          <p:nvPr/>
        </p:nvSpPr>
        <p:spPr>
          <a:xfrm>
            <a:off x="1581150" y="5029200"/>
            <a:ext cx="5810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B6B82"/>
                </a:solidFill>
                <a:latin typeface="Nunito Sans"/>
                <a:ea typeface="Nunito Sans"/>
                <a:cs typeface="Nunito Sans"/>
              </a:defRPr>
            </a:pPr>
            <a:r>
              <a:rPr sz="1050" b="0">
                <a:solidFill>
                  <a:srgbClr val="5B6B82"/>
                </a:solidFill>
                <a:latin typeface="Nunito Sans"/>
                <a:ea typeface="Nunito Sans"/>
                <a:cs typeface="Nunito Sans"/>
              </a:rPr>
              <a:t>A compact 8-feature version still reproduces the main story, so this is not feature bloat.</a:t>
            </a:r>
          </a:p>
        </p:txBody>
      </p:sp>
      <p:sp>
        <p:nvSpPr>
          <p:cNvPr id="20" name="Rounded Rectangle 19">
            <a:extLst>
              <a:ext uri="{FF2B5EF4-FFF2-40B4-BE49-F238E27FC236}">
                <a16:creationId xmlns:a16="http://schemas.microsoft.com/office/drawing/2014/main" id="{FCE8F9EB-34DC-42FA-A698-893F8360E76F}"/>
              </a:ext>
            </a:extLst>
          </p:cNvPr>
          <p:cNvSpPr>
            <a:spLocks noGrp="1"/>
          </p:cNvSpPr>
          <p:nvPr/>
        </p:nvSpPr>
        <p:spPr>
          <a:xfrm>
            <a:off x="8743950" y="2305050"/>
            <a:ext cx="2266950" cy="3238500"/>
          </a:xfrm>
          <a:prstGeom prst="roundRect">
            <a:avLst>
              <a:gd name="adj" fmla="val 3361"/>
            </a:avLst>
          </a:prstGeom>
          <a:solidFill>
            <a:srgbClr val="0F172A"/>
          </a:solidFill>
          <a:ln w="0">
            <a:solidFill>
              <a:srgbClr val="0F172A"/>
            </a:solidFill>
            <a:prstDash val="solid"/>
          </a:ln>
        </p:spPr>
        <p:txBody>
          <a:bodyPr/>
          <a:lstStyle/>
          <a:p>
            <a:endParaRPr lang="en-US"/>
          </a:p>
        </p:txBody>
      </p:sp>
      <p:sp>
        <p:nvSpPr>
          <p:cNvPr id="21" name="Rectangle 20">
            <a:extLst>
              <a:ext uri="{FF2B5EF4-FFF2-40B4-BE49-F238E27FC236}">
                <a16:creationId xmlns:a16="http://schemas.microsoft.com/office/drawing/2014/main" id="{ACA20F6B-CD47-4706-8F12-9059C308DC09}"/>
              </a:ext>
            </a:extLst>
          </p:cNvPr>
          <p:cNvSpPr>
            <a:spLocks noGrp="1"/>
          </p:cNvSpPr>
          <p:nvPr/>
        </p:nvSpPr>
        <p:spPr>
          <a:xfrm>
            <a:off x="9448800" y="2571750"/>
            <a:ext cx="8763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B7C7D9"/>
                </a:solidFill>
                <a:latin typeface="Nunito Sans"/>
                <a:ea typeface="Nunito Sans"/>
                <a:cs typeface="Nunito Sans"/>
              </a:defRPr>
            </a:pPr>
            <a:r>
              <a:rPr sz="975" b="1">
                <a:solidFill>
                  <a:srgbClr val="B7C7D9"/>
                </a:solidFill>
                <a:latin typeface="Nunito Sans"/>
                <a:ea typeface="Nunito Sans"/>
                <a:cs typeface="Nunito Sans"/>
              </a:rPr>
              <a:t>Next</a:t>
            </a:r>
          </a:p>
        </p:txBody>
      </p:sp>
      <p:sp>
        <p:nvSpPr>
          <p:cNvPr id="22" name="Rectangle 21">
            <a:extLst>
              <a:ext uri="{FF2B5EF4-FFF2-40B4-BE49-F238E27FC236}">
                <a16:creationId xmlns:a16="http://schemas.microsoft.com/office/drawing/2014/main" id="{B3E4974B-8700-4B57-B8B5-0CB0EA4C5B1B}"/>
              </a:ext>
            </a:extLst>
          </p:cNvPr>
          <p:cNvSpPr>
            <a:spLocks noGrp="1"/>
          </p:cNvSpPr>
          <p:nvPr/>
        </p:nvSpPr>
        <p:spPr>
          <a:xfrm>
            <a:off x="9029700" y="2990850"/>
            <a:ext cx="1714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FFFFFF"/>
                </a:solidFill>
                <a:latin typeface="Nunito Sans"/>
                <a:ea typeface="Nunito Sans"/>
                <a:cs typeface="Nunito Sans"/>
              </a:defRPr>
            </a:pPr>
            <a:r>
              <a:rPr sz="1125" b="0">
                <a:solidFill>
                  <a:srgbClr val="FFFFFF"/>
                </a:solidFill>
                <a:latin typeface="Nunito Sans"/>
                <a:ea typeface="Nunito Sans"/>
                <a:cs typeface="Nunito Sans"/>
              </a:rPr>
              <a:t>- port to external benchmark</a:t>
            </a:r>
          </a:p>
        </p:txBody>
      </p:sp>
      <p:sp>
        <p:nvSpPr>
          <p:cNvPr id="23" name="Rectangle 22">
            <a:extLst>
              <a:ext uri="{FF2B5EF4-FFF2-40B4-BE49-F238E27FC236}">
                <a16:creationId xmlns:a16="http://schemas.microsoft.com/office/drawing/2014/main" id="{5D97205B-F95D-4163-9881-C9B5428523BC}"/>
              </a:ext>
            </a:extLst>
          </p:cNvPr>
          <p:cNvSpPr>
            <a:spLocks noGrp="1"/>
          </p:cNvSpPr>
          <p:nvPr/>
        </p:nvSpPr>
        <p:spPr>
          <a:xfrm>
            <a:off x="9029700" y="3371850"/>
            <a:ext cx="1714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FFFFFF"/>
                </a:solidFill>
                <a:latin typeface="Nunito Sans"/>
                <a:ea typeface="Nunito Sans"/>
                <a:cs typeface="Nunito Sans"/>
              </a:defRPr>
            </a:pPr>
            <a:r>
              <a:rPr sz="1125" b="0">
                <a:solidFill>
                  <a:srgbClr val="FFFFFF"/>
                </a:solidFill>
                <a:latin typeface="Nunito Sans"/>
                <a:ea typeface="Nunito Sans"/>
                <a:cs typeface="Nunito Sans"/>
              </a:rPr>
              <a:t>- replace verbalized confidence</a:t>
            </a:r>
          </a:p>
        </p:txBody>
      </p:sp>
      <p:sp>
        <p:nvSpPr>
          <p:cNvPr id="24" name="Rectangle 23">
            <a:extLst>
              <a:ext uri="{FF2B5EF4-FFF2-40B4-BE49-F238E27FC236}">
                <a16:creationId xmlns:a16="http://schemas.microsoft.com/office/drawing/2014/main" id="{F3B29AE9-B9DF-4F26-8C2A-0128D196C270}"/>
              </a:ext>
            </a:extLst>
          </p:cNvPr>
          <p:cNvSpPr>
            <a:spLocks noGrp="1"/>
          </p:cNvSpPr>
          <p:nvPr/>
        </p:nvSpPr>
        <p:spPr>
          <a:xfrm>
            <a:off x="9029700" y="3752850"/>
            <a:ext cx="1714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FFFFFF"/>
                </a:solidFill>
                <a:latin typeface="Nunito Sans"/>
                <a:ea typeface="Nunito Sans"/>
                <a:cs typeface="Nunito Sans"/>
              </a:defRPr>
            </a:pPr>
            <a:r>
              <a:rPr sz="1125" b="0">
                <a:solidFill>
                  <a:srgbClr val="FFFFFF"/>
                </a:solidFill>
                <a:latin typeface="Nunito Sans"/>
                <a:ea typeface="Nunito Sans"/>
                <a:cs typeface="Nunito Sans"/>
              </a:rPr>
              <a:t>- scale DAgger rounds</a:t>
            </a:r>
          </a:p>
        </p:txBody>
      </p:sp>
      <p:sp>
        <p:nvSpPr>
          <p:cNvPr id="25" name="Rectangle 24">
            <a:extLst>
              <a:ext uri="{FF2B5EF4-FFF2-40B4-BE49-F238E27FC236}">
                <a16:creationId xmlns:a16="http://schemas.microsoft.com/office/drawing/2014/main" id="{578FC7EB-B2FD-49F6-8D79-5A9B17859DB9}"/>
              </a:ext>
            </a:extLst>
          </p:cNvPr>
          <p:cNvSpPr>
            <a:spLocks noGrp="1"/>
          </p:cNvSpPr>
          <p:nvPr/>
        </p:nvSpPr>
        <p:spPr>
          <a:xfrm>
            <a:off x="9029700" y="4133850"/>
            <a:ext cx="1714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FFFFFF"/>
                </a:solidFill>
                <a:latin typeface="Nunito Sans"/>
                <a:ea typeface="Nunito Sans"/>
                <a:cs typeface="Nunito Sans"/>
              </a:defRPr>
            </a:pPr>
            <a:r>
              <a:rPr sz="1125" b="0">
                <a:solidFill>
                  <a:srgbClr val="FFFFFF"/>
                </a:solidFill>
                <a:latin typeface="Nunito Sans"/>
                <a:ea typeface="Nunito Sans"/>
                <a:cs typeface="Nunito Sans"/>
              </a:rPr>
              <a:t>- compare across models</a:t>
            </a:r>
          </a:p>
        </p:txBody>
      </p:sp>
      <p:sp>
        <p:nvSpPr>
          <p:cNvPr id="26" name="Rectangle 25">
            <a:extLst>
              <a:ext uri="{FF2B5EF4-FFF2-40B4-BE49-F238E27FC236}">
                <a16:creationId xmlns:a16="http://schemas.microsoft.com/office/drawing/2014/main" id="{407D203F-A389-4AB8-96EF-6B2E2428698E}"/>
              </a:ext>
            </a:extLst>
          </p:cNvPr>
          <p:cNvSpPr>
            <a:spLocks noGrp="1"/>
          </p:cNvSpPr>
          <p:nvPr/>
        </p:nvSpPr>
        <p:spPr>
          <a:xfrm>
            <a:off x="8991600" y="4587660"/>
            <a:ext cx="17716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FFFFFF"/>
                </a:solidFill>
                <a:latin typeface="Nunito Sans ExtraBold"/>
                <a:ea typeface="Nunito Sans ExtraBold"/>
                <a:cs typeface="Nunito Sans ExtraBold"/>
              </a:defRPr>
            </a:pPr>
            <a:r>
              <a:rPr sz="1350" b="1" dirty="0">
                <a:solidFill>
                  <a:srgbClr val="FFFFFF"/>
                </a:solidFill>
                <a:latin typeface="Nunito Sans ExtraBold"/>
                <a:ea typeface="Nunito Sans ExtraBold"/>
                <a:cs typeface="Nunito Sans ExtraBold"/>
              </a:rPr>
              <a:t>Academic-first result:</a:t>
            </a:r>
          </a:p>
          <a:p>
            <a:pPr algn="ctr">
              <a:defRPr sz="1350" b="1">
                <a:solidFill>
                  <a:srgbClr val="FFFFFF"/>
                </a:solidFill>
                <a:latin typeface="Nunito Sans ExtraBold"/>
                <a:ea typeface="Nunito Sans ExtraBold"/>
                <a:cs typeface="Nunito Sans ExtraBold"/>
              </a:defRPr>
            </a:pPr>
            <a:r>
              <a:rPr sz="1350" b="1" dirty="0">
                <a:solidFill>
                  <a:srgbClr val="FFFFFF"/>
                </a:solidFill>
                <a:latin typeface="Nunito Sans ExtraBold"/>
                <a:ea typeface="Nunito Sans ExtraBold"/>
                <a:cs typeface="Nunito Sans ExtraBold"/>
              </a:rPr>
              <a:t>mechanism is real,</a:t>
            </a:r>
          </a:p>
          <a:p>
            <a:pPr algn="ctr">
              <a:defRPr sz="1350" b="1">
                <a:solidFill>
                  <a:srgbClr val="FFFFFF"/>
                </a:solidFill>
                <a:latin typeface="Nunito Sans ExtraBold"/>
                <a:ea typeface="Nunito Sans ExtraBold"/>
                <a:cs typeface="Nunito Sans ExtraBold"/>
              </a:defRPr>
            </a:pPr>
            <a:r>
              <a:rPr sz="1350" b="1" dirty="0">
                <a:solidFill>
                  <a:srgbClr val="FFFFFF"/>
                </a:solidFill>
                <a:latin typeface="Nunito Sans ExtraBold"/>
                <a:ea typeface="Nunito Sans ExtraBold"/>
                <a:cs typeface="Nunito Sans ExtraBold"/>
              </a:rPr>
              <a:t>benchmark scale is next.</a:t>
            </a:r>
          </a:p>
        </p:txBody>
      </p:sp>
    </p:spTree>
    <p:extLst>
      <p:ext uri="{BB962C8B-B14F-4D97-AF65-F5344CB8AC3E}">
        <p14:creationId xmlns:p14="http://schemas.microsoft.com/office/powerpoint/2010/main" val="10218662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TotalTime>
  <Words>3762</Words>
  <Application>Microsoft Macintosh PowerPoint</Application>
  <DocSecurity>0</DocSecurity>
  <PresentationFormat>宽屏</PresentationFormat>
  <Paragraphs>329</Paragraphs>
  <Slides>12</Slides>
  <Notes>12</Notes>
  <HiddenSlides>0</HiddenSlides>
  <MMClips>4</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12</vt:i4>
      </vt:variant>
    </vt:vector>
  </HeadingPairs>
  <TitlesOfParts>
    <vt:vector size="16" baseType="lpstr">
      <vt:lpstr>Calibri</vt:lpstr>
      <vt:lpstr>Nunito Sans</vt:lpstr>
      <vt:lpstr>Nunito Sans ExtraBold</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Zejun Huang</cp:lastModifiedBy>
  <cp:revision>23</cp:revision>
  <dcterms:created xsi:type="dcterms:W3CDTF">2026-06-03T23:38:06Z</dcterms:created>
  <dcterms:modified xsi:type="dcterms:W3CDTF">2026-06-04T19:41:33Z</dcterms:modified>
</cp:coreProperties>
</file>