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959"/>
  </p:normalViewPr>
  <p:slideViewPr>
    <p:cSldViewPr snapToGrid="0">
      <p:cViewPr varScale="1">
        <p:scale>
          <a:sx n="95" d="100"/>
          <a:sy n="95" d="100"/>
        </p:scale>
        <p:origin x="1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[~20s] Hi everyone. I'm Zejun, and together with Dingjiang we ask one question: when should a browser agent pay to re-observe the page, and when can it safely act from its current plan?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大家好。我是Zejun，和Dingjiang一起提出一个问题：浏览器 agent 什么时候应该付出代价重新观察页面，什么时候可以基于当前计划安全地行动？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[~45s] The standard agent loop observes before every action. This is safe — but observation dominates latency and cost. Every observe call is one LLM call. Some observations are genuinely needed: the page changed, the plan is stale. Others are pure overhead — the plan is still valid, and the agent would have taken the same action anyway. We want to learn to tell these apart.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标准 agent 循环在每个动作前都观察一次页面。这是安全的——但观察主导了延迟和成本。每次观察调用就是一次 LLM 调用。有些观察是确实需要的：页面变了，计划过时了。其他的是纯粹的开销——计划仍然有效，agent 无论如何都会采取同样的行动。我们希望学会区分这两种情况。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[~30s] Let me show you the punchline first. Our learned gate at threshold 0.2 achieves 100% success — matching the always-observe ceiling — while using only 2.07 calls on average versus 3.53 for always. That is a 41% reduction in model calls at zero cost to accuracy or safety. The hand rule also hits 100% success but at 3.07 calls. Our gate Pareto-dominates it. I will explain how we get here.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先给大家看结论。我们的学习门控在阈值 0.2 时实现了 100% 成功率——与 always-observe 上界持平——同时平均只使用 2.07 次调用，而 always 需要 3.53 次。这是在准确率和安全性零损失的情况下减少了 41% 的模型调用。手工规则也能达到 100% 成功率，但需要 3.07 次调用。我们的门控 Pareto 主导了它。接下来我解释我们是怎么做到的。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/>
              <a:t>[~45s] The core idea: add a lightweight gate before each action. The gate uses cheap signals available before observing — screen change flag, candidate changes, plan age, model confidence — and outputs a probability that observation is needed. If the score exceeds threshold T, we observe: one LLM call, fresh DOM, re-plan. If below T, we coast: zero calls, reuse the carried plan</a:t>
            </a:r>
            <a:r>
              <a:rPr sz="1200"/>
              <a:t>. </a:t>
            </a:r>
            <a:r>
              <a:rPr sz="1100" dirty="0">
                <a:solidFill>
                  <a:srgbClr val="94A3B8"/>
                </a:solidFill>
              </a:rPr>
              <a:t>
【</a:t>
            </a:r>
            <a:r>
              <a:rPr sz="1100" dirty="0" err="1">
                <a:solidFill>
                  <a:srgbClr val="94A3B8"/>
                </a:solidFill>
              </a:rPr>
              <a:t>中文参考翻译</a:t>
            </a:r>
            <a:r>
              <a:rPr sz="1100" dirty="0">
                <a:solidFill>
                  <a:srgbClr val="94A3B8"/>
                </a:solidFill>
              </a:rPr>
              <a:t>】
</a:t>
            </a:r>
            <a:r>
              <a:rPr sz="1100" dirty="0" err="1">
                <a:solidFill>
                  <a:srgbClr val="94A3B8"/>
                </a:solidFill>
              </a:rPr>
              <a:t>核心思路是在每个动作前加一个轻量级门控。门控使用观察前就能获得的廉价信号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屏幕变化标志、候选元素变化、计划年龄、模型置信度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输出一个概率表示是否需要观察。如果分数超过阈值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T，我们观察：一次</a:t>
            </a:r>
            <a:r>
              <a:rPr sz="1100" dirty="0">
                <a:solidFill>
                  <a:srgbClr val="94A3B8"/>
                </a:solidFill>
              </a:rPr>
              <a:t> LLM </a:t>
            </a:r>
            <a:r>
              <a:rPr sz="1100" dirty="0" err="1">
                <a:solidFill>
                  <a:srgbClr val="94A3B8"/>
                </a:solidFill>
              </a:rPr>
              <a:t>调用，获取新鲜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DOM，重新规划。如果低于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T，我们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coast：零调用，沿用当前计划</a:t>
            </a:r>
            <a:r>
              <a:rPr sz="1100" dirty="0">
                <a:solidFill>
                  <a:srgbClr val="94A3B8"/>
                </a:solidFill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/>
              <a:t>[~40s] We evaluate on 15 tasks in four families. Static baseline is the control group — stable pages, no async changes — testing that coasting works when it should. Async results tasks introduce visible screen changes the hand rule can detect. The two adversarial families are more interesting. In </a:t>
            </a:r>
            <a:r>
              <a:rPr sz="1200" dirty="0" err="1"/>
              <a:t>value_drift</a:t>
            </a:r>
            <a:r>
              <a:rPr sz="1200" dirty="0"/>
              <a:t>, the page structure stays the same but a field value silently resolves — the agent might send to a placeholder email. In </a:t>
            </a:r>
            <a:r>
              <a:rPr sz="1200" dirty="0" err="1"/>
              <a:t>delayed_options</a:t>
            </a:r>
            <a:r>
              <a:rPr sz="1200" dirty="0"/>
              <a:t>, the correct dropdown choice appears late, so coasting picks the wrong index from a stale plan. These last two families specifically stress-test cases where a change detector would stay silent.</a:t>
            </a:r>
          </a:p>
          <a:p>
            <a:r>
              <a:rPr sz="1100" dirty="0">
                <a:solidFill>
                  <a:srgbClr val="94A3B8"/>
                </a:solidFill>
              </a:rPr>
              <a:t>
【</a:t>
            </a:r>
            <a:r>
              <a:rPr sz="1100" dirty="0" err="1">
                <a:solidFill>
                  <a:srgbClr val="94A3B8"/>
                </a:solidFill>
              </a:rPr>
              <a:t>中文参考翻译</a:t>
            </a:r>
            <a:r>
              <a:rPr sz="1100" dirty="0">
                <a:solidFill>
                  <a:srgbClr val="94A3B8"/>
                </a:solidFill>
              </a:rPr>
              <a:t>】
</a:t>
            </a:r>
            <a:r>
              <a:rPr sz="1100" dirty="0" err="1">
                <a:solidFill>
                  <a:srgbClr val="94A3B8"/>
                </a:solidFill>
              </a:rPr>
              <a:t>我们在</a:t>
            </a:r>
            <a:r>
              <a:rPr sz="1100" dirty="0">
                <a:solidFill>
                  <a:srgbClr val="94A3B8"/>
                </a:solidFill>
              </a:rPr>
              <a:t> 15 </a:t>
            </a:r>
            <a:r>
              <a:rPr sz="1100" dirty="0" err="1">
                <a:solidFill>
                  <a:srgbClr val="94A3B8"/>
                </a:solidFill>
              </a:rPr>
              <a:t>个任务的四个系列上进行评估。static_baseline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是对照组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稳定页面，无异步变化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测试在应该</a:t>
            </a:r>
            <a:r>
              <a:rPr sz="1100" dirty="0">
                <a:solidFill>
                  <a:srgbClr val="94A3B8"/>
                </a:solidFill>
              </a:rPr>
              <a:t> coast </a:t>
            </a:r>
            <a:r>
              <a:rPr sz="1100" dirty="0" err="1">
                <a:solidFill>
                  <a:srgbClr val="94A3B8"/>
                </a:solidFill>
              </a:rPr>
              <a:t>时能正确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coast。async_results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任务引入了手工规则可以检测到的可见屏幕变化。两个对抗性系列更有趣。在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value_drift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中，页面结构不变，但字段值悄悄解析</a:t>
            </a:r>
            <a:r>
              <a:rPr sz="1100" dirty="0">
                <a:solidFill>
                  <a:srgbClr val="94A3B8"/>
                </a:solidFill>
              </a:rPr>
              <a:t>——agent </a:t>
            </a:r>
            <a:r>
              <a:rPr sz="1100" dirty="0" err="1">
                <a:solidFill>
                  <a:srgbClr val="94A3B8"/>
                </a:solidFill>
              </a:rPr>
              <a:t>可能发送到占位符邮件。在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delayed_options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中，正确的下拉选项出现得较晚，因此</a:t>
            </a:r>
            <a:r>
              <a:rPr sz="1100" dirty="0">
                <a:solidFill>
                  <a:srgbClr val="94A3B8"/>
                </a:solidFill>
              </a:rPr>
              <a:t> coasting </a:t>
            </a:r>
            <a:r>
              <a:rPr sz="1100" dirty="0" err="1">
                <a:solidFill>
                  <a:srgbClr val="94A3B8"/>
                </a:solidFill>
              </a:rPr>
              <a:t>从过时的计划中选错了索引。后两个系列专门压力测试变化检测器会保持沉默的情况</a:t>
            </a:r>
            <a:r>
              <a:rPr sz="1100" dirty="0">
                <a:solidFill>
                  <a:srgbClr val="94A3B8"/>
                </a:solidFill>
              </a:rPr>
              <a:t>。</a:t>
            </a:r>
            <a:endParaRPr lang="en-US" sz="1100" dirty="0">
              <a:solidFill>
                <a:srgbClr val="94A3B8"/>
              </a:solidFill>
            </a:endParaRPr>
          </a:p>
          <a:p>
            <a:endParaRPr lang="en-US" sz="1100" dirty="0">
              <a:solidFill>
                <a:srgbClr val="94A3B8"/>
              </a:solidFill>
            </a:endParaRPr>
          </a:p>
          <a:p>
            <a:r>
              <a:rPr lang="en-US" sz="1100" dirty="0">
                <a:solidFill>
                  <a:srgbClr val="94A3B8"/>
                </a:solidFill>
              </a:rPr>
              <a:t>static_baseline（5</a:t>
            </a:r>
            <a:r>
              <a:rPr lang="zh-CN" altLang="en-US" sz="1100" dirty="0">
                <a:solidFill>
                  <a:srgbClr val="94A3B8"/>
                </a:solidFill>
              </a:rPr>
              <a:t>个）：普通稳定工作流（</a:t>
            </a:r>
            <a:r>
              <a:rPr lang="en-US" sz="1100" dirty="0">
                <a:solidFill>
                  <a:srgbClr val="94A3B8"/>
                </a:solidFill>
              </a:rPr>
              <a:t>mail/shop/contacts/settings/files），</a:t>
            </a:r>
            <a:r>
              <a:rPr lang="zh-CN" altLang="en-US" sz="1100" dirty="0">
                <a:solidFill>
                  <a:srgbClr val="94A3B8"/>
                </a:solidFill>
              </a:rPr>
              <a:t>粗信号够用。</a:t>
            </a:r>
          </a:p>
          <a:p>
            <a:r>
              <a:rPr lang="en-US" sz="1100" dirty="0">
                <a:solidFill>
                  <a:srgbClr val="94A3B8"/>
                </a:solidFill>
              </a:rPr>
              <a:t>async_results（4</a:t>
            </a:r>
            <a:r>
              <a:rPr lang="zh-CN" altLang="en-US" sz="1100" dirty="0">
                <a:solidFill>
                  <a:srgbClr val="94A3B8"/>
                </a:solidFill>
              </a:rPr>
              <a:t>个）：搜索结果延迟渲染。</a:t>
            </a:r>
          </a:p>
          <a:p>
            <a:r>
              <a:rPr lang="en-US" sz="1100" dirty="0">
                <a:solidFill>
                  <a:srgbClr val="94A3B8"/>
                </a:solidFill>
              </a:rPr>
              <a:t>value_drift（3</a:t>
            </a:r>
            <a:r>
              <a:rPr lang="zh-CN" altLang="en-US" sz="1100" dirty="0">
                <a:solidFill>
                  <a:srgbClr val="94A3B8"/>
                </a:solidFill>
              </a:rPr>
              <a:t>个，最关键）：比如</a:t>
            </a:r>
            <a:r>
              <a:rPr lang="en-US" altLang="zh-CN" sz="1100" dirty="0">
                <a:solidFill>
                  <a:srgbClr val="94A3B8"/>
                </a:solidFill>
              </a:rPr>
              <a:t>"</a:t>
            </a:r>
            <a:r>
              <a:rPr lang="zh-CN" altLang="en-US" sz="1100" dirty="0">
                <a:solidFill>
                  <a:srgbClr val="94A3B8"/>
                </a:solidFill>
              </a:rPr>
              <a:t>建议收件人</a:t>
            </a:r>
            <a:r>
              <a:rPr lang="en-US" altLang="zh-CN" sz="1100" dirty="0">
                <a:solidFill>
                  <a:srgbClr val="94A3B8"/>
                </a:solidFill>
              </a:rPr>
              <a:t>"</a:t>
            </a:r>
            <a:r>
              <a:rPr lang="zh-CN" altLang="en-US" sz="1100" dirty="0">
                <a:solidFill>
                  <a:srgbClr val="94A3B8"/>
                </a:solidFill>
              </a:rPr>
              <a:t>字段先显示 </a:t>
            </a:r>
            <a:r>
              <a:rPr lang="en-US" sz="1100" dirty="0">
                <a:solidFill>
                  <a:srgbClr val="94A3B8"/>
                </a:solidFill>
              </a:rPr>
              <a:t>Resolving…，</a:t>
            </a:r>
            <a:r>
              <a:rPr lang="zh-CN" altLang="en-US" sz="1100" dirty="0">
                <a:solidFill>
                  <a:srgbClr val="94A3B8"/>
                </a:solidFill>
              </a:rPr>
              <a:t>过一会才解析成真实地址。控件集合从头到尾不变，只有字段的</a:t>
            </a:r>
            <a:r>
              <a:rPr lang="en-US" altLang="zh-CN" sz="1100" dirty="0">
                <a:solidFill>
                  <a:srgbClr val="94A3B8"/>
                </a:solidFill>
              </a:rPr>
              <a:t>"</a:t>
            </a:r>
            <a:r>
              <a:rPr lang="zh-CN" altLang="en-US" sz="1100" dirty="0">
                <a:solidFill>
                  <a:srgbClr val="94A3B8"/>
                </a:solidFill>
              </a:rPr>
              <a:t>值</a:t>
            </a:r>
            <a:r>
              <a:rPr lang="en-US" altLang="zh-CN" sz="1100" dirty="0">
                <a:solidFill>
                  <a:srgbClr val="94A3B8"/>
                </a:solidFill>
              </a:rPr>
              <a:t>"</a:t>
            </a:r>
            <a:r>
              <a:rPr lang="zh-CN" altLang="en-US" sz="1100" dirty="0">
                <a:solidFill>
                  <a:srgbClr val="94A3B8"/>
                </a:solidFill>
              </a:rPr>
              <a:t>变了</a:t>
            </a:r>
            <a:r>
              <a:rPr lang="en-US" altLang="zh-CN" sz="1100" dirty="0">
                <a:solidFill>
                  <a:srgbClr val="94A3B8"/>
                </a:solidFill>
              </a:rPr>
              <a:t>——</a:t>
            </a:r>
            <a:r>
              <a:rPr lang="zh-CN" altLang="en-US" sz="1100" dirty="0">
                <a:solidFill>
                  <a:srgbClr val="94A3B8"/>
                </a:solidFill>
              </a:rPr>
              <a:t>所以粗信号完全察觉不到，但模型自报的</a:t>
            </a:r>
            <a:r>
              <a:rPr lang="en-US" altLang="zh-CN" sz="1100" dirty="0">
                <a:solidFill>
                  <a:srgbClr val="94A3B8"/>
                </a:solidFill>
              </a:rPr>
              <a:t>"</a:t>
            </a:r>
            <a:r>
              <a:rPr lang="zh-CN" altLang="en-US" sz="1100" dirty="0">
                <a:solidFill>
                  <a:srgbClr val="94A3B8"/>
                </a:solidFill>
              </a:rPr>
              <a:t>信心值</a:t>
            </a:r>
            <a:r>
              <a:rPr lang="en-US" altLang="zh-CN" sz="1100" dirty="0">
                <a:solidFill>
                  <a:srgbClr val="94A3B8"/>
                </a:solidFill>
              </a:rPr>
              <a:t>"</a:t>
            </a:r>
            <a:r>
              <a:rPr lang="zh-CN" altLang="en-US" sz="1100" dirty="0">
                <a:solidFill>
                  <a:srgbClr val="94A3B8"/>
                </a:solidFill>
              </a:rPr>
              <a:t>能察觉。这是整个对比的智力核心。</a:t>
            </a:r>
          </a:p>
          <a:p>
            <a:r>
              <a:rPr lang="en-US" sz="1100" dirty="0">
                <a:solidFill>
                  <a:srgbClr val="94A3B8"/>
                </a:solidFill>
              </a:rPr>
              <a:t>delayed_options（3</a:t>
            </a:r>
            <a:r>
              <a:rPr lang="zh-CN" altLang="en-US" sz="1100" dirty="0">
                <a:solidFill>
                  <a:srgbClr val="94A3B8"/>
                </a:solidFill>
              </a:rPr>
              <a:t>个）：下拉框选择器不变，但正确选项要等面板加载完才出现。</a:t>
            </a:r>
            <a:endParaRPr sz="1100" dirty="0">
              <a:solidFill>
                <a:srgbClr val="94A3B8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[~55s] Here is how we generate training labels without extra API calls. We run an always-observe oracle on the task suite. At each step, we ask counterfactually: if the agent had NOT re-observed and instead executed from its carried plan, would it have taken the right action? If yes — label 0, observation was redundant. If no — label 1, observation was necessary. This is DAgger-style: the oracle provides supervised labels at each step in the actual trajectory. We train logistic regression on 14 cheap features. The logistic model was auto-selected over MLP: 90.9% decision accuracy versus 69.7% for the hand rule, and the false-skip rate drops from 12.1% to 3.0%.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下面是我们如何不需要额外 API 调用来生成训练标签的。我们在任务套件上运行一个 always-observe oracle。在每一步，我们反事实地问：如果 agent 没有重新观察而是从当前计划执行，它会采取正确的行动吗？如果是——标签 0，观察是多余的。如果否——标签 1，观察是必要的。这是一种 DAgger 风格的方法：oracle 在实际轨迹的每一步提供监督标签。我们在 14 个廉价特征上训练逻辑回归。逻辑模型被自动选择优于 MLP：90.9% 的决策准确率，而手工规则只有 69.7%，漏跳率从 12.1% 降低到 3.0%。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/>
              <a:t>[~50s] A key concern is whether the gate relies on fragile or hard-to-port features. So we ran a feature ablation. The full gate uses 14 features. The compact gate uses just four: </a:t>
            </a:r>
            <a:r>
              <a:rPr sz="1200" dirty="0" err="1"/>
              <a:t>no_plan</a:t>
            </a:r>
            <a:r>
              <a:rPr sz="1200" dirty="0"/>
              <a:t>, </a:t>
            </a:r>
            <a:r>
              <a:rPr sz="1200" dirty="0" err="1"/>
              <a:t>screen_changed_last</a:t>
            </a:r>
            <a:r>
              <a:rPr sz="1200" dirty="0"/>
              <a:t>, </a:t>
            </a:r>
            <a:r>
              <a:rPr sz="1200" dirty="0" err="1"/>
              <a:t>candidates_changed_last</a:t>
            </a:r>
            <a:r>
              <a:rPr sz="1200" dirty="0"/>
              <a:t>, and </a:t>
            </a:r>
            <a:r>
              <a:rPr sz="1200" dirty="0" err="1"/>
              <a:t>steps_since_observe</a:t>
            </a:r>
            <a:r>
              <a:rPr sz="1200" dirty="0"/>
              <a:t>. The compact gate still achieves 100% success and still reduces calls compared to always, though it uses more calls than the full gate. This matters for portability: the four compact features are available in almost any DOM-based agent framework, so the approach generalizes without retraining on a new feature set.</a:t>
            </a:r>
          </a:p>
          <a:p>
            <a:r>
              <a:rPr sz="1100" dirty="0">
                <a:solidFill>
                  <a:srgbClr val="94A3B8"/>
                </a:solidFill>
              </a:rPr>
              <a:t>
【</a:t>
            </a:r>
            <a:r>
              <a:rPr sz="1100" dirty="0" err="1">
                <a:solidFill>
                  <a:srgbClr val="94A3B8"/>
                </a:solidFill>
              </a:rPr>
              <a:t>中文参考翻译</a:t>
            </a:r>
            <a:r>
              <a:rPr sz="1100" dirty="0">
                <a:solidFill>
                  <a:srgbClr val="94A3B8"/>
                </a:solidFill>
              </a:rPr>
              <a:t>】
</a:t>
            </a:r>
            <a:r>
              <a:rPr sz="1100" dirty="0" err="1">
                <a:solidFill>
                  <a:srgbClr val="94A3B8"/>
                </a:solidFill>
              </a:rPr>
              <a:t>一个关键问题是门控是否依赖于脆弱或难以移植的特征。所以我们进行了特征消融实验。完整门控使用</a:t>
            </a:r>
            <a:r>
              <a:rPr sz="1100" dirty="0">
                <a:solidFill>
                  <a:srgbClr val="94A3B8"/>
                </a:solidFill>
              </a:rPr>
              <a:t> 14 个特征。紧凑门控只使用四个：no_plan、screen_changed_last、candidates_changed_last </a:t>
            </a:r>
            <a:r>
              <a:rPr sz="1100" dirty="0" err="1">
                <a:solidFill>
                  <a:srgbClr val="94A3B8"/>
                </a:solidFill>
              </a:rPr>
              <a:t>和</a:t>
            </a:r>
            <a:r>
              <a:rPr sz="1100" dirty="0">
                <a:solidFill>
                  <a:srgbClr val="94A3B8"/>
                </a:solidFill>
              </a:rPr>
              <a:t> </a:t>
            </a:r>
            <a:r>
              <a:rPr sz="1100" dirty="0" err="1">
                <a:solidFill>
                  <a:srgbClr val="94A3B8"/>
                </a:solidFill>
              </a:rPr>
              <a:t>steps_since_observe。紧凑门控仍然实现了</a:t>
            </a:r>
            <a:r>
              <a:rPr sz="1100" dirty="0">
                <a:solidFill>
                  <a:srgbClr val="94A3B8"/>
                </a:solidFill>
              </a:rPr>
              <a:t> 100% </a:t>
            </a:r>
            <a:r>
              <a:rPr sz="1100" dirty="0" err="1">
                <a:solidFill>
                  <a:srgbClr val="94A3B8"/>
                </a:solidFill>
              </a:rPr>
              <a:t>的成功率，与</a:t>
            </a:r>
            <a:r>
              <a:rPr sz="1100" dirty="0">
                <a:solidFill>
                  <a:srgbClr val="94A3B8"/>
                </a:solidFill>
              </a:rPr>
              <a:t> always </a:t>
            </a:r>
            <a:r>
              <a:rPr sz="1100" dirty="0" err="1">
                <a:solidFill>
                  <a:srgbClr val="94A3B8"/>
                </a:solidFill>
              </a:rPr>
              <a:t>相比仍然减少了调用次数，尽管比完整门控使用了更多调用。这对可移植性很重要：四个紧凑特征在几乎任何基于</a:t>
            </a:r>
            <a:r>
              <a:rPr sz="1100" dirty="0">
                <a:solidFill>
                  <a:srgbClr val="94A3B8"/>
                </a:solidFill>
              </a:rPr>
              <a:t> DOM </a:t>
            </a:r>
            <a:r>
              <a:rPr sz="1100" dirty="0" err="1">
                <a:solidFill>
                  <a:srgbClr val="94A3B8"/>
                </a:solidFill>
              </a:rPr>
              <a:t>的</a:t>
            </a:r>
            <a:r>
              <a:rPr sz="1100" dirty="0">
                <a:solidFill>
                  <a:srgbClr val="94A3B8"/>
                </a:solidFill>
              </a:rPr>
              <a:t> agent </a:t>
            </a:r>
            <a:r>
              <a:rPr sz="1100" dirty="0" err="1">
                <a:solidFill>
                  <a:srgbClr val="94A3B8"/>
                </a:solidFill>
              </a:rPr>
              <a:t>框架中都可用，因此该方法无需在新特征集上重新训练即可推广</a:t>
            </a:r>
            <a:r>
              <a:rPr sz="1100" dirty="0">
                <a:solidFill>
                  <a:srgbClr val="94A3B8"/>
                </a:solidFill>
              </a:rPr>
              <a:t>。</a:t>
            </a:r>
            <a:endParaRPr lang="en-US" sz="1100" dirty="0">
              <a:solidFill>
                <a:srgbClr val="94A3B8"/>
              </a:solidFill>
            </a:endParaRPr>
          </a:p>
          <a:p>
            <a:endParaRPr lang="en-US" sz="1100" dirty="0">
              <a:solidFill>
                <a:srgbClr val="94A3B8"/>
              </a:solidFill>
            </a:endParaRPr>
          </a:p>
          <a:p>
            <a:r>
              <a:rPr lang="zh-CN" altLang="en-US" sz="1200" b="0" i="0" kern="1200" dirty="0">
                <a:effectLst/>
              </a:rPr>
              <a:t>门控拿到的就是下面这个 </a:t>
            </a:r>
            <a:r>
              <a:rPr lang="en-US" altLang="zh-CN" sz="1200" b="1" i="0" kern="1200" dirty="0">
                <a:effectLst/>
              </a:rPr>
              <a:t>15 </a:t>
            </a:r>
            <a:r>
              <a:rPr lang="zh-CN" altLang="en-US" sz="1200" b="1" i="0" kern="1200" dirty="0">
                <a:effectLst/>
              </a:rPr>
              <a:t>维向量</a:t>
            </a:r>
            <a:r>
              <a:rPr lang="en-US" altLang="zh-CN" sz="1200" b="0" i="0" kern="1200" dirty="0">
                <a:effectLst/>
              </a:rPr>
              <a:t>(1 </a:t>
            </a:r>
            <a:r>
              <a:rPr lang="zh-CN" altLang="en-US" sz="1200" b="0" i="0" kern="1200" dirty="0">
                <a:effectLst/>
              </a:rPr>
              <a:t>个 </a:t>
            </a:r>
            <a:r>
              <a:rPr lang="en-US" altLang="zh-CN" sz="1200" b="0" i="0" kern="1200" dirty="0">
                <a:effectLst/>
              </a:rPr>
              <a:t>bias + 14 </a:t>
            </a:r>
            <a:r>
              <a:rPr lang="zh-CN" altLang="en-US" sz="1200" b="0" i="0" kern="1200" dirty="0">
                <a:effectLst/>
              </a:rPr>
              <a:t>个特征</a:t>
            </a:r>
            <a:r>
              <a:rPr lang="en-US" altLang="zh-CN" sz="1200" b="0" i="0" kern="1200" dirty="0">
                <a:effectLst/>
              </a:rPr>
              <a:t>),</a:t>
            </a:r>
            <a:r>
              <a:rPr lang="zh-CN" altLang="en-US" sz="1200" b="0" i="0" kern="1200" dirty="0">
                <a:effectLst/>
              </a:rPr>
              <a:t>全部是观察之前就能算出来的廉价信号</a:t>
            </a:r>
            <a:r>
              <a:rPr lang="en-US" altLang="zh-CN" sz="1200" b="0" i="0" kern="1200" dirty="0">
                <a:effectLst/>
              </a:rPr>
              <a:t>:</a:t>
            </a:r>
          </a:p>
          <a:p>
            <a:r>
              <a:rPr lang="zh-CN" altLang="en-US" sz="1200" b="0" i="0" kern="1200" dirty="0">
                <a:effectLst/>
              </a:rPr>
              <a:t>特征                                           值                含义</a:t>
            </a:r>
            <a:endParaRPr lang="en-US" altLang="zh-CN" sz="1200" b="0" i="0" kern="1200" dirty="0">
              <a:effectLst/>
            </a:endParaRPr>
          </a:p>
          <a:p>
            <a:r>
              <a:rPr lang="en-US" altLang="zh-CN" sz="1200" b="0" i="0" kern="1200" dirty="0">
                <a:effectLst/>
              </a:rPr>
              <a:t>Bias</a:t>
            </a:r>
            <a:r>
              <a:rPr lang="zh-CN" altLang="en-US" sz="1200" b="0" i="0" kern="1200" dirty="0">
                <a:effectLst/>
              </a:rPr>
              <a:t>                                            </a:t>
            </a:r>
            <a:r>
              <a:rPr lang="en-US" altLang="zh-CN" sz="1200" b="0" i="0" kern="1200" dirty="0">
                <a:effectLst/>
              </a:rPr>
              <a:t>1</a:t>
            </a:r>
            <a:r>
              <a:rPr lang="zh-CN" altLang="en-US" sz="1200" b="0" i="0" kern="1200" dirty="0">
                <a:effectLst/>
              </a:rPr>
              <a:t>                 截距项</a:t>
            </a:r>
            <a:r>
              <a:rPr lang="en-US" altLang="zh-CN" sz="1200" b="0" i="0" kern="1200" dirty="0">
                <a:effectLst/>
              </a:rPr>
              <a:t>(</a:t>
            </a:r>
            <a:r>
              <a:rPr lang="zh-CN" altLang="en-US" sz="1200" b="0" i="0" kern="1200" dirty="0">
                <a:effectLst/>
              </a:rPr>
              <a:t>恒为</a:t>
            </a:r>
            <a:r>
              <a:rPr lang="en-US" altLang="zh-CN" sz="1200" b="0" i="0" kern="1200" dirty="0">
                <a:effectLst/>
              </a:rPr>
              <a:t>1)</a:t>
            </a:r>
          </a:p>
          <a:p>
            <a:r>
              <a:rPr lang="en-US" altLang="zh-CN" sz="1200" b="0" i="0" kern="1200" dirty="0" err="1">
                <a:effectLst/>
              </a:rPr>
              <a:t>no_plan</a:t>
            </a:r>
            <a:r>
              <a:rPr lang="zh-CN" altLang="en-US" sz="1200" b="0" i="0" kern="1200" dirty="0">
                <a:effectLst/>
              </a:rPr>
              <a:t>                                      </a:t>
            </a:r>
            <a:r>
              <a:rPr lang="en-US" altLang="zh-CN" sz="1200" b="0" i="0" kern="1200" dirty="0">
                <a:effectLst/>
              </a:rPr>
              <a:t>0</a:t>
            </a:r>
            <a:r>
              <a:rPr lang="zh-CN" altLang="en-US" sz="1200" b="0" i="0" kern="1200" dirty="0">
                <a:effectLst/>
              </a:rPr>
              <a:t>                 手里</a:t>
            </a:r>
            <a:r>
              <a:rPr lang="zh-CN" altLang="en-US" sz="1200" b="1" i="0" kern="1200" dirty="0">
                <a:effectLst/>
              </a:rPr>
              <a:t>有</a:t>
            </a:r>
            <a:r>
              <a:rPr lang="zh-CN" altLang="en-US" sz="1200" b="0" i="0" kern="1200" dirty="0">
                <a:effectLst/>
              </a:rPr>
              <a:t>计划</a:t>
            </a:r>
            <a:r>
              <a:rPr lang="en-US" altLang="zh-CN" sz="1200" b="0" i="0" kern="1200" dirty="0">
                <a:effectLst/>
              </a:rPr>
              <a:t>(</a:t>
            </a:r>
            <a:r>
              <a:rPr lang="zh-CN" altLang="en-US" sz="1200" b="0" i="0" kern="1200" dirty="0">
                <a:effectLst/>
              </a:rPr>
              <a:t>不是</a:t>
            </a:r>
            <a:r>
              <a:rPr lang="en-US" altLang="zh-CN" sz="1200" b="0" i="0" kern="1200" dirty="0">
                <a:effectLst/>
              </a:rPr>
              <a:t>0</a:t>
            </a:r>
            <a:r>
              <a:rPr lang="zh-CN" altLang="en-US" sz="1200" b="0" i="0" kern="1200" dirty="0">
                <a:effectLst/>
              </a:rPr>
              <a:t>就表示有</a:t>
            </a:r>
            <a:r>
              <a:rPr lang="en-US" altLang="zh-CN" sz="1200" b="0" i="0" kern="1200" dirty="0">
                <a:effectLst/>
              </a:rPr>
              <a:t>)</a:t>
            </a:r>
          </a:p>
          <a:p>
            <a:r>
              <a:rPr lang="en-US" altLang="zh-CN" sz="1200" b="0" i="0" kern="1200" dirty="0" err="1">
                <a:effectLst/>
              </a:rPr>
              <a:t>screen_changed_last</a:t>
            </a:r>
            <a:r>
              <a:rPr lang="zh-CN" altLang="en-US" sz="1200" b="0" i="0" kern="1200" dirty="0">
                <a:effectLst/>
              </a:rPr>
              <a:t>                  </a:t>
            </a:r>
            <a:r>
              <a:rPr lang="en-US" altLang="zh-CN" sz="1200" b="0" i="0" kern="1200" dirty="0">
                <a:effectLst/>
              </a:rPr>
              <a:t>1</a:t>
            </a:r>
            <a:r>
              <a:rPr lang="zh-CN" altLang="en-US" sz="1200" b="0" i="0" kern="1200" dirty="0">
                <a:effectLst/>
              </a:rPr>
              <a:t>                 上一步之后屏幕</a:t>
            </a:r>
            <a:r>
              <a:rPr lang="zh-CN" altLang="en-US" sz="1200" b="1" i="0" kern="1200" dirty="0">
                <a:effectLst/>
              </a:rPr>
              <a:t>变了</a:t>
            </a:r>
            <a:endParaRPr lang="en-US" altLang="zh-CN" sz="1200" b="1" i="0" kern="1200" dirty="0">
              <a:effectLst/>
            </a:endParaRPr>
          </a:p>
          <a:p>
            <a:r>
              <a:rPr lang="en-US" altLang="zh-CN" sz="1200" b="0" i="0" kern="1200" dirty="0" err="1">
                <a:effectLst/>
              </a:rPr>
              <a:t>candidates_changed_last</a:t>
            </a:r>
            <a:r>
              <a:rPr lang="zh-CN" altLang="en-US" sz="1200" b="0" i="0" kern="1200" dirty="0">
                <a:effectLst/>
              </a:rPr>
              <a:t>           </a:t>
            </a:r>
            <a:r>
              <a:rPr lang="en-US" altLang="zh-CN" sz="1200" b="0" i="0" kern="1200" dirty="0">
                <a:effectLst/>
              </a:rPr>
              <a:t>1</a:t>
            </a:r>
            <a:r>
              <a:rPr lang="zh-CN" altLang="en-US" sz="1200" b="0" i="0" kern="1200" dirty="0">
                <a:effectLst/>
              </a:rPr>
              <a:t>                 可点击控件集合</a:t>
            </a:r>
            <a:r>
              <a:rPr lang="zh-CN" altLang="en-US" sz="1200" b="1" i="0" kern="1200" dirty="0">
                <a:effectLst/>
              </a:rPr>
              <a:t>变了</a:t>
            </a:r>
            <a:endParaRPr lang="en-US" altLang="zh-CN" sz="1200" b="1" i="0" kern="1200" dirty="0">
              <a:effectLst/>
            </a:endParaRPr>
          </a:p>
          <a:p>
            <a:r>
              <a:rPr lang="en-US" altLang="zh-CN" sz="1200" b="0" i="0" kern="1200" dirty="0" err="1">
                <a:effectLst/>
              </a:rPr>
              <a:t>steps_since_observe</a:t>
            </a:r>
            <a:r>
              <a:rPr lang="zh-CN" altLang="en-US" sz="1200" b="0" i="0" kern="1200" dirty="0">
                <a:effectLst/>
              </a:rPr>
              <a:t>                   </a:t>
            </a:r>
            <a:r>
              <a:rPr lang="en-US" altLang="zh-CN" sz="1200" b="0" i="0" kern="1200" dirty="0">
                <a:effectLst/>
              </a:rPr>
              <a:t>0.1</a:t>
            </a:r>
            <a:r>
              <a:rPr lang="zh-CN" altLang="en-US" sz="1200" b="0" i="0" kern="1200" dirty="0">
                <a:effectLst/>
              </a:rPr>
              <a:t>              距上次观察走了 </a:t>
            </a:r>
            <a:r>
              <a:rPr lang="en-US" altLang="zh-CN" sz="1200" b="0" i="0" kern="1200" dirty="0">
                <a:effectLst/>
              </a:rPr>
              <a:t>1 </a:t>
            </a:r>
            <a:r>
              <a:rPr lang="zh-CN" altLang="en-US" sz="1200" b="0" i="0" kern="1200" dirty="0">
                <a:effectLst/>
              </a:rPr>
              <a:t>步</a:t>
            </a:r>
            <a:r>
              <a:rPr lang="en-US" altLang="zh-CN" sz="1200" b="0" i="0" kern="1200" dirty="0">
                <a:effectLst/>
              </a:rPr>
              <a:t>(</a:t>
            </a:r>
            <a:r>
              <a:rPr lang="zh-CN" altLang="en-US" sz="1200" b="0" i="0" kern="1200" dirty="0">
                <a:effectLst/>
              </a:rPr>
              <a:t>归一化 </a:t>
            </a:r>
            <a:r>
              <a:rPr lang="en-US" altLang="zh-CN" sz="1200" b="0" i="0" kern="1200" dirty="0">
                <a:effectLst/>
              </a:rPr>
              <a:t>1/10)</a:t>
            </a:r>
          </a:p>
          <a:p>
            <a:r>
              <a:rPr lang="en-US" altLang="zh-CN" sz="1200" b="0" i="0" kern="1200" dirty="0" err="1">
                <a:effectLst/>
              </a:rPr>
              <a:t>remaining_plan_len</a:t>
            </a:r>
            <a:r>
              <a:rPr lang="zh-CN" altLang="en-US" sz="1200" b="0" i="0" kern="1200" dirty="0">
                <a:effectLst/>
              </a:rPr>
              <a:t>                    </a:t>
            </a:r>
            <a:r>
              <a:rPr lang="en-US" altLang="zh-CN" sz="1200" b="0" i="0" kern="1200" dirty="0">
                <a:effectLst/>
              </a:rPr>
              <a:t>0.25</a:t>
            </a:r>
            <a:r>
              <a:rPr lang="zh-CN" altLang="en-US" sz="1200" b="0" i="0" kern="1200" dirty="0">
                <a:effectLst/>
              </a:rPr>
              <a:t>            计划还剩 </a:t>
            </a:r>
            <a:r>
              <a:rPr lang="en-US" altLang="zh-CN" sz="1200" b="0" i="0" kern="1200" dirty="0">
                <a:effectLst/>
              </a:rPr>
              <a:t>2 </a:t>
            </a:r>
            <a:r>
              <a:rPr lang="zh-CN" altLang="en-US" sz="1200" b="0" i="0" kern="1200" dirty="0">
                <a:effectLst/>
              </a:rPr>
              <a:t>步</a:t>
            </a:r>
            <a:r>
              <a:rPr lang="en-US" altLang="zh-CN" sz="1200" b="0" i="0" kern="1200" dirty="0">
                <a:effectLst/>
              </a:rPr>
              <a:t>(</a:t>
            </a:r>
            <a:r>
              <a:rPr lang="zh-CN" altLang="en-US" sz="1200" b="0" i="0" kern="1200" dirty="0">
                <a:effectLst/>
              </a:rPr>
              <a:t>归一化 </a:t>
            </a:r>
            <a:r>
              <a:rPr lang="en-US" altLang="zh-CN" sz="1200" b="0" i="0" kern="1200" dirty="0">
                <a:effectLst/>
              </a:rPr>
              <a:t>2/8)</a:t>
            </a:r>
          </a:p>
          <a:p>
            <a:r>
              <a:rPr lang="en-US" altLang="zh-CN" sz="1200" b="0" i="0" kern="1200" dirty="0" err="1">
                <a:effectLst/>
              </a:rPr>
              <a:t>next_is_click</a:t>
            </a:r>
            <a:r>
              <a:rPr lang="zh-CN" altLang="en-US" sz="1200" b="0" i="0" kern="1200" dirty="0">
                <a:effectLst/>
              </a:rPr>
              <a:t>                                </a:t>
            </a:r>
            <a:r>
              <a:rPr lang="en-US" altLang="zh-CN" sz="1200" b="0" i="0" kern="1200" dirty="0">
                <a:effectLst/>
              </a:rPr>
              <a:t>0</a:t>
            </a:r>
            <a:r>
              <a:rPr lang="zh-CN" altLang="en-US" sz="1200" b="0" i="0" kern="1200" dirty="0">
                <a:effectLst/>
              </a:rPr>
              <a:t>                </a:t>
            </a:r>
            <a:r>
              <a:rPr lang="en-US" altLang="zh-CN" sz="1200" b="0" i="0" kern="1200" dirty="0">
                <a:effectLst/>
              </a:rPr>
              <a:t>┐</a:t>
            </a:r>
          </a:p>
          <a:p>
            <a:r>
              <a:rPr lang="en-US" altLang="zh-CN" sz="1200" b="0" i="0" kern="1200" dirty="0" err="1">
                <a:effectLst/>
              </a:rPr>
              <a:t>next_is_fill</a:t>
            </a:r>
            <a:r>
              <a:rPr lang="zh-CN" altLang="en-US" sz="1200" b="0" i="0" kern="1200" dirty="0">
                <a:effectLst/>
              </a:rPr>
              <a:t>                                   </a:t>
            </a:r>
            <a:r>
              <a:rPr lang="en-US" altLang="zh-CN" sz="1200" b="1" i="0" kern="1200" dirty="0">
                <a:effectLst/>
              </a:rPr>
              <a:t>1</a:t>
            </a:r>
            <a:r>
              <a:rPr lang="zh-CN" altLang="en-US" sz="1200" b="1" i="0" kern="1200" dirty="0">
                <a:effectLst/>
              </a:rPr>
              <a:t>                </a:t>
            </a:r>
            <a:r>
              <a:rPr lang="en-US" altLang="zh-CN" sz="1200" b="0" i="0" kern="1200" dirty="0">
                <a:effectLst/>
              </a:rPr>
              <a:t>│ </a:t>
            </a:r>
            <a:r>
              <a:rPr lang="zh-CN" altLang="en-US" sz="1200" b="1" i="0" kern="1200" dirty="0">
                <a:effectLst/>
              </a:rPr>
              <a:t>下一个动作类型 </a:t>
            </a:r>
            <a:r>
              <a:rPr lang="en-US" altLang="zh-CN" sz="1200" b="1" i="0" kern="1200" dirty="0">
                <a:effectLst/>
              </a:rPr>
              <a:t>= fill(</a:t>
            </a:r>
            <a:r>
              <a:rPr lang="zh-CN" altLang="en-US" sz="1200" b="1" i="0" kern="1200" dirty="0">
                <a:effectLst/>
              </a:rPr>
              <a:t>填写</a:t>
            </a:r>
            <a:r>
              <a:rPr lang="en-US" altLang="zh-CN" sz="1200" b="1" i="0" kern="1200" dirty="0">
                <a:effectLst/>
              </a:rPr>
              <a:t>)</a:t>
            </a:r>
          </a:p>
          <a:p>
            <a:r>
              <a:rPr lang="en-US" altLang="zh-CN" sz="1200" b="0" i="0" kern="1200" dirty="0" err="1">
                <a:effectLst/>
              </a:rPr>
              <a:t>next_is_check</a:t>
            </a:r>
            <a:r>
              <a:rPr lang="zh-CN" altLang="en-US" sz="1200" b="0" i="0" kern="1200" dirty="0">
                <a:effectLst/>
              </a:rPr>
              <a:t>                              </a:t>
            </a:r>
            <a:r>
              <a:rPr lang="en-US" altLang="zh-CN" sz="1200" b="0" i="0" kern="1200" dirty="0">
                <a:effectLst/>
              </a:rPr>
              <a:t>0</a:t>
            </a:r>
            <a:r>
              <a:rPr lang="zh-CN" altLang="en-US" sz="1200" b="0" i="0" kern="1200" dirty="0">
                <a:effectLst/>
              </a:rPr>
              <a:t>                </a:t>
            </a:r>
            <a:r>
              <a:rPr lang="en-US" altLang="zh-CN" sz="1200" b="0" i="0" kern="1200" dirty="0">
                <a:effectLst/>
              </a:rPr>
              <a:t>│ ←</a:t>
            </a:r>
            <a:r>
              <a:rPr lang="zh-CN" altLang="en-US" sz="1200" b="0" i="0" kern="1200" dirty="0">
                <a:effectLst/>
              </a:rPr>
              <a:t>这 </a:t>
            </a:r>
            <a:r>
              <a:rPr lang="en-US" altLang="zh-CN" sz="1200" b="0" i="0" kern="1200" dirty="0">
                <a:effectLst/>
              </a:rPr>
              <a:t>4 </a:t>
            </a:r>
            <a:r>
              <a:rPr lang="zh-CN" altLang="en-US" sz="1200" b="0" i="0" kern="1200" dirty="0">
                <a:effectLst/>
              </a:rPr>
              <a:t>个就是 </a:t>
            </a:r>
            <a:r>
              <a:rPr lang="en-US" altLang="zh-CN" sz="1200" b="0" i="0" kern="1200" dirty="0">
                <a:effectLst/>
              </a:rPr>
              <a:t>PPT </a:t>
            </a:r>
            <a:r>
              <a:rPr lang="zh-CN" altLang="en-US" sz="1200" b="0" i="0" kern="1200" dirty="0">
                <a:effectLst/>
              </a:rPr>
              <a:t>里折叠的 </a:t>
            </a:r>
            <a:endParaRPr lang="en-US" altLang="zh-CN" sz="1200" b="0" i="0" kern="1200" dirty="0">
              <a:effectLst/>
            </a:endParaRPr>
          </a:p>
          <a:p>
            <a:r>
              <a:rPr lang="en-US" altLang="zh-CN" sz="1200" b="0" i="0" kern="1200" dirty="0" err="1">
                <a:effectLst/>
              </a:rPr>
              <a:t>next_action_typenext_is_select</a:t>
            </a:r>
            <a:r>
              <a:rPr lang="zh-CN" altLang="en-US" sz="1200" b="0" i="0" kern="1200" dirty="0">
                <a:effectLst/>
              </a:rPr>
              <a:t>   </a:t>
            </a:r>
            <a:r>
              <a:rPr lang="en-US" altLang="zh-CN" sz="1200" b="0" i="0" kern="1200" dirty="0">
                <a:effectLst/>
              </a:rPr>
              <a:t>0</a:t>
            </a:r>
            <a:r>
              <a:rPr lang="zh-CN" altLang="en-US" sz="1200" b="0" i="0" kern="1200" dirty="0">
                <a:effectLst/>
              </a:rPr>
              <a:t>                </a:t>
            </a:r>
            <a:r>
              <a:rPr lang="en-US" altLang="zh-CN" sz="1200" b="0" i="0" kern="1200" dirty="0">
                <a:effectLst/>
              </a:rPr>
              <a:t>┘</a:t>
            </a:r>
          </a:p>
          <a:p>
            <a:r>
              <a:rPr lang="en-US" altLang="zh-CN" sz="1200" b="0" i="0" kern="1200" dirty="0" err="1">
                <a:effectLst/>
              </a:rPr>
              <a:t>next_risk_state_changing</a:t>
            </a:r>
            <a:r>
              <a:rPr lang="zh-CN" altLang="en-US" sz="1200" b="0" i="0" kern="1200" dirty="0">
                <a:effectLst/>
              </a:rPr>
              <a:t>            </a:t>
            </a:r>
            <a:r>
              <a:rPr lang="en-US" altLang="zh-CN" sz="1200" b="0" i="0" kern="1200" dirty="0">
                <a:effectLst/>
              </a:rPr>
              <a:t>0</a:t>
            </a:r>
            <a:r>
              <a:rPr lang="zh-CN" altLang="en-US" sz="1200" b="0" i="0" kern="1200" dirty="0">
                <a:effectLst/>
              </a:rPr>
              <a:t>                </a:t>
            </a:r>
            <a:r>
              <a:rPr lang="en-US" altLang="zh-CN" sz="1200" b="0" i="0" kern="1200" dirty="0">
                <a:effectLst/>
              </a:rPr>
              <a:t>┐</a:t>
            </a:r>
          </a:p>
          <a:p>
            <a:r>
              <a:rPr lang="en-US" altLang="zh-CN" sz="1200" b="0" i="0" kern="1200" dirty="0" err="1">
                <a:effectLst/>
              </a:rPr>
              <a:t>next_risk_external</a:t>
            </a:r>
            <a:r>
              <a:rPr lang="zh-CN" altLang="en-US" sz="1200" b="0" i="0" kern="1200" dirty="0">
                <a:effectLst/>
              </a:rPr>
              <a:t>                        </a:t>
            </a:r>
            <a:r>
              <a:rPr lang="en-US" altLang="zh-CN" sz="1200" b="0" i="0" kern="1200" dirty="0">
                <a:effectLst/>
              </a:rPr>
              <a:t>0</a:t>
            </a:r>
            <a:r>
              <a:rPr lang="zh-CN" altLang="en-US" sz="1200" b="0" i="0" kern="1200" dirty="0">
                <a:effectLst/>
              </a:rPr>
              <a:t>                </a:t>
            </a:r>
            <a:r>
              <a:rPr lang="en-US" altLang="zh-CN" sz="1200" b="0" i="0" kern="1200" dirty="0">
                <a:effectLst/>
              </a:rPr>
              <a:t>│ </a:t>
            </a:r>
            <a:r>
              <a:rPr lang="zh-CN" altLang="en-US" sz="1200" b="1" i="0" kern="1200" dirty="0">
                <a:effectLst/>
              </a:rPr>
              <a:t>下一动作风险 </a:t>
            </a:r>
            <a:r>
              <a:rPr lang="en-US" altLang="zh-CN" sz="1200" b="1" i="0" kern="1200" dirty="0">
                <a:effectLst/>
              </a:rPr>
              <a:t>= safe(</a:t>
            </a:r>
            <a:r>
              <a:rPr lang="zh-CN" altLang="en-US" sz="1200" b="1" i="0" kern="1200" dirty="0">
                <a:effectLst/>
              </a:rPr>
              <a:t>三个都</a:t>
            </a:r>
            <a:r>
              <a:rPr lang="en-US" altLang="zh-CN" sz="1200" b="1" i="0" kern="1200" dirty="0">
                <a:effectLst/>
              </a:rPr>
              <a:t>0)</a:t>
            </a:r>
          </a:p>
          <a:p>
            <a:r>
              <a:rPr lang="en-US" altLang="zh-CN" sz="1200" b="0" i="0" kern="1200" dirty="0" err="1">
                <a:effectLst/>
              </a:rPr>
              <a:t>next_risk_irreversible</a:t>
            </a:r>
            <a:r>
              <a:rPr lang="zh-CN" altLang="en-US" sz="1200" b="0" i="0" kern="1200" dirty="0">
                <a:effectLst/>
              </a:rPr>
              <a:t>                   </a:t>
            </a:r>
            <a:r>
              <a:rPr lang="en-US" altLang="zh-CN" sz="1200" b="0" i="0" kern="1200" dirty="0">
                <a:effectLst/>
              </a:rPr>
              <a:t>0</a:t>
            </a:r>
            <a:r>
              <a:rPr lang="zh-CN" altLang="en-US" sz="1200" b="0" i="0" kern="1200" dirty="0">
                <a:effectLst/>
              </a:rPr>
              <a:t>                </a:t>
            </a:r>
            <a:r>
              <a:rPr lang="en-US" altLang="zh-CN" sz="1200" b="0" i="0" kern="1200" dirty="0">
                <a:effectLst/>
              </a:rPr>
              <a:t>┘ ←</a:t>
            </a:r>
            <a:r>
              <a:rPr lang="zh-CN" altLang="en-US" sz="1200" b="0" i="0" kern="1200" dirty="0">
                <a:effectLst/>
              </a:rPr>
              <a:t>这 </a:t>
            </a:r>
            <a:r>
              <a:rPr lang="en-US" altLang="zh-CN" sz="1200" b="0" i="0" kern="1200" dirty="0">
                <a:effectLst/>
              </a:rPr>
              <a:t>3 </a:t>
            </a:r>
            <a:r>
              <a:rPr lang="zh-CN" altLang="en-US" sz="1200" b="0" i="0" kern="1200" dirty="0">
                <a:effectLst/>
              </a:rPr>
              <a:t>个就是 </a:t>
            </a:r>
            <a:r>
              <a:rPr lang="en-US" altLang="zh-CN" sz="1200" b="0" i="0" kern="1200" dirty="0">
                <a:effectLst/>
              </a:rPr>
              <a:t>PPT </a:t>
            </a:r>
            <a:r>
              <a:rPr lang="zh-CN" altLang="en-US" sz="1200" b="0" i="0" kern="1200" dirty="0">
                <a:effectLst/>
              </a:rPr>
              <a:t>里折叠的 </a:t>
            </a:r>
            <a:endParaRPr lang="en-US" altLang="zh-CN" sz="1200" b="0" i="0" kern="1200" dirty="0">
              <a:effectLst/>
            </a:endParaRPr>
          </a:p>
          <a:p>
            <a:r>
              <a:rPr lang="en-US" altLang="zh-CN" sz="1200" b="0" i="0" kern="1200" dirty="0">
                <a:effectLst/>
              </a:rPr>
              <a:t>risk </a:t>
            </a:r>
            <a:r>
              <a:rPr lang="en-US" altLang="zh-CN" sz="1200" b="0" i="0" kern="1200" dirty="0" err="1">
                <a:effectLst/>
              </a:rPr>
              <a:t>flagsverbalized_confidence</a:t>
            </a:r>
            <a:r>
              <a:rPr lang="zh-CN" altLang="en-US" sz="1200" b="0" i="0" kern="1200" dirty="0">
                <a:effectLst/>
              </a:rPr>
              <a:t>   </a:t>
            </a:r>
            <a:r>
              <a:rPr lang="en-US" altLang="zh-CN" sz="1200" b="0" i="0" kern="1200" dirty="0">
                <a:effectLst/>
              </a:rPr>
              <a:t>1</a:t>
            </a:r>
            <a:r>
              <a:rPr lang="zh-CN" altLang="en-US" sz="1200" b="0" i="0" kern="1200" dirty="0">
                <a:effectLst/>
              </a:rPr>
              <a:t>              模型自报</a:t>
            </a:r>
            <a:r>
              <a:rPr lang="en-US" altLang="zh-CN" sz="1200" b="0" i="0" kern="1200" dirty="0">
                <a:effectLst/>
              </a:rPr>
              <a:t>"</a:t>
            </a:r>
            <a:r>
              <a:rPr lang="zh-CN" altLang="en-US" sz="1200" b="0" i="0" kern="1200" dirty="0">
                <a:effectLst/>
              </a:rPr>
              <a:t>我有 </a:t>
            </a:r>
            <a:r>
              <a:rPr lang="en-US" altLang="zh-CN" sz="1200" b="0" i="0" kern="1200" dirty="0">
                <a:effectLst/>
              </a:rPr>
              <a:t>100% </a:t>
            </a:r>
            <a:r>
              <a:rPr lang="zh-CN" altLang="en-US" sz="1200" b="0" i="0" kern="1200" dirty="0">
                <a:effectLst/>
              </a:rPr>
              <a:t>把握</a:t>
            </a:r>
            <a:r>
              <a:rPr lang="en-US" altLang="zh-CN" sz="1200" b="0" i="0" kern="1200" dirty="0">
                <a:effectLst/>
              </a:rPr>
              <a:t>”</a:t>
            </a:r>
          </a:p>
          <a:p>
            <a:r>
              <a:rPr lang="en-US" altLang="zh-CN" sz="1200" b="0" i="0" kern="1200" dirty="0" err="1">
                <a:effectLst/>
              </a:rPr>
              <a:t>verbalized_needs_observation</a:t>
            </a:r>
            <a:r>
              <a:rPr lang="zh-CN" altLang="en-US" sz="1200" b="0" i="0" kern="1200" dirty="0">
                <a:effectLst/>
              </a:rPr>
              <a:t>     </a:t>
            </a:r>
            <a:r>
              <a:rPr lang="en-US" altLang="zh-CN" sz="1200" b="0" i="0" kern="1200" dirty="0">
                <a:effectLst/>
              </a:rPr>
              <a:t>1</a:t>
            </a:r>
            <a:r>
              <a:rPr lang="zh-CN" altLang="en-US" sz="1200" b="0" i="0" kern="1200">
                <a:effectLst/>
              </a:rPr>
              <a:t>             但</a:t>
            </a:r>
            <a:r>
              <a:rPr lang="zh-CN" altLang="en-US" sz="1200" b="0" i="0" kern="1200" dirty="0">
                <a:effectLst/>
              </a:rPr>
              <a:t>模型自己也说</a:t>
            </a:r>
            <a:r>
              <a:rPr lang="en-US" altLang="zh-CN" sz="1200" b="0" i="0" kern="1200" dirty="0">
                <a:effectLst/>
              </a:rPr>
              <a:t>"</a:t>
            </a:r>
            <a:r>
              <a:rPr lang="zh-CN" altLang="en-US" sz="1200" b="0" i="0" kern="1200" dirty="0">
                <a:effectLst/>
              </a:rPr>
              <a:t>我想再看一眼</a:t>
            </a:r>
            <a:r>
              <a:rPr lang="en-US" altLang="zh-CN" sz="1200" b="0" i="0" kern="1200" dirty="0">
                <a:effectLst/>
              </a:rPr>
              <a:t>"</a:t>
            </a:r>
          </a:p>
          <a:p>
            <a:r>
              <a:rPr lang="zh-CN" altLang="en-US" sz="1200" b="1" i="0" kern="1200" dirty="0">
                <a:effectLst/>
              </a:rPr>
              <a:t>门控输出</a:t>
            </a:r>
            <a:r>
              <a:rPr lang="en-US" altLang="zh-CN" sz="1200" b="0" i="0" kern="1200" dirty="0">
                <a:effectLst/>
              </a:rPr>
              <a:t>:</a:t>
            </a:r>
            <a:r>
              <a:rPr lang="zh-CN" altLang="en-US" sz="1200" b="0" i="0" kern="1200" dirty="0">
                <a:effectLst/>
              </a:rPr>
              <a:t>把这 </a:t>
            </a:r>
            <a:r>
              <a:rPr lang="en-US" altLang="zh-CN" sz="1200" b="0" i="0" kern="1200" dirty="0">
                <a:effectLst/>
              </a:rPr>
              <a:t>15 </a:t>
            </a:r>
            <a:r>
              <a:rPr lang="zh-CN" altLang="en-US" sz="1200" b="0" i="0" kern="1200" dirty="0">
                <a:effectLst/>
              </a:rPr>
              <a:t>个数和学到的权重做加权求和→</a:t>
            </a:r>
            <a:r>
              <a:rPr lang="en-US" altLang="zh-CN" sz="1200" b="0" i="0" kern="1200" dirty="0">
                <a:effectLst/>
              </a:rPr>
              <a:t>sigmoid→</a:t>
            </a:r>
            <a:r>
              <a:rPr lang="zh-CN" altLang="en-US" sz="1200" b="0" i="0" kern="1200" dirty="0">
                <a:effectLst/>
              </a:rPr>
              <a:t>得到一个</a:t>
            </a:r>
            <a:r>
              <a:rPr lang="en-US" altLang="zh-CN" sz="1200" b="0" i="0" kern="1200" dirty="0">
                <a:effectLst/>
              </a:rPr>
              <a:t>"</a:t>
            </a:r>
            <a:r>
              <a:rPr lang="zh-CN" altLang="en-US" sz="1200" b="0" i="0" kern="1200" dirty="0">
                <a:effectLst/>
              </a:rPr>
              <a:t>该观察的概率</a:t>
            </a:r>
            <a:r>
              <a:rPr lang="en-US" altLang="zh-CN" sz="1200" b="0" i="0" kern="1200" dirty="0">
                <a:effectLst/>
              </a:rPr>
              <a:t>",≥</a:t>
            </a:r>
            <a:r>
              <a:rPr lang="zh-CN" altLang="en-US" sz="1200" b="0" i="0" kern="1200" dirty="0">
                <a:effectLst/>
              </a:rPr>
              <a:t>阈值就观察。</a:t>
            </a:r>
          </a:p>
          <a:p>
            <a:endParaRPr sz="1100" dirty="0">
              <a:solidFill>
                <a:srgbClr val="94A3B8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[~55s] This breaks down where the call savings come from. On static_baseline, the gate saves 0.60 calls versus always. On async_results, 0.50 calls. The gate skips intermediate observations on stable, predictable sequences. But on value_drift and delayed_options — the adversarial families — both handrule and the learned gate use about the same number of calls as always. The safety floor is doing the work: both policies correctly observe before critical checkpoint actions. The efficiency gains come entirely from easy cases, not from gambling on hard ones. Safety is preserved exactly where it matters.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这展示了调用节省来自哪里。在 static_baseline 上，门控相对于 always 节省了 0.60 次调用。在 async_results 上，节省了 0.50 次调用。门控在稳定、可预测序列的中间步骤上跳过观察。但在 value_drift 和 delayed_options——对抗性系列——handrule 和学习门控使用的调用次数与 always 大致相同。安全底线在起作用：两种策略都在关键检查点操作前正确地观察了。效率提升完全来自简单情况，而不是在困难情况下冒险。安全性恰好在重要的地方得到了保护。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[~50s] The hand rule observes when the screen or candidate set changes, and before risky actions. This works for async_results, where status text and candidates both update visibly. But it fails on the two adversarial families. In value_drift, the page structure stays the same so the change detector sees nothing — the agent sends to a placeholder email. In delayed_options, candidates appear late and the hand rule's timing is off. The learned gate, by contrast, uses plan age and confidence signals that correlate with these silent failures. This is why a learned approach is fundamentally different from a change detector.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手工规则在屏幕或候选集变化时观察，以及在高风险操作前观察。这对 async_results 有效，其中状态文本和候选集都明显更新。但它在两个对抗性系列上失败了。在 value_drift 中，页面结构保持不变，所以变化检测器什么都看不到——agent 发送到占位符邮件。在 delayed_options 中，候选项出现较晚，手工规则的时机不对。相比之下，学习门控使用与这些静默失败相关的计划年龄和置信度信号。这就是为什么学习方法与变化检测器在本质上不同。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[~35s] Here are four representative tasks from the suite. Silent recipient drift is the canonical adversarial case — the recipient field starts as Resolving and silently resolves to a real address; coasting would send to the wrong recipient. The other three show the range of the suite: async contacts search, a delayed dropdown, and a stable form fill where coasting is safe. Videos are in results/videos in the repo if you want to look at specific failure modes afterward.</a:t>
            </a:r>
          </a:p>
          <a:p>
            <a:r>
              <a:rPr sz="1100">
                <a:solidFill>
                  <a:srgbClr val="94A3B8"/>
                </a:solidFill>
              </a:rPr>
              <a:t>
【中文参考翻译】
这里是套件中四个代表性任务。静默收件人漂移是典型的对抗性情况——收件人字段以 Resolving 状态开始，然后悄悄解析为真实地址；coasting 会发送到错误的收件人。其他三个展示了套件的范围：异步联系人搜索、延迟下拉列表和稳定的表单填写（此时 coasting 是安全的）。如果您想之后查看特定的失败模式，视频在仓库的 results/videos 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/>
              <a:t>[~45s] I want to be upfront about the limitations. First, 15 tasks is still small — no multi-seed sweep yet, and external validity remains </a:t>
            </a:r>
            <a:r>
              <a:rPr sz="1200"/>
              <a:t>future work. </a:t>
            </a:r>
            <a:r>
              <a:rPr sz="1200" dirty="0"/>
              <a:t>Second, we label at episode level; a step-level safety metric would be more granular. Third, the verbalized confidence signal is bimodal in practice — it either fires or it does not — which limits how much the threshold sweep can tune the gate. Despite this, the local suite serves a real diagnostic purpose: it shows exactly which task families the gate handles before we scale to an expensive external benchmark.</a:t>
            </a:r>
          </a:p>
          <a:p>
            <a:r>
              <a:rPr sz="1100" dirty="0">
                <a:solidFill>
                  <a:srgbClr val="94A3B8"/>
                </a:solidFill>
              </a:rPr>
              <a:t>
【</a:t>
            </a:r>
            <a:r>
              <a:rPr sz="1100" dirty="0" err="1">
                <a:solidFill>
                  <a:srgbClr val="94A3B8"/>
                </a:solidFill>
              </a:rPr>
              <a:t>中文参考翻译</a:t>
            </a:r>
            <a:r>
              <a:rPr sz="1100" dirty="0">
                <a:solidFill>
                  <a:srgbClr val="94A3B8"/>
                </a:solidFill>
              </a:rPr>
              <a:t>】
我想坦诚地说明局限性。首先，15 </a:t>
            </a:r>
            <a:r>
              <a:rPr sz="1100" dirty="0" err="1">
                <a:solidFill>
                  <a:srgbClr val="94A3B8"/>
                </a:solidFill>
              </a:rPr>
              <a:t>个任务仍然很少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还没有进行多种子扫描，外部有效性仍然是未来的工作。其次，我们在</a:t>
            </a:r>
            <a:r>
              <a:rPr sz="1100" dirty="0">
                <a:solidFill>
                  <a:srgbClr val="94A3B8"/>
                </a:solidFill>
              </a:rPr>
              <a:t> episode </a:t>
            </a:r>
            <a:r>
              <a:rPr sz="1100" dirty="0" err="1">
                <a:solidFill>
                  <a:srgbClr val="94A3B8"/>
                </a:solidFill>
              </a:rPr>
              <a:t>层面进行标注；步骤级别的安全指标会更细粒度。第三，来自语言化模型输出的置信度信号在实践中是双峰分布的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它要么触发要么不触发</a:t>
            </a:r>
            <a:r>
              <a:rPr sz="1100" dirty="0">
                <a:solidFill>
                  <a:srgbClr val="94A3B8"/>
                </a:solidFill>
              </a:rPr>
              <a:t>——这限制了阈值扫描能够调整门控的程度。尽管如此，本地套件有其真正的诊断价值：在我们扩展到昂贵的外部基准测试之前，它准确地展示了门控能处理哪些任务系列。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 dirty="0"/>
              <a:t>[~40s] Three things to take away. First, observation scheduling is learnable — a simple logistic gate trained on cheap features can decide when another DOM read is worth paying for. Second, learned beats </a:t>
            </a:r>
            <a:r>
              <a:rPr sz="1200" dirty="0" err="1"/>
              <a:t>handrule</a:t>
            </a:r>
            <a:r>
              <a:rPr sz="1200" dirty="0"/>
              <a:t> on the success-cost frontier — our gate at threshold 0.2 hits 100% success with 41% fewer calls than always, and 33% fewer than </a:t>
            </a:r>
            <a:r>
              <a:rPr sz="1200" dirty="0" err="1"/>
              <a:t>handrule</a:t>
            </a:r>
            <a:r>
              <a:rPr sz="1200" dirty="0"/>
              <a:t>, at zero unsafe rate. Third, the hard safety floor is essential — observation before irreversible actions is non-negotiable, and the gate only optimizes above that floor. </a:t>
            </a:r>
            <a:r>
              <a:rPr sz="1100" dirty="0">
                <a:solidFill>
                  <a:srgbClr val="94A3B8"/>
                </a:solidFill>
              </a:rPr>
              <a:t>
【</a:t>
            </a:r>
            <a:r>
              <a:rPr sz="1100" dirty="0" err="1">
                <a:solidFill>
                  <a:srgbClr val="94A3B8"/>
                </a:solidFill>
              </a:rPr>
              <a:t>中文参考翻译</a:t>
            </a:r>
            <a:r>
              <a:rPr sz="1100" dirty="0">
                <a:solidFill>
                  <a:srgbClr val="94A3B8"/>
                </a:solidFill>
              </a:rPr>
              <a:t>】
</a:t>
            </a:r>
            <a:r>
              <a:rPr sz="1100" dirty="0" err="1">
                <a:solidFill>
                  <a:srgbClr val="94A3B8"/>
                </a:solidFill>
              </a:rPr>
              <a:t>三点总结。第一，观察调度是可学习的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一个在廉价特征上训练的简单逻辑门控可以决定什么时候另一次</a:t>
            </a:r>
            <a:r>
              <a:rPr sz="1100" dirty="0">
                <a:solidFill>
                  <a:srgbClr val="94A3B8"/>
                </a:solidFill>
              </a:rPr>
              <a:t> DOM </a:t>
            </a:r>
            <a:r>
              <a:rPr sz="1100" dirty="0" err="1">
                <a:solidFill>
                  <a:srgbClr val="94A3B8"/>
                </a:solidFill>
              </a:rPr>
              <a:t>读取值得付出代价。第二，学习方法在成功-成本前沿上优于手工规则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我们在阈值</a:t>
            </a:r>
            <a:r>
              <a:rPr sz="1100" dirty="0">
                <a:solidFill>
                  <a:srgbClr val="94A3B8"/>
                </a:solidFill>
              </a:rPr>
              <a:t> 0.2 </a:t>
            </a:r>
            <a:r>
              <a:rPr sz="1100" dirty="0" err="1">
                <a:solidFill>
                  <a:srgbClr val="94A3B8"/>
                </a:solidFill>
              </a:rPr>
              <a:t>的门控实现了</a:t>
            </a:r>
            <a:r>
              <a:rPr sz="1100" dirty="0">
                <a:solidFill>
                  <a:srgbClr val="94A3B8"/>
                </a:solidFill>
              </a:rPr>
              <a:t> 100% </a:t>
            </a:r>
            <a:r>
              <a:rPr sz="1100" dirty="0" err="1">
                <a:solidFill>
                  <a:srgbClr val="94A3B8"/>
                </a:solidFill>
              </a:rPr>
              <a:t>成功率，比</a:t>
            </a:r>
            <a:r>
              <a:rPr sz="1100" dirty="0">
                <a:solidFill>
                  <a:srgbClr val="94A3B8"/>
                </a:solidFill>
              </a:rPr>
              <a:t> always-observe </a:t>
            </a:r>
            <a:r>
              <a:rPr sz="1100" dirty="0" err="1">
                <a:solidFill>
                  <a:srgbClr val="94A3B8"/>
                </a:solidFill>
              </a:rPr>
              <a:t>减少了</a:t>
            </a:r>
            <a:r>
              <a:rPr sz="1100" dirty="0">
                <a:solidFill>
                  <a:srgbClr val="94A3B8"/>
                </a:solidFill>
              </a:rPr>
              <a:t> 41% </a:t>
            </a:r>
            <a:r>
              <a:rPr sz="1100" dirty="0" err="1">
                <a:solidFill>
                  <a:srgbClr val="94A3B8"/>
                </a:solidFill>
              </a:rPr>
              <a:t>的调用次数，比手工规则减少了</a:t>
            </a:r>
            <a:r>
              <a:rPr sz="1100" dirty="0">
                <a:solidFill>
                  <a:srgbClr val="94A3B8"/>
                </a:solidFill>
              </a:rPr>
              <a:t> 33%，</a:t>
            </a:r>
            <a:r>
              <a:rPr sz="1100" dirty="0" err="1">
                <a:solidFill>
                  <a:srgbClr val="94A3B8"/>
                </a:solidFill>
              </a:rPr>
              <a:t>零不安全率。第三，硬安全底线至关重要</a:t>
            </a:r>
            <a:r>
              <a:rPr sz="1100" dirty="0">
                <a:solidFill>
                  <a:srgbClr val="94A3B8"/>
                </a:solidFill>
              </a:rPr>
              <a:t>——</a:t>
            </a:r>
            <a:r>
              <a:rPr sz="1100" dirty="0" err="1">
                <a:solidFill>
                  <a:srgbClr val="94A3B8"/>
                </a:solidFill>
              </a:rPr>
              <a:t>不可逆操作前的观察是不可商量的，门控只在该底线以上进行优化</a:t>
            </a:r>
            <a:r>
              <a:rPr sz="1100" dirty="0">
                <a:solidFill>
                  <a:srgbClr val="94A3B8"/>
                </a:solidFill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.png"/><Relationship Id="rId5" Type="http://schemas.microsoft.com/office/2007/relationships/media" Target="../media/media3.mp4"/><Relationship Id="rId10" Type="http://schemas.openxmlformats.org/officeDocument/2006/relationships/notesSlide" Target="../notesSlides/notesSlide10.xml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3B91F-6968-4C4A-A6E0-AA9900DC3344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4786BA-2005-4F20-ADBD-1638026BEBE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Selective Observation for Browser Agents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F8E4A-B06D-48AB-87C9-D3B334E57ACF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01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1E9D8-A3E0-4BFE-8579-1F0DF44A502A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FE42A-310D-4FD1-AE29-F9938E2213BE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0427E6-FF2B-4DED-AF17-8441BFBF98D8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895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8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Learn when to re-observe the DOM - and when a browser agent can safely coast on its plan.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9F42CB-F7F7-418F-A3DF-8F179DE9CDB3}"/>
              </a:ext>
            </a:extLst>
          </p:cNvPr>
          <p:cNvSpPr>
            <a:spLocks noGrp="1"/>
          </p:cNvSpPr>
          <p:nvPr/>
        </p:nvSpPr>
        <p:spPr>
          <a:xfrm>
            <a:off x="590550" y="4752975"/>
            <a:ext cx="514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Zejun Huang  |  </a:t>
            </a:r>
            <a:r>
              <a:rPr sz="975" b="1" dirty="0" err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Dingjiang</a:t>
            </a:r>
            <a:r>
              <a:rPr sz="975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 Liang  |  UCSB  |  June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6859D0-4C13-498F-A643-0FA8B2DEA648}"/>
              </a:ext>
            </a:extLst>
          </p:cNvPr>
          <p:cNvSpPr>
            <a:spLocks noGrp="1"/>
          </p:cNvSpPr>
          <p:nvPr/>
        </p:nvSpPr>
        <p:spPr>
          <a:xfrm>
            <a:off x="590550" y="20574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Research question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E81CD-A081-40EC-9500-123577D23393}"/>
              </a:ext>
            </a:extLst>
          </p:cNvPr>
          <p:cNvSpPr>
            <a:spLocks noGrp="1"/>
          </p:cNvSpPr>
          <p:nvPr/>
        </p:nvSpPr>
        <p:spPr>
          <a:xfrm>
            <a:off x="590550" y="2324100"/>
            <a:ext cx="6858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80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Can a learned observation gate reduce expensive model calls without lowering task success, while still keeping checkpoint re-checking interpretable?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9B6288-9FAA-4DDC-AF78-238D354C7903}"/>
              </a:ext>
            </a:extLst>
          </p:cNvPr>
          <p:cNvSpPr>
            <a:spLocks noGrp="1"/>
          </p:cNvSpPr>
          <p:nvPr/>
        </p:nvSpPr>
        <p:spPr>
          <a:xfrm>
            <a:off x="590550" y="3448050"/>
            <a:ext cx="220980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B5AA1-16AB-4452-81DD-75065F8B0CFB}"/>
              </a:ext>
            </a:extLst>
          </p:cNvPr>
          <p:cNvSpPr>
            <a:spLocks noGrp="1"/>
          </p:cNvSpPr>
          <p:nvPr/>
        </p:nvSpPr>
        <p:spPr>
          <a:xfrm>
            <a:off x="590550" y="3448050"/>
            <a:ext cx="220980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CFFEF1-A9EA-441D-9C59-39C15B0F012D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866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15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4CF10E-D67D-4118-8D0D-EDF68801F420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186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focused local workflow tasks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887D60D-901A-4898-B37D-4B30DE85FC8E}"/>
              </a:ext>
            </a:extLst>
          </p:cNvPr>
          <p:cNvSpPr>
            <a:spLocks noGrp="1"/>
          </p:cNvSpPr>
          <p:nvPr/>
        </p:nvSpPr>
        <p:spPr>
          <a:xfrm>
            <a:off x="3048000" y="3448050"/>
            <a:ext cx="220980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D4D829-9A6E-4B52-8F5B-7C54FAB205C2}"/>
              </a:ext>
            </a:extLst>
          </p:cNvPr>
          <p:cNvSpPr>
            <a:spLocks noGrp="1"/>
          </p:cNvSpPr>
          <p:nvPr/>
        </p:nvSpPr>
        <p:spPr>
          <a:xfrm>
            <a:off x="3048000" y="3448050"/>
            <a:ext cx="2209800" cy="57150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030561-85F9-4A5D-B118-59A9FCCE3F82}"/>
              </a:ext>
            </a:extLst>
          </p:cNvPr>
          <p:cNvSpPr>
            <a:spLocks noGrp="1"/>
          </p:cNvSpPr>
          <p:nvPr/>
        </p:nvSpPr>
        <p:spPr>
          <a:xfrm>
            <a:off x="3219450" y="3619500"/>
            <a:ext cx="1866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100%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D604C7-6021-4B47-9FD2-879FE224E133}"/>
              </a:ext>
            </a:extLst>
          </p:cNvPr>
          <p:cNvSpPr>
            <a:spLocks noGrp="1"/>
          </p:cNvSpPr>
          <p:nvPr/>
        </p:nvSpPr>
        <p:spPr>
          <a:xfrm>
            <a:off x="3219450" y="4038600"/>
            <a:ext cx="186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success for learned@0.2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8AA4B62-7A44-4F93-83CB-0EDBA0F2A178}"/>
              </a:ext>
            </a:extLst>
          </p:cNvPr>
          <p:cNvSpPr>
            <a:spLocks noGrp="1"/>
          </p:cNvSpPr>
          <p:nvPr/>
        </p:nvSpPr>
        <p:spPr>
          <a:xfrm>
            <a:off x="5505450" y="3448050"/>
            <a:ext cx="220980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BB17EA-A48A-44AA-977B-B8CC99A0A81F}"/>
              </a:ext>
            </a:extLst>
          </p:cNvPr>
          <p:cNvSpPr>
            <a:spLocks noGrp="1"/>
          </p:cNvSpPr>
          <p:nvPr/>
        </p:nvSpPr>
        <p:spPr>
          <a:xfrm>
            <a:off x="5505450" y="3448050"/>
            <a:ext cx="2209800" cy="57150"/>
          </a:xfrm>
          <a:prstGeom prst="rect">
            <a:avLst/>
          </a:prstGeom>
          <a:solidFill>
            <a:srgbClr val="C9832B"/>
          </a:solidFill>
          <a:ln w="0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5AABB8-FA0B-4EDE-827F-23EA2DCF6CCA}"/>
              </a:ext>
            </a:extLst>
          </p:cNvPr>
          <p:cNvSpPr>
            <a:spLocks noGrp="1"/>
          </p:cNvSpPr>
          <p:nvPr/>
        </p:nvSpPr>
        <p:spPr>
          <a:xfrm>
            <a:off x="5676900" y="3619500"/>
            <a:ext cx="1866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33%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91ADCB-BE89-44F1-B3FF-F4EC5F8BC2E6}"/>
              </a:ext>
            </a:extLst>
          </p:cNvPr>
          <p:cNvSpPr>
            <a:spLocks noGrp="1"/>
          </p:cNvSpPr>
          <p:nvPr/>
        </p:nvSpPr>
        <p:spPr>
          <a:xfrm>
            <a:off x="5676900" y="4038600"/>
            <a:ext cx="186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fewer calls than handrule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40CAC4D-BD93-4E50-9783-558B043A4CDA}"/>
              </a:ext>
            </a:extLst>
          </p:cNvPr>
          <p:cNvSpPr>
            <a:spLocks noGrp="1"/>
          </p:cNvSpPr>
          <p:nvPr/>
        </p:nvSpPr>
        <p:spPr>
          <a:xfrm>
            <a:off x="8458200" y="2362200"/>
            <a:ext cx="2724150" cy="2971800"/>
          </a:xfrm>
          <a:prstGeom prst="roundRect">
            <a:avLst>
              <a:gd name="adj" fmla="val 279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CC3AA6-56CD-47A6-B0F9-72D0B57027AC}"/>
              </a:ext>
            </a:extLst>
          </p:cNvPr>
          <p:cNvSpPr>
            <a:spLocks noGrp="1"/>
          </p:cNvSpPr>
          <p:nvPr/>
        </p:nvSpPr>
        <p:spPr>
          <a:xfrm>
            <a:off x="8743950" y="2564823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8C7DA"/>
                </a:solidFill>
                <a:latin typeface="Nunito Sans"/>
                <a:ea typeface="Nunito Sans"/>
                <a:cs typeface="Nunito Sans"/>
              </a:defRPr>
            </a:pPr>
            <a:r>
              <a:rPr sz="900" b="1" dirty="0">
                <a:solidFill>
                  <a:srgbClr val="B8C7DA"/>
                </a:solidFill>
                <a:latin typeface="Nunito Sans"/>
                <a:ea typeface="Nunito Sans"/>
                <a:cs typeface="Nunito Sans"/>
              </a:rPr>
              <a:t>Final headline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00FF1F-C525-485A-957A-F872AFB75638}"/>
              </a:ext>
            </a:extLst>
          </p:cNvPr>
          <p:cNvSpPr>
            <a:spLocks noGrp="1"/>
          </p:cNvSpPr>
          <p:nvPr/>
        </p:nvSpPr>
        <p:spPr>
          <a:xfrm>
            <a:off x="8743950" y="2869623"/>
            <a:ext cx="2000250" cy="1562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learned@0.2</a:t>
            </a:r>
          </a:p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matches 100% success</a:t>
            </a:r>
          </a:p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while using</a:t>
            </a:r>
          </a:p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2.07 calls</a:t>
            </a:r>
          </a:p>
          <a:p>
            <a:pPr algn="ctr">
              <a:defRPr sz="210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vs 3.07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7B07A4-4149-4C53-B9E5-E9C5EB1F414F}"/>
              </a:ext>
            </a:extLst>
          </p:cNvPr>
          <p:cNvSpPr>
            <a:spLocks noGrp="1"/>
          </p:cNvSpPr>
          <p:nvPr/>
        </p:nvSpPr>
        <p:spPr>
          <a:xfrm>
            <a:off x="8629650" y="4991100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9D7E5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C9D7E5"/>
                </a:solidFill>
                <a:latin typeface="Nunito Sans"/>
                <a:ea typeface="Nunito Sans"/>
                <a:cs typeface="Nunito Sans"/>
              </a:rPr>
              <a:t>Main suite: soa-workflow-focus-v2, DOM observation, gpt-4o-mini</a:t>
            </a:r>
          </a:p>
        </p:txBody>
      </p:sp>
    </p:spTree>
    <p:extLst>
      <p:ext uri="{BB962C8B-B14F-4D97-AF65-F5344CB8AC3E}">
        <p14:creationId xmlns:p14="http://schemas.microsoft.com/office/powerpoint/2010/main" val="47797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FC61B2-2EF4-4F40-B98E-3E2DF67111F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B6A869-5E2E-4526-9767-6A669D6DF20C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Motivation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9B2E8A-8486-46AA-B1F9-3894945F21A6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02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492123-C665-450F-BAAD-01D40AD19837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D961C-8FB0-4E78-817E-83DDA9CFAF06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1AC88-1D60-4139-89A9-5756AFF39B17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Browser agents overpay for safety when they observe before every action.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1120DE-0E86-47E6-9116-EA3E3DEE30EB}"/>
              </a:ext>
            </a:extLst>
          </p:cNvPr>
          <p:cNvSpPr>
            <a:spLocks noGrp="1"/>
          </p:cNvSpPr>
          <p:nvPr/>
        </p:nvSpPr>
        <p:spPr>
          <a:xfrm>
            <a:off x="571500" y="2103031"/>
            <a:ext cx="5029200" cy="357386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10F822-F575-4084-BC98-E71844A7EC4F}"/>
              </a:ext>
            </a:extLst>
          </p:cNvPr>
          <p:cNvSpPr>
            <a:spLocks noGrp="1"/>
          </p:cNvSpPr>
          <p:nvPr/>
        </p:nvSpPr>
        <p:spPr>
          <a:xfrm>
            <a:off x="800100" y="2331632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Standard loop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6C8010-11D5-4C33-A2EA-28ED32C11A69}"/>
              </a:ext>
            </a:extLst>
          </p:cNvPr>
          <p:cNvSpPr>
            <a:spLocks noGrp="1"/>
          </p:cNvSpPr>
          <p:nvPr/>
        </p:nvSpPr>
        <p:spPr>
          <a:xfrm>
            <a:off x="838200" y="2845982"/>
            <a:ext cx="1047750" cy="800100"/>
          </a:xfrm>
          <a:prstGeom prst="roundRect">
            <a:avLst>
              <a:gd name="adj" fmla="val 9524"/>
            </a:avLst>
          </a:prstGeom>
          <a:solidFill>
            <a:srgbClr val="F8FBFF"/>
          </a:solidFill>
          <a:ln w="9525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322F8-DF55-402A-8E89-10EAE7235299}"/>
              </a:ext>
            </a:extLst>
          </p:cNvPr>
          <p:cNvSpPr>
            <a:spLocks noGrp="1"/>
          </p:cNvSpPr>
          <p:nvPr/>
        </p:nvSpPr>
        <p:spPr>
          <a:xfrm>
            <a:off x="895350" y="3036482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AD4F9-E1B7-483F-8DB1-90142B41AE02}"/>
              </a:ext>
            </a:extLst>
          </p:cNvPr>
          <p:cNvSpPr>
            <a:spLocks noGrp="1"/>
          </p:cNvSpPr>
          <p:nvPr/>
        </p:nvSpPr>
        <p:spPr>
          <a:xfrm>
            <a:off x="1000125" y="3322232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+1 LLM call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E36FAD-2495-4832-BD33-66B9B50C8C67}"/>
              </a:ext>
            </a:extLst>
          </p:cNvPr>
          <p:cNvSpPr>
            <a:spLocks noGrp="1"/>
          </p:cNvSpPr>
          <p:nvPr/>
        </p:nvSpPr>
        <p:spPr>
          <a:xfrm>
            <a:off x="1898738" y="3226982"/>
            <a:ext cx="171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60CD5BE-58C2-4F56-827B-C0C58E48D17A}"/>
              </a:ext>
            </a:extLst>
          </p:cNvPr>
          <p:cNvSpPr>
            <a:spLocks noGrp="1"/>
          </p:cNvSpPr>
          <p:nvPr/>
        </p:nvSpPr>
        <p:spPr>
          <a:xfrm>
            <a:off x="2076450" y="2845982"/>
            <a:ext cx="933450" cy="800100"/>
          </a:xfrm>
          <a:prstGeom prst="roundRect">
            <a:avLst>
              <a:gd name="adj" fmla="val 9524"/>
            </a:avLst>
          </a:prstGeom>
          <a:solidFill>
            <a:srgbClr val="F8FBFF"/>
          </a:solidFill>
          <a:ln w="9525">
            <a:solidFill>
              <a:srgbClr val="1279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BB9723-8007-4351-AA78-155B7F87F58D}"/>
              </a:ext>
            </a:extLst>
          </p:cNvPr>
          <p:cNvSpPr>
            <a:spLocks noGrp="1"/>
          </p:cNvSpPr>
          <p:nvPr/>
        </p:nvSpPr>
        <p:spPr>
          <a:xfrm>
            <a:off x="2133600" y="3036482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DA3669-FF08-4E8C-80BD-831D4501D5CA}"/>
              </a:ext>
            </a:extLst>
          </p:cNvPr>
          <p:cNvSpPr>
            <a:spLocks noGrp="1"/>
          </p:cNvSpPr>
          <p:nvPr/>
        </p:nvSpPr>
        <p:spPr>
          <a:xfrm>
            <a:off x="2152650" y="3322232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action sequence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380D58-E9D9-4FE3-817A-D5253A7E6D33}"/>
              </a:ext>
            </a:extLst>
          </p:cNvPr>
          <p:cNvSpPr>
            <a:spLocks noGrp="1"/>
          </p:cNvSpPr>
          <p:nvPr/>
        </p:nvSpPr>
        <p:spPr>
          <a:xfrm>
            <a:off x="3022688" y="3226982"/>
            <a:ext cx="171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9BE4D04-1345-4EC1-B732-CA3256B2B724}"/>
              </a:ext>
            </a:extLst>
          </p:cNvPr>
          <p:cNvSpPr>
            <a:spLocks noGrp="1"/>
          </p:cNvSpPr>
          <p:nvPr/>
        </p:nvSpPr>
        <p:spPr>
          <a:xfrm>
            <a:off x="3200400" y="2845982"/>
            <a:ext cx="933450" cy="800100"/>
          </a:xfrm>
          <a:prstGeom prst="roundRect">
            <a:avLst>
              <a:gd name="adj" fmla="val 9524"/>
            </a:avLst>
          </a:prstGeom>
          <a:solidFill>
            <a:srgbClr val="F8FBFF"/>
          </a:solidFill>
          <a:ln w="9525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D676AB-C7FF-4F55-AAA2-11163C96410A}"/>
              </a:ext>
            </a:extLst>
          </p:cNvPr>
          <p:cNvSpPr>
            <a:spLocks noGrp="1"/>
          </p:cNvSpPr>
          <p:nvPr/>
        </p:nvSpPr>
        <p:spPr>
          <a:xfrm>
            <a:off x="3257550" y="3036482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B3E6FA-7C69-4749-82FD-3B48237CA60E}"/>
              </a:ext>
            </a:extLst>
          </p:cNvPr>
          <p:cNvSpPr>
            <a:spLocks noGrp="1"/>
          </p:cNvSpPr>
          <p:nvPr/>
        </p:nvSpPr>
        <p:spPr>
          <a:xfrm>
            <a:off x="3276600" y="3322232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click / fill / select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EEE658-859D-4862-A56A-D608C0D3890F}"/>
              </a:ext>
            </a:extLst>
          </p:cNvPr>
          <p:cNvSpPr>
            <a:spLocks noGrp="1"/>
          </p:cNvSpPr>
          <p:nvPr/>
        </p:nvSpPr>
        <p:spPr>
          <a:xfrm>
            <a:off x="4146638" y="3226982"/>
            <a:ext cx="171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41F39C5-54E5-49B8-9836-2D8C8525A01B}"/>
              </a:ext>
            </a:extLst>
          </p:cNvPr>
          <p:cNvSpPr>
            <a:spLocks noGrp="1"/>
          </p:cNvSpPr>
          <p:nvPr/>
        </p:nvSpPr>
        <p:spPr>
          <a:xfrm>
            <a:off x="4324350" y="2845982"/>
            <a:ext cx="990600" cy="800100"/>
          </a:xfrm>
          <a:prstGeom prst="roundRect">
            <a:avLst>
              <a:gd name="adj" fmla="val 9524"/>
            </a:avLst>
          </a:prstGeom>
          <a:solidFill>
            <a:srgbClr val="F8FBFF"/>
          </a:solidFill>
          <a:ln w="9525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9ADB07-5CC4-4A26-9405-0842B947BC52}"/>
              </a:ext>
            </a:extLst>
          </p:cNvPr>
          <p:cNvSpPr>
            <a:spLocks noGrp="1"/>
          </p:cNvSpPr>
          <p:nvPr/>
        </p:nvSpPr>
        <p:spPr>
          <a:xfrm>
            <a:off x="4406439" y="3036482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78ADA3-6A7E-4270-8B3B-F400B408FAA3}"/>
              </a:ext>
            </a:extLst>
          </p:cNvPr>
          <p:cNvSpPr>
            <a:spLocks noGrp="1"/>
          </p:cNvSpPr>
          <p:nvPr/>
        </p:nvSpPr>
        <p:spPr>
          <a:xfrm>
            <a:off x="4457700" y="3322232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repeat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42149-2CFB-4336-9202-9907C8F63F06}"/>
              </a:ext>
            </a:extLst>
          </p:cNvPr>
          <p:cNvSpPr>
            <a:spLocks noGrp="1"/>
          </p:cNvSpPr>
          <p:nvPr/>
        </p:nvSpPr>
        <p:spPr>
          <a:xfrm>
            <a:off x="800100" y="4719527"/>
            <a:ext cx="44005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3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Observation is safe, but it dominates latency and cost.</a:t>
            </a:r>
          </a:p>
          <a:p>
            <a:pPr algn="l">
              <a:defRPr sz="13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3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The efficiency lever is deciding when another read is actually worth it.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DBAB80C-7E5E-40EF-8F7E-D1DC1EE3C07E}"/>
              </a:ext>
            </a:extLst>
          </p:cNvPr>
          <p:cNvSpPr>
            <a:spLocks noGrp="1"/>
          </p:cNvSpPr>
          <p:nvPr/>
        </p:nvSpPr>
        <p:spPr>
          <a:xfrm>
            <a:off x="6172200" y="2103031"/>
            <a:ext cx="5105400" cy="357386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D97141-3A21-4E23-90CB-4CDA1DBF9985}"/>
              </a:ext>
            </a:extLst>
          </p:cNvPr>
          <p:cNvSpPr>
            <a:spLocks noGrp="1"/>
          </p:cNvSpPr>
          <p:nvPr/>
        </p:nvSpPr>
        <p:spPr>
          <a:xfrm>
            <a:off x="6400800" y="2331632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Cost-success frontier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20D2E1-D5ED-4D0F-94FF-EA6DB85EA6A2}"/>
              </a:ext>
            </a:extLst>
          </p:cNvPr>
          <p:cNvSpPr>
            <a:spLocks noGrp="1"/>
          </p:cNvSpPr>
          <p:nvPr/>
        </p:nvSpPr>
        <p:spPr>
          <a:xfrm>
            <a:off x="6572250" y="2922182"/>
            <a:ext cx="171450" cy="28575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969934-FDB2-4B0E-AEC1-6F773D2B8521}"/>
              </a:ext>
            </a:extLst>
          </p:cNvPr>
          <p:cNvSpPr>
            <a:spLocks noGrp="1"/>
          </p:cNvSpPr>
          <p:nvPr/>
        </p:nvSpPr>
        <p:spPr>
          <a:xfrm>
            <a:off x="6858000" y="280788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always-observe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8DE549-2474-4A86-8F9C-9D3D355B6C07}"/>
              </a:ext>
            </a:extLst>
          </p:cNvPr>
          <p:cNvSpPr>
            <a:spLocks noGrp="1"/>
          </p:cNvSpPr>
          <p:nvPr/>
        </p:nvSpPr>
        <p:spPr>
          <a:xfrm>
            <a:off x="8382000" y="2807882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Reliable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E204AF-461B-4FF5-B254-95F13FFD45C8}"/>
              </a:ext>
            </a:extLst>
          </p:cNvPr>
          <p:cNvSpPr>
            <a:spLocks noGrp="1"/>
          </p:cNvSpPr>
          <p:nvPr/>
        </p:nvSpPr>
        <p:spPr>
          <a:xfrm>
            <a:off x="9429750" y="2807882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Costly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1FA60A-047C-448F-8A4A-27E6B93D52EF}"/>
              </a:ext>
            </a:extLst>
          </p:cNvPr>
          <p:cNvSpPr>
            <a:spLocks noGrp="1"/>
          </p:cNvSpPr>
          <p:nvPr/>
        </p:nvSpPr>
        <p:spPr>
          <a:xfrm>
            <a:off x="6572250" y="3360332"/>
            <a:ext cx="171450" cy="28575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C96493-054F-4CB8-98C4-93691CE6E182}"/>
              </a:ext>
            </a:extLst>
          </p:cNvPr>
          <p:cNvSpPr>
            <a:spLocks noGrp="1"/>
          </p:cNvSpPr>
          <p:nvPr/>
        </p:nvSpPr>
        <p:spPr>
          <a:xfrm>
            <a:off x="6858000" y="324603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never-observe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4EA43D-049E-408B-A3E9-E6CD288B0359}"/>
              </a:ext>
            </a:extLst>
          </p:cNvPr>
          <p:cNvSpPr>
            <a:spLocks noGrp="1"/>
          </p:cNvSpPr>
          <p:nvPr/>
        </p:nvSpPr>
        <p:spPr>
          <a:xfrm>
            <a:off x="8382000" y="3246032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Cheap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DB2C11-4109-48B3-AB07-494E32641985}"/>
              </a:ext>
            </a:extLst>
          </p:cNvPr>
          <p:cNvSpPr>
            <a:spLocks noGrp="1"/>
          </p:cNvSpPr>
          <p:nvPr/>
        </p:nvSpPr>
        <p:spPr>
          <a:xfrm>
            <a:off x="9429750" y="3246032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Brittle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D711A6-AD0A-4DE2-BB4D-37B7CE06E774}"/>
              </a:ext>
            </a:extLst>
          </p:cNvPr>
          <p:cNvSpPr>
            <a:spLocks noGrp="1"/>
          </p:cNvSpPr>
          <p:nvPr/>
        </p:nvSpPr>
        <p:spPr>
          <a:xfrm>
            <a:off x="6572250" y="3798482"/>
            <a:ext cx="171450" cy="28575"/>
          </a:xfrm>
          <a:prstGeom prst="rect">
            <a:avLst/>
          </a:prstGeom>
          <a:solidFill>
            <a:srgbClr val="C9832B"/>
          </a:solidFill>
          <a:ln w="0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FF3811-1FE1-445A-A4D3-722BD1E12856}"/>
              </a:ext>
            </a:extLst>
          </p:cNvPr>
          <p:cNvSpPr>
            <a:spLocks noGrp="1"/>
          </p:cNvSpPr>
          <p:nvPr/>
        </p:nvSpPr>
        <p:spPr>
          <a:xfrm>
            <a:off x="6858000" y="368418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handrule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FCE731-521D-4EAF-8A41-FD43C2F4A4C4}"/>
              </a:ext>
            </a:extLst>
          </p:cNvPr>
          <p:cNvSpPr>
            <a:spLocks noGrp="1"/>
          </p:cNvSpPr>
          <p:nvPr/>
        </p:nvSpPr>
        <p:spPr>
          <a:xfrm>
            <a:off x="8382000" y="3684182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Practical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B51E69-3E1D-4763-91AD-55191FC5560A}"/>
              </a:ext>
            </a:extLst>
          </p:cNvPr>
          <p:cNvSpPr>
            <a:spLocks noGrp="1"/>
          </p:cNvSpPr>
          <p:nvPr/>
        </p:nvSpPr>
        <p:spPr>
          <a:xfrm>
            <a:off x="9429750" y="3684182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Over-observes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2A6C57-4E0A-4768-8AFA-A2C02C72B1E7}"/>
              </a:ext>
            </a:extLst>
          </p:cNvPr>
          <p:cNvSpPr>
            <a:spLocks noGrp="1"/>
          </p:cNvSpPr>
          <p:nvPr/>
        </p:nvSpPr>
        <p:spPr>
          <a:xfrm>
            <a:off x="6572250" y="4236632"/>
            <a:ext cx="171450" cy="28575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60EAB3-95F8-4618-BE32-C759CF2284A6}"/>
              </a:ext>
            </a:extLst>
          </p:cNvPr>
          <p:cNvSpPr>
            <a:spLocks noGrp="1"/>
          </p:cNvSpPr>
          <p:nvPr/>
        </p:nvSpPr>
        <p:spPr>
          <a:xfrm>
            <a:off x="6858000" y="4122332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2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learned gate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A00EDE-D814-4BDF-8676-EFA1BFA92B29}"/>
              </a:ext>
            </a:extLst>
          </p:cNvPr>
          <p:cNvSpPr>
            <a:spLocks noGrp="1"/>
          </p:cNvSpPr>
          <p:nvPr/>
        </p:nvSpPr>
        <p:spPr>
          <a:xfrm>
            <a:off x="8382000" y="4122332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Equal success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B99C138-6584-4BA2-9355-975CEF7D65DB}"/>
              </a:ext>
            </a:extLst>
          </p:cNvPr>
          <p:cNvSpPr>
            <a:spLocks noGrp="1"/>
          </p:cNvSpPr>
          <p:nvPr/>
        </p:nvSpPr>
        <p:spPr>
          <a:xfrm>
            <a:off x="9429750" y="4122332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Fewer calls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9BFDD7-8D55-4AF1-9852-F33DE6ECCAB2}"/>
              </a:ext>
            </a:extLst>
          </p:cNvPr>
          <p:cNvSpPr>
            <a:spLocks noGrp="1"/>
          </p:cNvSpPr>
          <p:nvPr/>
        </p:nvSpPr>
        <p:spPr>
          <a:xfrm>
            <a:off x="6438900" y="4719527"/>
            <a:ext cx="4343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This talk asks whether a learned gate can beat the hand rule on the success-cost frontier, not whether browser agents work in the abstract.</a:t>
            </a:r>
          </a:p>
        </p:txBody>
      </p:sp>
    </p:spTree>
    <p:extLst>
      <p:ext uri="{BB962C8B-B14F-4D97-AF65-F5344CB8AC3E}">
        <p14:creationId xmlns:p14="http://schemas.microsoft.com/office/powerpoint/2010/main" val="1680716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6284DF-3B7F-44FC-AF91-2507FE262EA7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67638F-8499-4103-ADED-57BB3F1FB15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Main 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77ABC3-4016-4AC3-8CD5-98002EB770AA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03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42C2FD-6F5F-4AA1-95BF-9EB5E3DCC7BD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612F36-7CDF-40D3-94B0-9C7F05432173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EA17BF-F2D4-4CC0-A112-F686BC0B0E7C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learned gate matches the best success baselines and uses fewer model calls.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632D8A-9C2F-48EC-BDEF-2E16FCCDA289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00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15-task local suite  |  gpt-4o-mini  |  DOM observation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407B2C-FF54-4CB4-BA26-42E836F25F5F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1583531" cy="3238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4F1017-193E-46A8-978C-1675BD27003B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Policy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A79FA3-DF31-40BE-80B0-C0389DC6401C}"/>
              </a:ext>
            </a:extLst>
          </p:cNvPr>
          <p:cNvSpPr>
            <a:spLocks noGrp="1"/>
          </p:cNvSpPr>
          <p:nvPr/>
        </p:nvSpPr>
        <p:spPr>
          <a:xfrm>
            <a:off x="2161223" y="2038350"/>
            <a:ext cx="1143000" cy="3238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29B925-8BC0-4E4F-B1EA-B9D95E81B8C5}"/>
              </a:ext>
            </a:extLst>
          </p:cNvPr>
          <p:cNvSpPr>
            <a:spLocks noGrp="1"/>
          </p:cNvSpPr>
          <p:nvPr/>
        </p:nvSpPr>
        <p:spPr>
          <a:xfrm>
            <a:off x="2256473" y="2114550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Success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C1B947-FF25-4FF4-9A89-A59DAD42954E}"/>
              </a:ext>
            </a:extLst>
          </p:cNvPr>
          <p:cNvSpPr>
            <a:spLocks noGrp="1"/>
          </p:cNvSpPr>
          <p:nvPr/>
        </p:nvSpPr>
        <p:spPr>
          <a:xfrm>
            <a:off x="3304223" y="2038350"/>
            <a:ext cx="1047750" cy="3238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AE77D8-82AC-4809-9520-80238A161F7B}"/>
              </a:ext>
            </a:extLst>
          </p:cNvPr>
          <p:cNvSpPr>
            <a:spLocks noGrp="1"/>
          </p:cNvSpPr>
          <p:nvPr/>
        </p:nvSpPr>
        <p:spPr>
          <a:xfrm>
            <a:off x="3399473" y="21145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Calls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C6D05F-35DB-4E15-BCBD-12AAA2354944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1583531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285FEF-7ABE-4069-BE3B-A017A2D2C40A}"/>
              </a:ext>
            </a:extLst>
          </p:cNvPr>
          <p:cNvSpPr>
            <a:spLocks noGrp="1"/>
          </p:cNvSpPr>
          <p:nvPr/>
        </p:nvSpPr>
        <p:spPr>
          <a:xfrm>
            <a:off x="666750" y="2466975"/>
            <a:ext cx="1295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always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899591-6D05-4EBC-945F-C4ED9F4531F0}"/>
              </a:ext>
            </a:extLst>
          </p:cNvPr>
          <p:cNvSpPr>
            <a:spLocks noGrp="1"/>
          </p:cNvSpPr>
          <p:nvPr/>
        </p:nvSpPr>
        <p:spPr>
          <a:xfrm>
            <a:off x="2161223" y="236220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251337-B8A8-4A94-A683-E7BCAB4F32EF}"/>
              </a:ext>
            </a:extLst>
          </p:cNvPr>
          <p:cNvSpPr>
            <a:spLocks noGrp="1"/>
          </p:cNvSpPr>
          <p:nvPr/>
        </p:nvSpPr>
        <p:spPr>
          <a:xfrm>
            <a:off x="2256473" y="246697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100%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F3FD3B-D44E-47AA-B901-BA00D8A125DA}"/>
              </a:ext>
            </a:extLst>
          </p:cNvPr>
          <p:cNvSpPr>
            <a:spLocks noGrp="1"/>
          </p:cNvSpPr>
          <p:nvPr/>
        </p:nvSpPr>
        <p:spPr>
          <a:xfrm>
            <a:off x="3304223" y="2362200"/>
            <a:ext cx="1047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023F4F-7201-457C-B31F-568E3BF3A35D}"/>
              </a:ext>
            </a:extLst>
          </p:cNvPr>
          <p:cNvSpPr>
            <a:spLocks noGrp="1"/>
          </p:cNvSpPr>
          <p:nvPr/>
        </p:nvSpPr>
        <p:spPr>
          <a:xfrm>
            <a:off x="3399473" y="24669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3.53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F33CC3-567B-48A3-B364-366373C183B5}"/>
              </a:ext>
            </a:extLst>
          </p:cNvPr>
          <p:cNvSpPr>
            <a:spLocks noGrp="1"/>
          </p:cNvSpPr>
          <p:nvPr/>
        </p:nvSpPr>
        <p:spPr>
          <a:xfrm>
            <a:off x="571500" y="2762250"/>
            <a:ext cx="1583531" cy="400050"/>
          </a:xfrm>
          <a:prstGeom prst="rect">
            <a:avLst/>
          </a:prstGeom>
          <a:solidFill>
            <a:srgbClr val="F8FAFD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48493C-C450-4E0C-8AAC-BDA927DC910D}"/>
              </a:ext>
            </a:extLst>
          </p:cNvPr>
          <p:cNvSpPr>
            <a:spLocks noGrp="1"/>
          </p:cNvSpPr>
          <p:nvPr/>
        </p:nvSpPr>
        <p:spPr>
          <a:xfrm>
            <a:off x="666750" y="2867025"/>
            <a:ext cx="135350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E4CF9F-DBFD-4A8F-8FC1-EFB7FD87F397}"/>
              </a:ext>
            </a:extLst>
          </p:cNvPr>
          <p:cNvSpPr>
            <a:spLocks noGrp="1"/>
          </p:cNvSpPr>
          <p:nvPr/>
        </p:nvSpPr>
        <p:spPr>
          <a:xfrm>
            <a:off x="2161223" y="2762250"/>
            <a:ext cx="1143000" cy="400050"/>
          </a:xfrm>
          <a:prstGeom prst="rect">
            <a:avLst/>
          </a:prstGeom>
          <a:solidFill>
            <a:srgbClr val="F8FAFD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9CBD47-0801-4FFB-BAE4-37A2F3A42481}"/>
              </a:ext>
            </a:extLst>
          </p:cNvPr>
          <p:cNvSpPr>
            <a:spLocks noGrp="1"/>
          </p:cNvSpPr>
          <p:nvPr/>
        </p:nvSpPr>
        <p:spPr>
          <a:xfrm>
            <a:off x="2256473" y="286702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93.3%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8F31A0-926F-4E8D-89C4-DF18D2119EC6}"/>
              </a:ext>
            </a:extLst>
          </p:cNvPr>
          <p:cNvSpPr>
            <a:spLocks noGrp="1"/>
          </p:cNvSpPr>
          <p:nvPr/>
        </p:nvSpPr>
        <p:spPr>
          <a:xfrm>
            <a:off x="3304223" y="2762250"/>
            <a:ext cx="1047750" cy="400050"/>
          </a:xfrm>
          <a:prstGeom prst="rect">
            <a:avLst/>
          </a:prstGeom>
          <a:solidFill>
            <a:srgbClr val="F8FAFD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96447E-D6C3-4652-87F2-02CD95B26777}"/>
              </a:ext>
            </a:extLst>
          </p:cNvPr>
          <p:cNvSpPr>
            <a:spLocks noGrp="1"/>
          </p:cNvSpPr>
          <p:nvPr/>
        </p:nvSpPr>
        <p:spPr>
          <a:xfrm>
            <a:off x="3399473" y="28670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1.80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10D5F0-5CE1-4BE9-8945-A03FB11258BB}"/>
              </a:ext>
            </a:extLst>
          </p:cNvPr>
          <p:cNvSpPr>
            <a:spLocks noGrp="1"/>
          </p:cNvSpPr>
          <p:nvPr/>
        </p:nvSpPr>
        <p:spPr>
          <a:xfrm>
            <a:off x="571500" y="3162300"/>
            <a:ext cx="1583531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B8FBFB-1202-42C6-BCC3-4E829998F791}"/>
              </a:ext>
            </a:extLst>
          </p:cNvPr>
          <p:cNvSpPr>
            <a:spLocks noGrp="1"/>
          </p:cNvSpPr>
          <p:nvPr/>
        </p:nvSpPr>
        <p:spPr>
          <a:xfrm>
            <a:off x="666750" y="3267075"/>
            <a:ext cx="135350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handrule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B287F4-CD56-4C25-94F8-65B28D2BAAB7}"/>
              </a:ext>
            </a:extLst>
          </p:cNvPr>
          <p:cNvSpPr>
            <a:spLocks noGrp="1"/>
          </p:cNvSpPr>
          <p:nvPr/>
        </p:nvSpPr>
        <p:spPr>
          <a:xfrm>
            <a:off x="2161223" y="3162300"/>
            <a:ext cx="1143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B4E5DA-4E14-41C6-B890-7F381A3E63B9}"/>
              </a:ext>
            </a:extLst>
          </p:cNvPr>
          <p:cNvSpPr>
            <a:spLocks noGrp="1"/>
          </p:cNvSpPr>
          <p:nvPr/>
        </p:nvSpPr>
        <p:spPr>
          <a:xfrm>
            <a:off x="2256473" y="326707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100%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8F9FEA-C601-4BCC-AE28-E85BAFB19CDC}"/>
              </a:ext>
            </a:extLst>
          </p:cNvPr>
          <p:cNvSpPr>
            <a:spLocks noGrp="1"/>
          </p:cNvSpPr>
          <p:nvPr/>
        </p:nvSpPr>
        <p:spPr>
          <a:xfrm>
            <a:off x="3304223" y="3162300"/>
            <a:ext cx="1047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17638D-A9A0-47C3-89D1-80419761ED63}"/>
              </a:ext>
            </a:extLst>
          </p:cNvPr>
          <p:cNvSpPr>
            <a:spLocks noGrp="1"/>
          </p:cNvSpPr>
          <p:nvPr/>
        </p:nvSpPr>
        <p:spPr>
          <a:xfrm>
            <a:off x="3399473" y="32670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3.07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059D7E-2FF9-44AD-9890-71C92EDC0D27}"/>
              </a:ext>
            </a:extLst>
          </p:cNvPr>
          <p:cNvSpPr>
            <a:spLocks noGrp="1"/>
          </p:cNvSpPr>
          <p:nvPr/>
        </p:nvSpPr>
        <p:spPr>
          <a:xfrm>
            <a:off x="571500" y="3562350"/>
            <a:ext cx="1583531" cy="400050"/>
          </a:xfrm>
          <a:prstGeom prst="rect">
            <a:avLst/>
          </a:prstGeom>
          <a:solidFill>
            <a:srgbClr val="EAF8F4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ED622B-DB41-4DB9-9286-8CD7412C7E25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1208722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learned@0.2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667EB-8E69-4291-BFF9-5C1B1EE0105E}"/>
              </a:ext>
            </a:extLst>
          </p:cNvPr>
          <p:cNvSpPr>
            <a:spLocks noGrp="1"/>
          </p:cNvSpPr>
          <p:nvPr/>
        </p:nvSpPr>
        <p:spPr>
          <a:xfrm>
            <a:off x="2161223" y="3562350"/>
            <a:ext cx="1143000" cy="400050"/>
          </a:xfrm>
          <a:prstGeom prst="rect">
            <a:avLst/>
          </a:prstGeom>
          <a:solidFill>
            <a:srgbClr val="EAF8F4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86BDA8-6817-41F4-8C0F-092D98592C65}"/>
              </a:ext>
            </a:extLst>
          </p:cNvPr>
          <p:cNvSpPr>
            <a:spLocks noGrp="1"/>
          </p:cNvSpPr>
          <p:nvPr/>
        </p:nvSpPr>
        <p:spPr>
          <a:xfrm>
            <a:off x="2256473" y="3667125"/>
            <a:ext cx="95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100%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DBF730-100B-450C-8820-A9F2DB4C23D2}"/>
              </a:ext>
            </a:extLst>
          </p:cNvPr>
          <p:cNvSpPr>
            <a:spLocks noGrp="1"/>
          </p:cNvSpPr>
          <p:nvPr/>
        </p:nvSpPr>
        <p:spPr>
          <a:xfrm>
            <a:off x="3304223" y="3562350"/>
            <a:ext cx="1047750" cy="400050"/>
          </a:xfrm>
          <a:prstGeom prst="rect">
            <a:avLst/>
          </a:prstGeom>
          <a:solidFill>
            <a:srgbClr val="EAF8F4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4E2E5B-98F2-4A5C-ABA7-54535DD6A352}"/>
              </a:ext>
            </a:extLst>
          </p:cNvPr>
          <p:cNvSpPr>
            <a:spLocks noGrp="1"/>
          </p:cNvSpPr>
          <p:nvPr/>
        </p:nvSpPr>
        <p:spPr>
          <a:xfrm>
            <a:off x="3399473" y="366712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2.07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C0A5AB-D3B0-4C54-BC3B-0D7669CC223E}"/>
              </a:ext>
            </a:extLst>
          </p:cNvPr>
          <p:cNvSpPr>
            <a:spLocks noGrp="1"/>
          </p:cNvSpPr>
          <p:nvPr/>
        </p:nvSpPr>
        <p:spPr>
          <a:xfrm>
            <a:off x="5029200" y="1714500"/>
            <a:ext cx="605790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22BABE-9AFE-47EA-8049-E22BA14677B9}"/>
              </a:ext>
            </a:extLst>
          </p:cNvPr>
          <p:cNvSpPr>
            <a:spLocks noGrp="1"/>
          </p:cNvSpPr>
          <p:nvPr/>
        </p:nvSpPr>
        <p:spPr>
          <a:xfrm>
            <a:off x="5562600" y="4305300"/>
            <a:ext cx="5257800" cy="9525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C9F505-A5D0-4563-8517-807304F87FBF}"/>
              </a:ext>
            </a:extLst>
          </p:cNvPr>
          <p:cNvSpPr>
            <a:spLocks noGrp="1"/>
          </p:cNvSpPr>
          <p:nvPr/>
        </p:nvSpPr>
        <p:spPr>
          <a:xfrm>
            <a:off x="5562600" y="2152650"/>
            <a:ext cx="9525" cy="21526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C64DF0-C037-4F76-97B6-5E8F2167BBB7}"/>
              </a:ext>
            </a:extLst>
          </p:cNvPr>
          <p:cNvSpPr>
            <a:spLocks noGrp="1"/>
          </p:cNvSpPr>
          <p:nvPr/>
        </p:nvSpPr>
        <p:spPr>
          <a:xfrm>
            <a:off x="5886450" y="4514850"/>
            <a:ext cx="4533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Avg model calls per task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3EAD78-2BF4-4F5C-9578-842A7F9D19E5}"/>
              </a:ext>
            </a:extLst>
          </p:cNvPr>
          <p:cNvSpPr>
            <a:spLocks noGrp="1"/>
          </p:cNvSpPr>
          <p:nvPr/>
        </p:nvSpPr>
        <p:spPr>
          <a:xfrm>
            <a:off x="5381625" y="1873250"/>
            <a:ext cx="476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7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Success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6F0B7C-EA30-4937-969B-ACEF9A67E1E3}"/>
              </a:ext>
            </a:extLst>
          </p:cNvPr>
          <p:cNvSpPr>
            <a:spLocks noGrp="1"/>
          </p:cNvSpPr>
          <p:nvPr/>
        </p:nvSpPr>
        <p:spPr>
          <a:xfrm>
            <a:off x="542925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2.0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A198A2-0550-4AE1-BD59-F4886172E706}"/>
              </a:ext>
            </a:extLst>
          </p:cNvPr>
          <p:cNvSpPr>
            <a:spLocks noGrp="1"/>
          </p:cNvSpPr>
          <p:nvPr/>
        </p:nvSpPr>
        <p:spPr>
          <a:xfrm>
            <a:off x="674370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2.5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B55E08-DD74-4E20-9C25-985DBE4999E1}"/>
              </a:ext>
            </a:extLst>
          </p:cNvPr>
          <p:cNvSpPr>
            <a:spLocks noGrp="1"/>
          </p:cNvSpPr>
          <p:nvPr/>
        </p:nvSpPr>
        <p:spPr>
          <a:xfrm>
            <a:off x="805815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3.0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D99859-9B19-4F95-973F-3F45A6A12C1B}"/>
              </a:ext>
            </a:extLst>
          </p:cNvPr>
          <p:cNvSpPr>
            <a:spLocks noGrp="1"/>
          </p:cNvSpPr>
          <p:nvPr/>
        </p:nvSpPr>
        <p:spPr>
          <a:xfrm>
            <a:off x="937260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3.5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EF3F7E-E6EA-4E74-9D15-098A419C1620}"/>
              </a:ext>
            </a:extLst>
          </p:cNvPr>
          <p:cNvSpPr>
            <a:spLocks noGrp="1"/>
          </p:cNvSpPr>
          <p:nvPr/>
        </p:nvSpPr>
        <p:spPr>
          <a:xfrm>
            <a:off x="10687050" y="4362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4.0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B27B01-C54A-41FC-BC7C-01A72E138339}"/>
              </a:ext>
            </a:extLst>
          </p:cNvPr>
          <p:cNvSpPr>
            <a:spLocks noGrp="1"/>
          </p:cNvSpPr>
          <p:nvPr/>
        </p:nvSpPr>
        <p:spPr>
          <a:xfrm>
            <a:off x="5067300" y="4248150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0.85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61CE20-A345-43D4-BC5A-B73E86221028}"/>
              </a:ext>
            </a:extLst>
          </p:cNvPr>
          <p:cNvSpPr>
            <a:spLocks noGrp="1"/>
          </p:cNvSpPr>
          <p:nvPr/>
        </p:nvSpPr>
        <p:spPr>
          <a:xfrm>
            <a:off x="5067300" y="3530600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0.90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B49803D-8C35-441C-B443-1ABD722B0023}"/>
              </a:ext>
            </a:extLst>
          </p:cNvPr>
          <p:cNvSpPr>
            <a:spLocks noGrp="1"/>
          </p:cNvSpPr>
          <p:nvPr/>
        </p:nvSpPr>
        <p:spPr>
          <a:xfrm>
            <a:off x="5067300" y="2813050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0.95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D163839-378F-4862-9209-AD375CCDC1F6}"/>
              </a:ext>
            </a:extLst>
          </p:cNvPr>
          <p:cNvSpPr>
            <a:spLocks noGrp="1"/>
          </p:cNvSpPr>
          <p:nvPr/>
        </p:nvSpPr>
        <p:spPr>
          <a:xfrm>
            <a:off x="5067300" y="2095500"/>
            <a:ext cx="4000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1.00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B8C9879-79B8-426D-B4DF-24421BE1AD56}"/>
              </a:ext>
            </a:extLst>
          </p:cNvPr>
          <p:cNvSpPr>
            <a:spLocks noGrp="1"/>
          </p:cNvSpPr>
          <p:nvPr/>
        </p:nvSpPr>
        <p:spPr>
          <a:xfrm>
            <a:off x="9733598" y="2095500"/>
            <a:ext cx="114300" cy="114300"/>
          </a:xfrm>
          <a:prstGeom prst="ellipse">
            <a:avLst/>
          </a:prstGeom>
          <a:solidFill>
            <a:srgbClr val="1E5AA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6E411C-BA04-472B-A782-0B0720B235FB}"/>
              </a:ext>
            </a:extLst>
          </p:cNvPr>
          <p:cNvSpPr>
            <a:spLocks noGrp="1"/>
          </p:cNvSpPr>
          <p:nvPr/>
        </p:nvSpPr>
        <p:spPr>
          <a:xfrm>
            <a:off x="9866948" y="2057400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always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DB3C502-925C-4B35-B7E9-92AB3FBC0EB9}"/>
              </a:ext>
            </a:extLst>
          </p:cNvPr>
          <p:cNvSpPr>
            <a:spLocks noGrp="1"/>
          </p:cNvSpPr>
          <p:nvPr/>
        </p:nvSpPr>
        <p:spPr>
          <a:xfrm>
            <a:off x="5943600" y="3057017"/>
            <a:ext cx="114300" cy="114300"/>
          </a:xfrm>
          <a:prstGeom prst="ellipse">
            <a:avLst/>
          </a:prstGeom>
          <a:solidFill>
            <a:srgbClr val="D1495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91A82A5-0B0A-4832-922B-359055774D91}"/>
              </a:ext>
            </a:extLst>
          </p:cNvPr>
          <p:cNvSpPr>
            <a:spLocks noGrp="1"/>
          </p:cNvSpPr>
          <p:nvPr/>
        </p:nvSpPr>
        <p:spPr>
          <a:xfrm>
            <a:off x="6076950" y="3018917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never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EEC33DE-610C-4713-A704-76552D15CD30}"/>
              </a:ext>
            </a:extLst>
          </p:cNvPr>
          <p:cNvSpPr>
            <a:spLocks noGrp="1"/>
          </p:cNvSpPr>
          <p:nvPr/>
        </p:nvSpPr>
        <p:spPr>
          <a:xfrm>
            <a:off x="8725853" y="2095500"/>
            <a:ext cx="114300" cy="114300"/>
          </a:xfrm>
          <a:prstGeom prst="ellipse">
            <a:avLst/>
          </a:prstGeom>
          <a:solidFill>
            <a:srgbClr val="C9832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4B56AE-B0D6-4C04-85E8-C7E8043E5FBE}"/>
              </a:ext>
            </a:extLst>
          </p:cNvPr>
          <p:cNvSpPr>
            <a:spLocks noGrp="1"/>
          </p:cNvSpPr>
          <p:nvPr/>
        </p:nvSpPr>
        <p:spPr>
          <a:xfrm>
            <a:off x="8859203" y="2057400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handrule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98685B4-0261-433D-8897-B036F9FB4E14}"/>
              </a:ext>
            </a:extLst>
          </p:cNvPr>
          <p:cNvSpPr>
            <a:spLocks noGrp="1"/>
          </p:cNvSpPr>
          <p:nvPr/>
        </p:nvSpPr>
        <p:spPr>
          <a:xfrm>
            <a:off x="6535102" y="2095500"/>
            <a:ext cx="114300" cy="114300"/>
          </a:xfrm>
          <a:prstGeom prst="ellipse">
            <a:avLst/>
          </a:prstGeom>
          <a:solidFill>
            <a:srgbClr val="2D936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5FA52CE-8671-46C5-87D9-8CF0B16545A0}"/>
              </a:ext>
            </a:extLst>
          </p:cNvPr>
          <p:cNvSpPr>
            <a:spLocks noGrp="1"/>
          </p:cNvSpPr>
          <p:nvPr/>
        </p:nvSpPr>
        <p:spPr>
          <a:xfrm>
            <a:off x="6668452" y="2057400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75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learned@0.2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C28FD5B8-BAF9-437C-8484-47DE0F88CE2B}"/>
              </a:ext>
            </a:extLst>
          </p:cNvPr>
          <p:cNvSpPr>
            <a:spLocks noGrp="1"/>
          </p:cNvSpPr>
          <p:nvPr/>
        </p:nvSpPr>
        <p:spPr>
          <a:xfrm>
            <a:off x="571500" y="5181600"/>
            <a:ext cx="10515600" cy="876300"/>
          </a:xfrm>
          <a:prstGeom prst="roundRect">
            <a:avLst>
              <a:gd name="adj" fmla="val 8696"/>
            </a:avLst>
          </a:prstGeom>
          <a:solidFill>
            <a:srgbClr val="F2FBF7"/>
          </a:solidFill>
          <a:ln w="9525">
            <a:solidFill>
              <a:srgbClr val="D2E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DBC96AA-CDBC-48C7-80A6-2F0B3D4CCE5C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Headline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D56EF29-6CB5-4B69-9CF6-08B1CA7C29FF}"/>
              </a:ext>
            </a:extLst>
          </p:cNvPr>
          <p:cNvSpPr>
            <a:spLocks noGrp="1"/>
          </p:cNvSpPr>
          <p:nvPr/>
        </p:nvSpPr>
        <p:spPr>
          <a:xfrm>
            <a:off x="819150" y="5581650"/>
            <a:ext cx="933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learned@0.2 Pareto-dominates handrule: same 100% success and 33% fewer model calls.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EF1BAE0-B113-4BB7-8D9D-267E2D22232D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819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0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handrule = 3.07 calls   |   learned@0.2 = 2.07 calls   |   no_check rate remains an auxiliary checkpoint audit</a:t>
            </a:r>
          </a:p>
        </p:txBody>
      </p:sp>
    </p:spTree>
    <p:extLst>
      <p:ext uri="{BB962C8B-B14F-4D97-AF65-F5344CB8AC3E}">
        <p14:creationId xmlns:p14="http://schemas.microsoft.com/office/powerpoint/2010/main" val="117253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03E8099-2E0E-4C91-8743-A1BC8DB995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41692F-A968-4590-B174-4A2DD05F4FA7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E682E0-A951-4644-A14B-CEB689C0E964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Core Idea: A Lightweight Observation 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39055-6B8A-4CCA-832E-BFC63F729580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04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446EA0-0223-4B5B-BC26-E9985AF3A755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9520B0-ED32-48F8-BC5C-96FCA382ABEA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17F529-535B-4460-A39F-507936298008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609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Separate planning from observation scheduling.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4DBD458-EF17-43D3-BDA3-3D1599689FCD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1733550" cy="1257300"/>
          </a:xfrm>
          <a:prstGeom prst="roundRect">
            <a:avLst>
              <a:gd name="adj" fmla="val 606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D95AC9-6E51-48AA-A4B6-398378B906EF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1504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Cheap signals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3FCE72-AA38-450F-998C-FE7124B506A5}"/>
              </a:ext>
            </a:extLst>
          </p:cNvPr>
          <p:cNvSpPr>
            <a:spLocks noGrp="1"/>
          </p:cNvSpPr>
          <p:nvPr/>
        </p:nvSpPr>
        <p:spPr>
          <a:xfrm>
            <a:off x="1009650" y="2648146"/>
            <a:ext cx="1352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screen change</a:t>
            </a:r>
          </a:p>
          <a:p>
            <a:pPr algn="ctr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candidate change</a:t>
            </a:r>
          </a:p>
          <a:p>
            <a:pPr algn="ctr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plan age</a:t>
            </a:r>
          </a:p>
          <a:p>
            <a:pPr algn="ctr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confidence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6B988C-33E4-40FE-9788-A4E497CBBD5E}"/>
              </a:ext>
            </a:extLst>
          </p:cNvPr>
          <p:cNvSpPr>
            <a:spLocks noGrp="1"/>
          </p:cNvSpPr>
          <p:nvPr/>
        </p:nvSpPr>
        <p:spPr>
          <a:xfrm>
            <a:off x="3143250" y="2095500"/>
            <a:ext cx="1905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2F8FFF-EA5E-443D-8932-8F4FF8EA1B46}"/>
              </a:ext>
            </a:extLst>
          </p:cNvPr>
          <p:cNvSpPr>
            <a:spLocks noGrp="1"/>
          </p:cNvSpPr>
          <p:nvPr/>
        </p:nvSpPr>
        <p:spPr>
          <a:xfrm>
            <a:off x="3333750" y="23431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Observation gate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E7EC5-E442-4400-9A42-2C836EA2B033}"/>
              </a:ext>
            </a:extLst>
          </p:cNvPr>
          <p:cNvSpPr>
            <a:spLocks noGrp="1"/>
          </p:cNvSpPr>
          <p:nvPr/>
        </p:nvSpPr>
        <p:spPr>
          <a:xfrm>
            <a:off x="3295650" y="2934093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1200" b="1" dirty="0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observe if P(</a:t>
            </a:r>
            <a:r>
              <a:rPr sz="1200" b="1" dirty="0" err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obs</a:t>
            </a:r>
            <a:r>
              <a:rPr sz="1200" b="1" dirty="0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 needed) &gt;= 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BD691F-ADC6-496B-8E36-998D10B30281}"/>
              </a:ext>
            </a:extLst>
          </p:cNvPr>
          <p:cNvSpPr>
            <a:spLocks noGrp="1"/>
          </p:cNvSpPr>
          <p:nvPr/>
        </p:nvSpPr>
        <p:spPr>
          <a:xfrm>
            <a:off x="2552700" y="2743200"/>
            <a:ext cx="552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CE1F7-B217-44B0-86A7-C92569908B1B}"/>
              </a:ext>
            </a:extLst>
          </p:cNvPr>
          <p:cNvSpPr>
            <a:spLocks noGrp="1"/>
          </p:cNvSpPr>
          <p:nvPr/>
        </p:nvSpPr>
        <p:spPr>
          <a:xfrm>
            <a:off x="5048250" y="2743200"/>
            <a:ext cx="552450" cy="19050"/>
          </a:xfrm>
          <a:prstGeom prst="rect">
            <a:avLst/>
          </a:prstGeom>
          <a:solidFill>
            <a:srgbClr val="D8E1ED"/>
          </a:solidFill>
          <a:ln w="0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4B40196-040A-44E9-A259-7811590D9337}"/>
              </a:ext>
            </a:extLst>
          </p:cNvPr>
          <p:cNvSpPr>
            <a:spLocks noGrp="1"/>
          </p:cNvSpPr>
          <p:nvPr/>
        </p:nvSpPr>
        <p:spPr>
          <a:xfrm>
            <a:off x="5600700" y="1809750"/>
            <a:ext cx="1866900" cy="1085850"/>
          </a:xfrm>
          <a:prstGeom prst="roundRect">
            <a:avLst>
              <a:gd name="adj" fmla="val 7018"/>
            </a:avLst>
          </a:prstGeom>
          <a:solidFill>
            <a:srgbClr val="F4FBF6"/>
          </a:solidFill>
          <a:ln w="9525">
            <a:solidFill>
              <a:srgbClr val="D9EF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D96DF-524A-4122-9F85-58693B6F1BDC}"/>
              </a:ext>
            </a:extLst>
          </p:cNvPr>
          <p:cNvSpPr>
            <a:spLocks noGrp="1"/>
          </p:cNvSpPr>
          <p:nvPr/>
        </p:nvSpPr>
        <p:spPr>
          <a:xfrm>
            <a:off x="5876925" y="1945849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D936C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 dirty="0">
                <a:solidFill>
                  <a:srgbClr val="2D936C"/>
                </a:solidFill>
                <a:latin typeface="Nunito Sans ExtraBold"/>
                <a:ea typeface="Nunito Sans ExtraBold"/>
                <a:cs typeface="Nunito Sans ExtraBold"/>
              </a:rPr>
              <a:t>OBSERVE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0FFCAA-005E-4A97-9791-8A95729BA5E2}"/>
              </a:ext>
            </a:extLst>
          </p:cNvPr>
          <p:cNvSpPr>
            <a:spLocks noGrp="1"/>
          </p:cNvSpPr>
          <p:nvPr/>
        </p:nvSpPr>
        <p:spPr>
          <a:xfrm>
            <a:off x="5905500" y="2307799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+1 call</a:t>
            </a:r>
          </a:p>
          <a:p>
            <a:pPr algn="ctr">
              <a:defRPr sz="105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re-plan with fresh DOM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7CA8061-6A77-4BDB-9B97-EEC12102011B}"/>
              </a:ext>
            </a:extLst>
          </p:cNvPr>
          <p:cNvSpPr>
            <a:spLocks noGrp="1"/>
          </p:cNvSpPr>
          <p:nvPr/>
        </p:nvSpPr>
        <p:spPr>
          <a:xfrm>
            <a:off x="5600700" y="3105150"/>
            <a:ext cx="1866900" cy="1085850"/>
          </a:xfrm>
          <a:prstGeom prst="roundRect">
            <a:avLst>
              <a:gd name="adj" fmla="val 7018"/>
            </a:avLst>
          </a:prstGeom>
          <a:solidFill>
            <a:srgbClr val="FFF9F2"/>
          </a:solidFill>
          <a:ln w="9525">
            <a:solidFill>
              <a:srgbClr val="F1DE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A77D8B-25E7-4A7B-B80D-7908D56F23E4}"/>
              </a:ext>
            </a:extLst>
          </p:cNvPr>
          <p:cNvSpPr>
            <a:spLocks noGrp="1"/>
          </p:cNvSpPr>
          <p:nvPr/>
        </p:nvSpPr>
        <p:spPr>
          <a:xfrm>
            <a:off x="6000750" y="3305175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C9832B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C9832B"/>
                </a:solidFill>
                <a:latin typeface="Nunito Sans ExtraBold"/>
                <a:ea typeface="Nunito Sans ExtraBold"/>
                <a:cs typeface="Nunito Sans ExtraBold"/>
              </a:rPr>
              <a:t>COAST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2FD778-078B-4CDA-BB45-844DE6480B23}"/>
              </a:ext>
            </a:extLst>
          </p:cNvPr>
          <p:cNvSpPr>
            <a:spLocks noGrp="1"/>
          </p:cNvSpPr>
          <p:nvPr/>
        </p:nvSpPr>
        <p:spPr>
          <a:xfrm>
            <a:off x="5905500" y="3667125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+0 calls</a:t>
            </a:r>
          </a:p>
          <a:p>
            <a:pPr algn="ctr">
              <a:defRPr sz="1050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1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reuse current plan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37B757F-5FAE-44FA-8AE6-4EA41D5E420A}"/>
              </a:ext>
            </a:extLst>
          </p:cNvPr>
          <p:cNvSpPr>
            <a:spLocks noGrp="1"/>
          </p:cNvSpPr>
          <p:nvPr/>
        </p:nvSpPr>
        <p:spPr>
          <a:xfrm>
            <a:off x="8058150" y="1866900"/>
            <a:ext cx="2743200" cy="2324100"/>
          </a:xfrm>
          <a:prstGeom prst="roundRect">
            <a:avLst>
              <a:gd name="adj" fmla="val 4082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281D5-8127-40B2-A496-77DCE86EC7A0}"/>
              </a:ext>
            </a:extLst>
          </p:cNvPr>
          <p:cNvSpPr>
            <a:spLocks noGrp="1"/>
          </p:cNvSpPr>
          <p:nvPr/>
        </p:nvSpPr>
        <p:spPr>
          <a:xfrm>
            <a:off x="8839200" y="2171700"/>
            <a:ext cx="1181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7C7D9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B7C7D9"/>
                </a:solidFill>
                <a:latin typeface="Nunito Sans"/>
                <a:ea typeface="Nunito Sans"/>
                <a:cs typeface="Nunito Sans"/>
              </a:rPr>
              <a:t>Auxiliary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2063A4-BB11-4EFD-8CA0-01930FB3B6BF}"/>
              </a:ext>
            </a:extLst>
          </p:cNvPr>
          <p:cNvSpPr>
            <a:spLocks noGrp="1"/>
          </p:cNvSpPr>
          <p:nvPr/>
        </p:nvSpPr>
        <p:spPr>
          <a:xfrm>
            <a:off x="8572500" y="25336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9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no_check rate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A33358-F70A-4EFC-8DB6-0D43D4FA3B07}"/>
              </a:ext>
            </a:extLst>
          </p:cNvPr>
          <p:cNvSpPr>
            <a:spLocks noGrp="1"/>
          </p:cNvSpPr>
          <p:nvPr/>
        </p:nvSpPr>
        <p:spPr>
          <a:xfrm>
            <a:off x="8458200" y="2971800"/>
            <a:ext cx="1943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rPr>
              <a:t>Fraction of checkpoint actions</a:t>
            </a:r>
          </a:p>
          <a:p>
            <a:pPr algn="ctr">
              <a:def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rPr>
              <a:t>executed without a fresh DOM read</a:t>
            </a:r>
          </a:p>
          <a:p>
            <a:pPr algn="ctr">
              <a:def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D9E4F0"/>
                </a:solidFill>
                <a:latin typeface="Nunito Sans"/>
                <a:ea typeface="Nunito Sans"/>
                <a:cs typeface="Nunito Sans"/>
              </a:rPr>
              <a:t>immediately beforehand.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A51073-E77B-4CE8-9427-31FEAE945A69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971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Oracle label: would coasting have changed the next action?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320785-539E-43FD-9D73-AB1F1DD7897F}"/>
              </a:ext>
            </a:extLst>
          </p:cNvPr>
          <p:cNvSpPr>
            <a:spLocks noGrp="1"/>
          </p:cNvSpPr>
          <p:nvPr/>
        </p:nvSpPr>
        <p:spPr>
          <a:xfrm>
            <a:off x="571500" y="5200650"/>
            <a:ext cx="971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Train logistic or shallow MLP on these cheap signals only.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282A9B-CBA3-4799-B430-13CC544F82C8}"/>
              </a:ext>
            </a:extLst>
          </p:cNvPr>
          <p:cNvSpPr>
            <a:spLocks noGrp="1"/>
          </p:cNvSpPr>
          <p:nvPr/>
        </p:nvSpPr>
        <p:spPr>
          <a:xfrm>
            <a:off x="571500" y="5486400"/>
            <a:ext cx="971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Evaluate always, never, handrule, and learned@T on the same agent.</a:t>
            </a:r>
          </a:p>
        </p:txBody>
      </p:sp>
    </p:spTree>
    <p:extLst>
      <p:ext uri="{BB962C8B-B14F-4D97-AF65-F5344CB8AC3E}">
        <p14:creationId xmlns:p14="http://schemas.microsoft.com/office/powerpoint/2010/main" val="7097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23C8D0C-D065-4658-B4D5-64C056646D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0B615-38A1-4AA0-ADF2-A12BE0703BA0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60D7A-082C-4C97-AE25-7645E079CEAE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Task Suite: 15 Tasks Across 4 Families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EF0F50-3D57-49E8-9AE2-9A557E230EC3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05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7F08A3-EB85-43C5-872E-5CB48C21F74A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BB524A-E040-48F5-987C-B950DA5E7C0C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98F42-F138-41E3-BA6E-44D35F2D7BB9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suite mixes easy control cases with the exact blind spots where hand-coded change detectors fail.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2A5B2D-15DF-4D4C-A23B-D61AFED5EFBA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22F8A-8BC6-4352-84FF-7C24E5790BB3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257175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1C6C-5CF0-42AB-83D8-AECCE3FB862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static_baseline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D7272D-7F69-4F95-B8B0-14C2AAE0B148}"/>
              </a:ext>
            </a:extLst>
          </p:cNvPr>
          <p:cNvSpPr>
            <a:spLocks noGrp="1"/>
          </p:cNvSpPr>
          <p:nvPr/>
        </p:nvSpPr>
        <p:spPr>
          <a:xfrm>
            <a:off x="2381250" y="22669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A6CAA5-AD21-4936-9A7A-6A5CA5BCFB60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stable workflows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F8E227-190F-47B0-9D02-DEBF925215B8}"/>
              </a:ext>
            </a:extLst>
          </p:cNvPr>
          <p:cNvSpPr>
            <a:spLocks noGrp="1"/>
          </p:cNvSpPr>
          <p:nvPr/>
        </p:nvSpPr>
        <p:spPr>
          <a:xfrm>
            <a:off x="742950" y="30861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control group for coasting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3E38E-AA91-4D85-AE62-8E0675360846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send email, rename file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5F8C7F9-238A-4B85-901B-E8DCF8E1B2E3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4C3E44-B7DD-48C7-B641-34181CB89182}"/>
              </a:ext>
            </a:extLst>
          </p:cNvPr>
          <p:cNvSpPr>
            <a:spLocks noGrp="1"/>
          </p:cNvSpPr>
          <p:nvPr/>
        </p:nvSpPr>
        <p:spPr>
          <a:xfrm>
            <a:off x="857250" y="44005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No async surprise; tests routine savings.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CC20B7-3E29-4E07-9997-6F7CAB3A3F44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F3136B-D0F2-4B8F-ABF9-AAEE8CE45970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571750" cy="57150"/>
          </a:xfrm>
          <a:prstGeom prst="rect">
            <a:avLst/>
          </a:prstGeom>
          <a:solidFill>
            <a:srgbClr val="12799B"/>
          </a:solidFill>
          <a:ln w="0">
            <a:solidFill>
              <a:srgbClr val="1279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011494-0826-4B6A-B990-A66DA934A5F3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async_results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D019F0-48EC-4523-9FD7-9BB847156B4F}"/>
              </a:ext>
            </a:extLst>
          </p:cNvPr>
          <p:cNvSpPr>
            <a:spLocks noGrp="1"/>
          </p:cNvSpPr>
          <p:nvPr/>
        </p:nvSpPr>
        <p:spPr>
          <a:xfrm>
            <a:off x="5143500" y="22669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12799B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2799B"/>
                </a:solidFill>
                <a:latin typeface="Nunito Sans ExtraBold"/>
                <a:ea typeface="Nunito Sans ExtraBold"/>
                <a:cs typeface="Nunito Sans ExtraBold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9BE0BF-D311-4B80-8105-FBF778B6A156}"/>
              </a:ext>
            </a:extLst>
          </p:cNvPr>
          <p:cNvSpPr>
            <a:spLocks noGrp="1"/>
          </p:cNvSpPr>
          <p:nvPr/>
        </p:nvSpPr>
        <p:spPr>
          <a:xfrm>
            <a:off x="3505200" y="28194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visible loading delay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9E3708-F438-49BB-8EA6-FEF0823A3DF5}"/>
              </a:ext>
            </a:extLst>
          </p:cNvPr>
          <p:cNvSpPr>
            <a:spLocks noGrp="1"/>
          </p:cNvSpPr>
          <p:nvPr/>
        </p:nvSpPr>
        <p:spPr>
          <a:xfrm>
            <a:off x="3505200" y="30861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screen change is detectable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3C47BC-D38D-4F3F-B6FE-2B7DD2766AD7}"/>
              </a:ext>
            </a:extLst>
          </p:cNvPr>
          <p:cNvSpPr>
            <a:spLocks noGrp="1"/>
          </p:cNvSpPr>
          <p:nvPr/>
        </p:nvSpPr>
        <p:spPr>
          <a:xfrm>
            <a:off x="3505200" y="33528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handrule should fire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8465AA3-85F8-4E8A-AE59-15738C6A2D34}"/>
              </a:ext>
            </a:extLst>
          </p:cNvPr>
          <p:cNvSpPr>
            <a:spLocks noGrp="1"/>
          </p:cNvSpPr>
          <p:nvPr/>
        </p:nvSpPr>
        <p:spPr>
          <a:xfrm>
            <a:off x="3505200" y="424815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37A8D4-ECED-4E37-8ABF-933D384BC611}"/>
              </a:ext>
            </a:extLst>
          </p:cNvPr>
          <p:cNvSpPr>
            <a:spLocks noGrp="1"/>
          </p:cNvSpPr>
          <p:nvPr/>
        </p:nvSpPr>
        <p:spPr>
          <a:xfrm>
            <a:off x="3619500" y="44005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Good for checking that the gate does not under-observe.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CADC836-E7C8-47EB-B887-65C1BA4DC5E1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7CF6B3-D232-481A-8335-A2F34F75A416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2571750" cy="57150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F3976C-3DFC-49AB-9504-C448416CC4F1}"/>
              </a:ext>
            </a:extLst>
          </p:cNvPr>
          <p:cNvSpPr>
            <a:spLocks noGrp="1"/>
          </p:cNvSpPr>
          <p:nvPr/>
        </p:nvSpPr>
        <p:spPr>
          <a:xfrm>
            <a:off x="6267450" y="22669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value_drift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3B236D-9C71-496D-8E5D-FBDE22870102}"/>
              </a:ext>
            </a:extLst>
          </p:cNvPr>
          <p:cNvSpPr>
            <a:spLocks noGrp="1"/>
          </p:cNvSpPr>
          <p:nvPr/>
        </p:nvSpPr>
        <p:spPr>
          <a:xfrm>
            <a:off x="7905750" y="22669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D1495B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D1495B"/>
                </a:solidFill>
                <a:latin typeface="Nunito Sans ExtraBold"/>
                <a:ea typeface="Nunito Sans ExtraBold"/>
                <a:cs typeface="Nunito Sans ExtraBold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EF9341-AB9C-4868-BF45-AE126596DDE9}"/>
              </a:ext>
            </a:extLst>
          </p:cNvPr>
          <p:cNvSpPr>
            <a:spLocks noGrp="1"/>
          </p:cNvSpPr>
          <p:nvPr/>
        </p:nvSpPr>
        <p:spPr>
          <a:xfrm>
            <a:off x="6267450" y="28194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field value changes silently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4AE3EF-5DAA-49BC-8398-41B9C68A0EC2}"/>
              </a:ext>
            </a:extLst>
          </p:cNvPr>
          <p:cNvSpPr>
            <a:spLocks noGrp="1"/>
          </p:cNvSpPr>
          <p:nvPr/>
        </p:nvSpPr>
        <p:spPr>
          <a:xfrm>
            <a:off x="6267450" y="30861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selector set stays constant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8B5FF6-678E-49DB-80B8-592A52E835E4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handrule gets no signal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150681-80CE-4683-A24C-F52324E4B49C}"/>
              </a:ext>
            </a:extLst>
          </p:cNvPr>
          <p:cNvSpPr>
            <a:spLocks noGrp="1"/>
          </p:cNvSpPr>
          <p:nvPr/>
        </p:nvSpPr>
        <p:spPr>
          <a:xfrm>
            <a:off x="6267450" y="424815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1C9349-A450-43A2-B879-B6B482D60A13}"/>
              </a:ext>
            </a:extLst>
          </p:cNvPr>
          <p:cNvSpPr>
            <a:spLocks noGrp="1"/>
          </p:cNvSpPr>
          <p:nvPr/>
        </p:nvSpPr>
        <p:spPr>
          <a:xfrm>
            <a:off x="6381750" y="44005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The key blind spot: stale value, no visible structural change.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60304C9-CD0D-4EA2-AC60-8A7727D89C68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016888-E331-48A6-8120-B2B6946B0620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571750" cy="57150"/>
          </a:xfrm>
          <a:prstGeom prst="rect">
            <a:avLst/>
          </a:prstGeom>
          <a:solidFill>
            <a:srgbClr val="8B5CF6"/>
          </a:solidFill>
          <a:ln w="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B65189-82AE-4B46-B285-8BBF1923A2DB}"/>
              </a:ext>
            </a:extLst>
          </p:cNvPr>
          <p:cNvSpPr>
            <a:spLocks noGrp="1"/>
          </p:cNvSpPr>
          <p:nvPr/>
        </p:nvSpPr>
        <p:spPr>
          <a:xfrm>
            <a:off x="9029700" y="22669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delayed_options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60F4AD-773B-428A-9E96-DB519F35BD85}"/>
              </a:ext>
            </a:extLst>
          </p:cNvPr>
          <p:cNvSpPr>
            <a:spLocks noGrp="1"/>
          </p:cNvSpPr>
          <p:nvPr/>
        </p:nvSpPr>
        <p:spPr>
          <a:xfrm>
            <a:off x="10668000" y="226695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8B5CF6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8B5CF6"/>
                </a:solidFill>
                <a:latin typeface="Nunito Sans ExtraBold"/>
                <a:ea typeface="Nunito Sans ExtraBold"/>
                <a:cs typeface="Nunito Sans ExtraBold"/>
              </a:rPr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5F3ADB-BE1E-4282-A8CB-7EF581C7B27A}"/>
              </a:ext>
            </a:extLst>
          </p:cNvPr>
          <p:cNvSpPr>
            <a:spLocks noGrp="1"/>
          </p:cNvSpPr>
          <p:nvPr/>
        </p:nvSpPr>
        <p:spPr>
          <a:xfrm>
            <a:off x="9029700" y="28194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right option appears later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4856F3-4E12-49CA-9AE2-AAEBB0572810}"/>
              </a:ext>
            </a:extLst>
          </p:cNvPr>
          <p:cNvSpPr>
            <a:spLocks noGrp="1"/>
          </p:cNvSpPr>
          <p:nvPr/>
        </p:nvSpPr>
        <p:spPr>
          <a:xfrm>
            <a:off x="9029700" y="30861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same dropdown selector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05AD9C-D6D2-4511-B7DE-B23EEA281A02}"/>
              </a:ext>
            </a:extLst>
          </p:cNvPr>
          <p:cNvSpPr>
            <a:spLocks noGrp="1"/>
          </p:cNvSpPr>
          <p:nvPr/>
        </p:nvSpPr>
        <p:spPr>
          <a:xfrm>
            <a:off x="9029700" y="335280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stale index is dangerous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088F27D-3CD8-4155-A6A2-3E036FB2B2D7}"/>
              </a:ext>
            </a:extLst>
          </p:cNvPr>
          <p:cNvSpPr>
            <a:spLocks noGrp="1"/>
          </p:cNvSpPr>
          <p:nvPr/>
        </p:nvSpPr>
        <p:spPr>
          <a:xfrm>
            <a:off x="9029700" y="424815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DD0DF3-79DE-4A36-8082-C7175E7BCE3B}"/>
              </a:ext>
            </a:extLst>
          </p:cNvPr>
          <p:cNvSpPr>
            <a:spLocks noGrp="1"/>
          </p:cNvSpPr>
          <p:nvPr/>
        </p:nvSpPr>
        <p:spPr>
          <a:xfrm>
            <a:off x="9144000" y="44005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Tests option-level staleness, not whole-page change.</a:t>
            </a:r>
          </a:p>
        </p:txBody>
      </p:sp>
    </p:spTree>
    <p:extLst>
      <p:ext uri="{BB962C8B-B14F-4D97-AF65-F5344CB8AC3E}">
        <p14:creationId xmlns:p14="http://schemas.microsoft.com/office/powerpoint/2010/main" val="2033037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456B546-B5BA-49D5-B4C9-5F13B0BE57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D34DDB-7FF5-47EC-BD89-84A4FF93B7CF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9850A0-54F6-4B5C-82E3-857C04B41A15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Oracle Labels and Gate 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EF5D55-D715-4D64-A73D-816F05E14E8D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06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2F376-11CB-4618-A1CF-35C3D4F7EEBC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05508-FBF3-4311-94A4-D9C26DF1A7BB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22E19B-38AA-45A2-A7E3-11D0080DC70E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Observation is supervised as a local decision problem.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74A087-2E39-45D2-BC91-C7977EAC6235}"/>
              </a:ext>
            </a:extLst>
          </p:cNvPr>
          <p:cNvSpPr>
            <a:spLocks noGrp="1"/>
          </p:cNvSpPr>
          <p:nvPr/>
        </p:nvSpPr>
        <p:spPr>
          <a:xfrm>
            <a:off x="571500" y="1990725"/>
            <a:ext cx="4953000" cy="34671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433F29-89ED-42B3-8E9C-56505A68E357}"/>
              </a:ext>
            </a:extLst>
          </p:cNvPr>
          <p:cNvSpPr>
            <a:spLocks noGrp="1"/>
          </p:cNvSpPr>
          <p:nvPr/>
        </p:nvSpPr>
        <p:spPr>
          <a:xfrm>
            <a:off x="819150" y="221932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Oracle label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76BC3C-2FC1-4DAA-B706-9BB9EA17CBE9}"/>
              </a:ext>
            </a:extLst>
          </p:cNvPr>
          <p:cNvSpPr>
            <a:spLocks noGrp="1"/>
          </p:cNvSpPr>
          <p:nvPr/>
        </p:nvSpPr>
        <p:spPr>
          <a:xfrm>
            <a:off x="819150" y="2562225"/>
            <a:ext cx="41719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label = 1  if the coasted action differs from the freshly verified action</a:t>
            </a:r>
          </a:p>
          <a:p>
            <a:pPr algn="l">
              <a:def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5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label = 0  if the carried plan still matches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848F47-CB67-4541-B786-6A8AD607FCA0}"/>
              </a:ext>
            </a:extLst>
          </p:cNvPr>
          <p:cNvSpPr>
            <a:spLocks noGrp="1"/>
          </p:cNvSpPr>
          <p:nvPr/>
        </p:nvSpPr>
        <p:spPr>
          <a:xfrm>
            <a:off x="819150" y="3438525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DAgger-style oracle collection under always-observe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E0332-BDA2-4F04-A238-8606FA430E10}"/>
              </a:ext>
            </a:extLst>
          </p:cNvPr>
          <p:cNvSpPr>
            <a:spLocks noGrp="1"/>
          </p:cNvSpPr>
          <p:nvPr/>
        </p:nvSpPr>
        <p:spPr>
          <a:xfrm>
            <a:off x="819150" y="3724275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positive label rate = 0.5617, so the task surface is learnable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6F6C4E-BFE6-4F5A-BD8B-22929C2868FB}"/>
              </a:ext>
            </a:extLst>
          </p:cNvPr>
          <p:cNvSpPr>
            <a:spLocks noGrp="1"/>
          </p:cNvSpPr>
          <p:nvPr/>
        </p:nvSpPr>
        <p:spPr>
          <a:xfrm>
            <a:off x="819150" y="4010025"/>
            <a:ext cx="419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same agent, same action space, only the observation gate changes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5DD877-8268-4F4D-BBD7-A915C0A520B6}"/>
              </a:ext>
            </a:extLst>
          </p:cNvPr>
          <p:cNvSpPr>
            <a:spLocks noGrp="1"/>
          </p:cNvSpPr>
          <p:nvPr/>
        </p:nvSpPr>
        <p:spPr>
          <a:xfrm>
            <a:off x="6115050" y="1990725"/>
            <a:ext cx="4972050" cy="34671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D2956C-8ED8-48FB-9CCE-08E790180C79}"/>
              </a:ext>
            </a:extLst>
          </p:cNvPr>
          <p:cNvSpPr>
            <a:spLocks noGrp="1"/>
          </p:cNvSpPr>
          <p:nvPr/>
        </p:nvSpPr>
        <p:spPr>
          <a:xfrm>
            <a:off x="6362700" y="2219325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Held-out decision metrics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DFCB33-CB4B-4DEF-9127-24CECFFFD020}"/>
              </a:ext>
            </a:extLst>
          </p:cNvPr>
          <p:cNvSpPr>
            <a:spLocks noGrp="1"/>
          </p:cNvSpPr>
          <p:nvPr/>
        </p:nvSpPr>
        <p:spPr>
          <a:xfrm>
            <a:off x="6362700" y="2562225"/>
            <a:ext cx="139065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E2F524-8594-4150-8EE1-68112514F859}"/>
              </a:ext>
            </a:extLst>
          </p:cNvPr>
          <p:cNvSpPr>
            <a:spLocks noGrp="1"/>
          </p:cNvSpPr>
          <p:nvPr/>
        </p:nvSpPr>
        <p:spPr>
          <a:xfrm>
            <a:off x="6362700" y="2562225"/>
            <a:ext cx="1390650" cy="57150"/>
          </a:xfrm>
          <a:prstGeom prst="rect">
            <a:avLst/>
          </a:prstGeom>
          <a:solidFill>
            <a:srgbClr val="C9832B"/>
          </a:solidFill>
          <a:ln w="0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7D872C-7893-46C1-B97E-012CDDAF3096}"/>
              </a:ext>
            </a:extLst>
          </p:cNvPr>
          <p:cNvSpPr>
            <a:spLocks noGrp="1"/>
          </p:cNvSpPr>
          <p:nvPr/>
        </p:nvSpPr>
        <p:spPr>
          <a:xfrm>
            <a:off x="6534150" y="273367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69.7%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9E3D5A-65F3-4B9A-99D6-535D5626BC40}"/>
              </a:ext>
            </a:extLst>
          </p:cNvPr>
          <p:cNvSpPr>
            <a:spLocks noGrp="1"/>
          </p:cNvSpPr>
          <p:nvPr/>
        </p:nvSpPr>
        <p:spPr>
          <a:xfrm>
            <a:off x="6534150" y="315277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handrule acc.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FF80AD4-8BF5-4BF9-852C-6FCC7F938DF9}"/>
              </a:ext>
            </a:extLst>
          </p:cNvPr>
          <p:cNvSpPr>
            <a:spLocks noGrp="1"/>
          </p:cNvSpPr>
          <p:nvPr/>
        </p:nvSpPr>
        <p:spPr>
          <a:xfrm>
            <a:off x="7905750" y="2562225"/>
            <a:ext cx="139065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B66392-A757-48F5-9CA7-A7DF08507F41}"/>
              </a:ext>
            </a:extLst>
          </p:cNvPr>
          <p:cNvSpPr>
            <a:spLocks noGrp="1"/>
          </p:cNvSpPr>
          <p:nvPr/>
        </p:nvSpPr>
        <p:spPr>
          <a:xfrm>
            <a:off x="7905750" y="2562225"/>
            <a:ext cx="1390650" cy="57150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97176-B0D8-485F-93EA-857B76D7F318}"/>
              </a:ext>
            </a:extLst>
          </p:cNvPr>
          <p:cNvSpPr>
            <a:spLocks noGrp="1"/>
          </p:cNvSpPr>
          <p:nvPr/>
        </p:nvSpPr>
        <p:spPr>
          <a:xfrm>
            <a:off x="8077200" y="273367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90.9%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4064E8-794A-474C-8EB5-7A9E024A376C}"/>
              </a:ext>
            </a:extLst>
          </p:cNvPr>
          <p:cNvSpPr>
            <a:spLocks noGrp="1"/>
          </p:cNvSpPr>
          <p:nvPr/>
        </p:nvSpPr>
        <p:spPr>
          <a:xfrm>
            <a:off x="8077200" y="315277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full gate acc.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B220F8D-8889-4457-8EB2-E88359F6B458}"/>
              </a:ext>
            </a:extLst>
          </p:cNvPr>
          <p:cNvSpPr>
            <a:spLocks noGrp="1"/>
          </p:cNvSpPr>
          <p:nvPr/>
        </p:nvSpPr>
        <p:spPr>
          <a:xfrm>
            <a:off x="9448800" y="2562225"/>
            <a:ext cx="1390650" cy="1028700"/>
          </a:xfrm>
          <a:prstGeom prst="roundRect">
            <a:avLst>
              <a:gd name="adj" fmla="val 7407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96EED0-9053-4F32-9444-0AF6C8334740}"/>
              </a:ext>
            </a:extLst>
          </p:cNvPr>
          <p:cNvSpPr>
            <a:spLocks noGrp="1"/>
          </p:cNvSpPr>
          <p:nvPr/>
        </p:nvSpPr>
        <p:spPr>
          <a:xfrm>
            <a:off x="9448800" y="2562225"/>
            <a:ext cx="139065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424B44-533D-45A7-8218-D193AB57B727}"/>
              </a:ext>
            </a:extLst>
          </p:cNvPr>
          <p:cNvSpPr>
            <a:spLocks noGrp="1"/>
          </p:cNvSpPr>
          <p:nvPr/>
        </p:nvSpPr>
        <p:spPr>
          <a:xfrm>
            <a:off x="9620250" y="273367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97.0%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6BFBFC-E133-4C1B-B5C3-8ED779B9040B}"/>
              </a:ext>
            </a:extLst>
          </p:cNvPr>
          <p:cNvSpPr>
            <a:spLocks noGrp="1"/>
          </p:cNvSpPr>
          <p:nvPr/>
        </p:nvSpPr>
        <p:spPr>
          <a:xfrm>
            <a:off x="9620250" y="315277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compact gate acc.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A63C99-6AAE-4A5C-9149-803B5D92E2E6}"/>
              </a:ext>
            </a:extLst>
          </p:cNvPr>
          <p:cNvSpPr>
            <a:spLocks noGrp="1"/>
          </p:cNvSpPr>
          <p:nvPr/>
        </p:nvSpPr>
        <p:spPr>
          <a:xfrm>
            <a:off x="6477000" y="3952875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Auto-select chose logistic over MLP.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482989-0747-4E9B-B7E9-8ED38D0E6570}"/>
              </a:ext>
            </a:extLst>
          </p:cNvPr>
          <p:cNvSpPr>
            <a:spLocks noGrp="1"/>
          </p:cNvSpPr>
          <p:nvPr/>
        </p:nvSpPr>
        <p:spPr>
          <a:xfrm>
            <a:off x="6477000" y="4238625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False-skip drops from 12.1% (handrule) to 3.0% (full or compact).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6E6321-2CD5-4989-9B8E-1943C64F5092}"/>
              </a:ext>
            </a:extLst>
          </p:cNvPr>
          <p:cNvSpPr>
            <a:spLocks noGrp="1"/>
          </p:cNvSpPr>
          <p:nvPr/>
        </p:nvSpPr>
        <p:spPr>
          <a:xfrm>
            <a:off x="6477000" y="4709386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00" b="0" dirty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Compact gate shows the result is not just feature bloat.</a:t>
            </a:r>
          </a:p>
        </p:txBody>
      </p:sp>
    </p:spTree>
    <p:extLst>
      <p:ext uri="{BB962C8B-B14F-4D97-AF65-F5344CB8AC3E}">
        <p14:creationId xmlns:p14="http://schemas.microsoft.com/office/powerpoint/2010/main" val="152196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ABB495-86BD-449B-96F4-977E3475DFF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41A94D-4293-472E-A6FD-AA9C9465C9E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Feature Ablation: Full vs Compact Gate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1393E-092F-494D-9231-38AC97BEC257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07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222584-1622-4816-AD51-DAE464A60D9D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D76BB-9F5A-4544-9BA5-ED1B0E1A9C5A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C52258-C98F-4A95-BD97-0E4AE8E2168C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learned result survives a much smaller feature set.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AFFD9C-006D-4964-8903-B6D66B0300AF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9530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77BECF-BAF6-4C38-9348-1FC92D7A2FD9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953000" cy="57150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F15455-8176-49DB-B03E-BB27D03BE656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7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Full logistic gate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1DE1FE-7210-4251-AFE5-F7CCA1E2897E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14 non-bias features + bias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7E8951-8FAE-46EA-8AAB-6400E4E8AAF4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940D07-DB6F-4D1D-B18F-C9BE256BC3EB}"/>
              </a:ext>
            </a:extLst>
          </p:cNvPr>
          <p:cNvSpPr>
            <a:spLocks noGrp="1"/>
          </p:cNvSpPr>
          <p:nvPr/>
        </p:nvSpPr>
        <p:spPr>
          <a:xfrm>
            <a:off x="100965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no_plan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3125D6-26C0-4630-B0A9-FCD169305621}"/>
              </a:ext>
            </a:extLst>
          </p:cNvPr>
          <p:cNvSpPr>
            <a:spLocks noGrp="1"/>
          </p:cNvSpPr>
          <p:nvPr/>
        </p:nvSpPr>
        <p:spPr>
          <a:xfrm>
            <a:off x="238125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B19E68-8245-4A3E-B67F-BB8AC5161DB1}"/>
              </a:ext>
            </a:extLst>
          </p:cNvPr>
          <p:cNvSpPr>
            <a:spLocks noGrp="1"/>
          </p:cNvSpPr>
          <p:nvPr/>
        </p:nvSpPr>
        <p:spPr>
          <a:xfrm>
            <a:off x="247650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screen_changed_last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1E8B0B1-8C59-4C90-84D0-570856F06E63}"/>
              </a:ext>
            </a:extLst>
          </p:cNvPr>
          <p:cNvSpPr>
            <a:spLocks noGrp="1"/>
          </p:cNvSpPr>
          <p:nvPr/>
        </p:nvSpPr>
        <p:spPr>
          <a:xfrm>
            <a:off x="384810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7E2548-ECB0-43A2-80E7-39ED8F6012F8}"/>
              </a:ext>
            </a:extLst>
          </p:cNvPr>
          <p:cNvSpPr>
            <a:spLocks noGrp="1"/>
          </p:cNvSpPr>
          <p:nvPr/>
        </p:nvSpPr>
        <p:spPr>
          <a:xfrm>
            <a:off x="394335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candidates_changed_last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C11544C-1DF0-4B4D-B1C0-EE4E07545B7B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899864-2FCC-4ED0-909B-1167EFE05852}"/>
              </a:ext>
            </a:extLst>
          </p:cNvPr>
          <p:cNvSpPr>
            <a:spLocks noGrp="1"/>
          </p:cNvSpPr>
          <p:nvPr/>
        </p:nvSpPr>
        <p:spPr>
          <a:xfrm>
            <a:off x="1009650" y="3495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steps_since_observe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C4CFF24-AE9C-4A9A-8485-9101E565A13D}"/>
              </a:ext>
            </a:extLst>
          </p:cNvPr>
          <p:cNvSpPr>
            <a:spLocks noGrp="1"/>
          </p:cNvSpPr>
          <p:nvPr/>
        </p:nvSpPr>
        <p:spPr>
          <a:xfrm>
            <a:off x="2381250" y="342900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3FBF8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96EB1F-F321-41A1-A003-C45BA758B284}"/>
              </a:ext>
            </a:extLst>
          </p:cNvPr>
          <p:cNvSpPr>
            <a:spLocks noGrp="1"/>
          </p:cNvSpPr>
          <p:nvPr/>
        </p:nvSpPr>
        <p:spPr>
          <a:xfrm>
            <a:off x="2476500" y="3495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remaining_plan_len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3D0309A-949E-488C-8AEE-15A9429217AA}"/>
              </a:ext>
            </a:extLst>
          </p:cNvPr>
          <p:cNvSpPr>
            <a:spLocks noGrp="1"/>
          </p:cNvSpPr>
          <p:nvPr/>
        </p:nvSpPr>
        <p:spPr>
          <a:xfrm>
            <a:off x="3848100" y="342900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26F2AA-E3A8-4A11-8957-AEC1DC6AF14F}"/>
              </a:ext>
            </a:extLst>
          </p:cNvPr>
          <p:cNvSpPr>
            <a:spLocks noGrp="1"/>
          </p:cNvSpPr>
          <p:nvPr/>
        </p:nvSpPr>
        <p:spPr>
          <a:xfrm>
            <a:off x="3943350" y="349567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lang="en-US" altLang="zh-CN" sz="825" b="1" dirty="0" err="1"/>
              <a:t>next_action_type</a:t>
            </a:r>
            <a:r>
              <a:rPr lang="en-US" altLang="zh-CN" sz="825" b="1" dirty="0"/>
              <a:t> ×4</a:t>
            </a:r>
            <a:endParaRPr sz="825" b="1" dirty="0">
              <a:solidFill>
                <a:srgbClr val="102A43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8FE2D5A-FCF3-4B75-B04D-1CDDBD8DF20A}"/>
              </a:ext>
            </a:extLst>
          </p:cNvPr>
          <p:cNvSpPr>
            <a:spLocks noGrp="1"/>
          </p:cNvSpPr>
          <p:nvPr/>
        </p:nvSpPr>
        <p:spPr>
          <a:xfrm>
            <a:off x="914400" y="37909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33DDB6-4564-4E64-80A9-808C4956C8C7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lang="en-US" sz="825" b="1" dirty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risk flags ×3</a:t>
            </a:r>
            <a:endParaRPr sz="825" b="1" dirty="0">
              <a:solidFill>
                <a:srgbClr val="102A43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4A1F317-E007-4E6D-B481-1ABDD35789C8}"/>
              </a:ext>
            </a:extLst>
          </p:cNvPr>
          <p:cNvSpPr>
            <a:spLocks noGrp="1"/>
          </p:cNvSpPr>
          <p:nvPr/>
        </p:nvSpPr>
        <p:spPr>
          <a:xfrm>
            <a:off x="2381250" y="37909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42EAF2-E96F-423E-A848-FE8C998BD7B4}"/>
              </a:ext>
            </a:extLst>
          </p:cNvPr>
          <p:cNvSpPr>
            <a:spLocks noGrp="1"/>
          </p:cNvSpPr>
          <p:nvPr/>
        </p:nvSpPr>
        <p:spPr>
          <a:xfrm>
            <a:off x="2476500" y="38576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verbalized_confidence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11E5C21-482F-4974-B15A-2B0317D53CB1}"/>
              </a:ext>
            </a:extLst>
          </p:cNvPr>
          <p:cNvSpPr>
            <a:spLocks noGrp="1"/>
          </p:cNvSpPr>
          <p:nvPr/>
        </p:nvSpPr>
        <p:spPr>
          <a:xfrm>
            <a:off x="3848100" y="37909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D02F1F-636A-4D80-902B-0C13AC2560A9}"/>
              </a:ext>
            </a:extLst>
          </p:cNvPr>
          <p:cNvSpPr>
            <a:spLocks noGrp="1"/>
          </p:cNvSpPr>
          <p:nvPr/>
        </p:nvSpPr>
        <p:spPr>
          <a:xfrm>
            <a:off x="3943350" y="38576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needs_observation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48B028-E698-41B0-ADF7-A35CEC93500D}"/>
              </a:ext>
            </a:extLst>
          </p:cNvPr>
          <p:cNvSpPr>
            <a:spLocks noGrp="1"/>
          </p:cNvSpPr>
          <p:nvPr/>
        </p:nvSpPr>
        <p:spPr>
          <a:xfrm>
            <a:off x="914400" y="46482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Live best point: learned@0.2 = 100% success, 2.07 calls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DB0E00-FD4C-4A91-80B6-A7439D5B835A}"/>
              </a:ext>
            </a:extLst>
          </p:cNvPr>
          <p:cNvSpPr>
            <a:spLocks noGrp="1"/>
          </p:cNvSpPr>
          <p:nvPr/>
        </p:nvSpPr>
        <p:spPr>
          <a:xfrm>
            <a:off x="914400" y="5162549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Default mainline because the threshold sweep stays slightly steadier in live evaluation.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0B17AF2-6153-48B9-8DC9-8620BE115161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9530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59AA62-9677-4A44-9A1D-EF73F28EDEFF}"/>
              </a:ext>
            </a:extLst>
          </p:cNvPr>
          <p:cNvSpPr>
            <a:spLocks noGrp="1"/>
          </p:cNvSpPr>
          <p:nvPr/>
        </p:nvSpPr>
        <p:spPr>
          <a:xfrm>
            <a:off x="6134100" y="2000250"/>
            <a:ext cx="495300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2B4079-EA14-42B2-B383-ACCD658FF657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7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Compact core gate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E245F11-CAA3-44DA-8683-5A3881F08E82}"/>
              </a:ext>
            </a:extLst>
          </p:cNvPr>
          <p:cNvSpPr>
            <a:spLocks noGrp="1"/>
          </p:cNvSpPr>
          <p:nvPr/>
        </p:nvSpPr>
        <p:spPr>
          <a:xfrm>
            <a:off x="6381750" y="260985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8 non-bias features + bias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44D8853-F6D7-42AA-9369-59585D1D1FDE}"/>
              </a:ext>
            </a:extLst>
          </p:cNvPr>
          <p:cNvSpPr>
            <a:spLocks noGrp="1"/>
          </p:cNvSpPr>
          <p:nvPr/>
        </p:nvSpPr>
        <p:spPr>
          <a:xfrm>
            <a:off x="636270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C4DF5F7-07B9-4D1F-A13F-3FCD344F5877}"/>
              </a:ext>
            </a:extLst>
          </p:cNvPr>
          <p:cNvSpPr>
            <a:spLocks noGrp="1"/>
          </p:cNvSpPr>
          <p:nvPr/>
        </p:nvSpPr>
        <p:spPr>
          <a:xfrm>
            <a:off x="645795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no_plan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7520566-587C-450F-8696-56F1E2281CE6}"/>
              </a:ext>
            </a:extLst>
          </p:cNvPr>
          <p:cNvSpPr>
            <a:spLocks noGrp="1"/>
          </p:cNvSpPr>
          <p:nvPr/>
        </p:nvSpPr>
        <p:spPr>
          <a:xfrm>
            <a:off x="8134350" y="3067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3E0331-2807-49E4-82D5-87CEAC0E05D3}"/>
              </a:ext>
            </a:extLst>
          </p:cNvPr>
          <p:cNvSpPr>
            <a:spLocks noGrp="1"/>
          </p:cNvSpPr>
          <p:nvPr/>
        </p:nvSpPr>
        <p:spPr>
          <a:xfrm>
            <a:off x="8229600" y="3133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screen_changed_last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7DCA594-5E9A-4882-9880-47FB4EEB6829}"/>
              </a:ext>
            </a:extLst>
          </p:cNvPr>
          <p:cNvSpPr>
            <a:spLocks noGrp="1"/>
          </p:cNvSpPr>
          <p:nvPr/>
        </p:nvSpPr>
        <p:spPr>
          <a:xfrm>
            <a:off x="6362700" y="3448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188A3D-09A8-4FED-A956-9CB4D54910A7}"/>
              </a:ext>
            </a:extLst>
          </p:cNvPr>
          <p:cNvSpPr>
            <a:spLocks noGrp="1"/>
          </p:cNvSpPr>
          <p:nvPr/>
        </p:nvSpPr>
        <p:spPr>
          <a:xfrm>
            <a:off x="6457950" y="3514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candidates_changed_last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8710B30-1543-4ED3-88EB-83D9114CE847}"/>
              </a:ext>
            </a:extLst>
          </p:cNvPr>
          <p:cNvSpPr>
            <a:spLocks noGrp="1"/>
          </p:cNvSpPr>
          <p:nvPr/>
        </p:nvSpPr>
        <p:spPr>
          <a:xfrm>
            <a:off x="8134350" y="3448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B213C3-C7CB-45A8-B665-74AE19B86C9F}"/>
              </a:ext>
            </a:extLst>
          </p:cNvPr>
          <p:cNvSpPr>
            <a:spLocks noGrp="1"/>
          </p:cNvSpPr>
          <p:nvPr/>
        </p:nvSpPr>
        <p:spPr>
          <a:xfrm>
            <a:off x="8229600" y="3514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steps_since_observe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A4CF1E6-50A4-4C59-9A1D-89D4CAC18BDB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9A366F-6228-496A-B069-8527E61471D3}"/>
              </a:ext>
            </a:extLst>
          </p:cNvPr>
          <p:cNvSpPr>
            <a:spLocks noGrp="1"/>
          </p:cNvSpPr>
          <p:nvPr/>
        </p:nvSpPr>
        <p:spPr>
          <a:xfrm>
            <a:off x="6457950" y="3895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remaining_plan_len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8AC0EE6-4035-4ACE-8BC3-15E64F954617}"/>
              </a:ext>
            </a:extLst>
          </p:cNvPr>
          <p:cNvSpPr>
            <a:spLocks noGrp="1"/>
          </p:cNvSpPr>
          <p:nvPr/>
        </p:nvSpPr>
        <p:spPr>
          <a:xfrm>
            <a:off x="8134350" y="3829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20B3B58-FDF4-45BE-BC3B-512E0765551D}"/>
              </a:ext>
            </a:extLst>
          </p:cNvPr>
          <p:cNvSpPr>
            <a:spLocks noGrp="1"/>
          </p:cNvSpPr>
          <p:nvPr/>
        </p:nvSpPr>
        <p:spPr>
          <a:xfrm>
            <a:off x="8229600" y="3895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next_risk_state_changing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9B143E0-0C14-4F27-9E80-E537F3391A66}"/>
              </a:ext>
            </a:extLst>
          </p:cNvPr>
          <p:cNvSpPr>
            <a:spLocks noGrp="1"/>
          </p:cNvSpPr>
          <p:nvPr/>
        </p:nvSpPr>
        <p:spPr>
          <a:xfrm>
            <a:off x="6362700" y="4210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B6AF43E-69BA-4527-8DEC-CCB7F34B6968}"/>
              </a:ext>
            </a:extLst>
          </p:cNvPr>
          <p:cNvSpPr>
            <a:spLocks noGrp="1"/>
          </p:cNvSpPr>
          <p:nvPr/>
        </p:nvSpPr>
        <p:spPr>
          <a:xfrm>
            <a:off x="6457950" y="4276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verbalized_confidence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ECA278C2-5E43-4836-83D5-491A0A704703}"/>
              </a:ext>
            </a:extLst>
          </p:cNvPr>
          <p:cNvSpPr>
            <a:spLocks noGrp="1"/>
          </p:cNvSpPr>
          <p:nvPr/>
        </p:nvSpPr>
        <p:spPr>
          <a:xfrm>
            <a:off x="8134350" y="4210050"/>
            <a:ext cx="1466850" cy="266700"/>
          </a:xfrm>
          <a:prstGeom prst="roundRect">
            <a:avLst>
              <a:gd name="adj" fmla="val 28571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5D5D2B-83C5-4974-A5BE-94A1A077AD5D}"/>
              </a:ext>
            </a:extLst>
          </p:cNvPr>
          <p:cNvSpPr>
            <a:spLocks noGrp="1"/>
          </p:cNvSpPr>
          <p:nvPr/>
        </p:nvSpPr>
        <p:spPr>
          <a:xfrm>
            <a:off x="8229600" y="4276725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needs_observation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0226F7-F2A2-4AB2-B3E2-3187404BCBD4}"/>
              </a:ext>
            </a:extLst>
          </p:cNvPr>
          <p:cNvSpPr>
            <a:spLocks noGrp="1"/>
          </p:cNvSpPr>
          <p:nvPr/>
        </p:nvSpPr>
        <p:spPr>
          <a:xfrm>
            <a:off x="6362699" y="4648199"/>
            <a:ext cx="4455117" cy="44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1350" b="1" dirty="0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Compact gate older audit run: learned@0.35 and learned@0.65 stayed at 100% success with 2.80 calls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0DC3D67-4D3B-4831-AD0E-1AA1D64E1774}"/>
              </a:ext>
            </a:extLst>
          </p:cNvPr>
          <p:cNvSpPr>
            <a:spLocks noGrp="1"/>
          </p:cNvSpPr>
          <p:nvPr/>
        </p:nvSpPr>
        <p:spPr>
          <a:xfrm>
            <a:off x="6362700" y="5162549"/>
            <a:ext cx="4000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 dirty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Held-out accuracy improves to 97.0%, which makes the paper claim stronger: the gain survives a much smaller gate.</a:t>
            </a:r>
          </a:p>
        </p:txBody>
      </p:sp>
    </p:spTree>
    <p:extLst>
      <p:ext uri="{BB962C8B-B14F-4D97-AF65-F5344CB8AC3E}">
        <p14:creationId xmlns:p14="http://schemas.microsoft.com/office/powerpoint/2010/main" val="1868414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988008-A769-4ACB-A04B-020F72EFA62E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B1D56B-620A-4E31-81DF-C5902E29C0C4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Where Do the Savings Come From?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77265-75FD-4DC2-89BD-2CAFAC409340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08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C25447-6266-4CA6-B1F9-846AE16EA362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3C001-B17A-4C7D-947C-15C394EB7F42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17FE40-7F3A-4BAC-8938-BA0C14F66A51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895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gate wins on routine steps, not by gambling on adversarial cases.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CAFA0C-1502-4490-A7CD-FC58F2535782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619125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671AA5-049A-4FBB-9C11-AFA4C9FC0AD9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Call savings versus always-observe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8EE76F-A159-46A6-AFC7-039D2C180C98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static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EFF4F8-A1AA-47D6-9F82-CDA0D91988FE}"/>
              </a:ext>
            </a:extLst>
          </p:cNvPr>
          <p:cNvSpPr>
            <a:spLocks noGrp="1"/>
          </p:cNvSpPr>
          <p:nvPr/>
        </p:nvSpPr>
        <p:spPr>
          <a:xfrm>
            <a:off x="2095500" y="2800350"/>
            <a:ext cx="3619500" cy="285750"/>
          </a:xfrm>
          <a:prstGeom prst="roundRect">
            <a:avLst>
              <a:gd name="adj" fmla="val 26667"/>
            </a:avLst>
          </a:prstGeom>
          <a:solidFill>
            <a:srgbClr val="F4F7FB"/>
          </a:solidFill>
          <a:ln w="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B3DE379-6631-4801-9DB3-E2969EC498AB}"/>
              </a:ext>
            </a:extLst>
          </p:cNvPr>
          <p:cNvSpPr>
            <a:spLocks noGrp="1"/>
          </p:cNvSpPr>
          <p:nvPr/>
        </p:nvSpPr>
        <p:spPr>
          <a:xfrm>
            <a:off x="2095500" y="2800350"/>
            <a:ext cx="3238500" cy="285750"/>
          </a:xfrm>
          <a:prstGeom prst="roundRect">
            <a:avLst>
              <a:gd name="adj" fmla="val 26667"/>
            </a:avLst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B64E59-29CF-4718-8CAF-EC96420CFFCD}"/>
              </a:ext>
            </a:extLst>
          </p:cNvPr>
          <p:cNvSpPr>
            <a:spLocks noGrp="1"/>
          </p:cNvSpPr>
          <p:nvPr/>
        </p:nvSpPr>
        <p:spPr>
          <a:xfrm>
            <a:off x="5848350" y="28670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D936C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2D936C"/>
                </a:solidFill>
                <a:latin typeface="Nunito Sans"/>
                <a:ea typeface="Nunito Sans"/>
                <a:cs typeface="Nunito Sans"/>
              </a:rPr>
              <a:t>0.60 calls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848EE4-F1C8-4F8B-892D-90B16D258DD6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async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B68473A-20AA-4797-A91E-4321EF576836}"/>
              </a:ext>
            </a:extLst>
          </p:cNvPr>
          <p:cNvSpPr>
            <a:spLocks noGrp="1"/>
          </p:cNvSpPr>
          <p:nvPr/>
        </p:nvSpPr>
        <p:spPr>
          <a:xfrm>
            <a:off x="2095500" y="3429000"/>
            <a:ext cx="3619500" cy="285750"/>
          </a:xfrm>
          <a:prstGeom prst="roundRect">
            <a:avLst>
              <a:gd name="adj" fmla="val 26667"/>
            </a:avLst>
          </a:prstGeom>
          <a:solidFill>
            <a:srgbClr val="F4F7FB"/>
          </a:solidFill>
          <a:ln w="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0D9EB7-5A9A-4DEC-B722-0B0CA6EECD44}"/>
              </a:ext>
            </a:extLst>
          </p:cNvPr>
          <p:cNvSpPr>
            <a:spLocks noGrp="1"/>
          </p:cNvSpPr>
          <p:nvPr/>
        </p:nvSpPr>
        <p:spPr>
          <a:xfrm>
            <a:off x="2095500" y="3429000"/>
            <a:ext cx="2698750" cy="285750"/>
          </a:xfrm>
          <a:prstGeom prst="roundRect">
            <a:avLst>
              <a:gd name="adj" fmla="val 26667"/>
            </a:avLst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37793E-14BE-4355-B96E-9E0B1381DCC8}"/>
              </a:ext>
            </a:extLst>
          </p:cNvPr>
          <p:cNvSpPr>
            <a:spLocks noGrp="1"/>
          </p:cNvSpPr>
          <p:nvPr/>
        </p:nvSpPr>
        <p:spPr>
          <a:xfrm>
            <a:off x="5848350" y="34956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0.50 calls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F7950D-0D2F-4D12-9A8D-5A5B90B03B93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value drift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AEF1974-99C2-4734-A02B-3C964E5D1D2C}"/>
              </a:ext>
            </a:extLst>
          </p:cNvPr>
          <p:cNvSpPr>
            <a:spLocks noGrp="1"/>
          </p:cNvSpPr>
          <p:nvPr/>
        </p:nvSpPr>
        <p:spPr>
          <a:xfrm>
            <a:off x="2095500" y="4057650"/>
            <a:ext cx="3619500" cy="285750"/>
          </a:xfrm>
          <a:prstGeom prst="roundRect">
            <a:avLst>
              <a:gd name="adj" fmla="val 26667"/>
            </a:avLst>
          </a:prstGeom>
          <a:solidFill>
            <a:srgbClr val="F4F7FB"/>
          </a:solidFill>
          <a:ln w="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C2058B-1641-485B-BD74-5CA2EA8A2730}"/>
              </a:ext>
            </a:extLst>
          </p:cNvPr>
          <p:cNvSpPr>
            <a:spLocks noGrp="1"/>
          </p:cNvSpPr>
          <p:nvPr/>
        </p:nvSpPr>
        <p:spPr>
          <a:xfrm>
            <a:off x="5848350" y="412432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D1495B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D1495B"/>
                </a:solidFill>
                <a:latin typeface="Nunito Sans"/>
                <a:ea typeface="Nunito Sans"/>
                <a:cs typeface="Nunito Sans"/>
              </a:rPr>
              <a:t>0.00 calls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1FE45-77D9-4B3E-8879-E9C07D562134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1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delayed opt.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DD573DA-E8A3-49C4-AB7D-3B7F7F9CAA61}"/>
              </a:ext>
            </a:extLst>
          </p:cNvPr>
          <p:cNvSpPr>
            <a:spLocks noGrp="1"/>
          </p:cNvSpPr>
          <p:nvPr/>
        </p:nvSpPr>
        <p:spPr>
          <a:xfrm>
            <a:off x="2095500" y="4686300"/>
            <a:ext cx="3619500" cy="285750"/>
          </a:xfrm>
          <a:prstGeom prst="roundRect">
            <a:avLst>
              <a:gd name="adj" fmla="val 26667"/>
            </a:avLst>
          </a:prstGeom>
          <a:solidFill>
            <a:srgbClr val="F4F7FB"/>
          </a:solidFill>
          <a:ln w="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FB7FE3-3784-48F6-A7BF-6016C1A14474}"/>
              </a:ext>
            </a:extLst>
          </p:cNvPr>
          <p:cNvSpPr>
            <a:spLocks noGrp="1"/>
          </p:cNvSpPr>
          <p:nvPr/>
        </p:nvSpPr>
        <p:spPr>
          <a:xfrm>
            <a:off x="5848350" y="4752975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8B5CF6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8B5CF6"/>
                </a:solidFill>
                <a:latin typeface="Nunito Sans"/>
                <a:ea typeface="Nunito Sans"/>
                <a:cs typeface="Nunito Sans"/>
              </a:rPr>
              <a:t>0.00 calls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0FBA38A-C74E-4D36-BE43-8BB0C6579695}"/>
              </a:ext>
            </a:extLst>
          </p:cNvPr>
          <p:cNvSpPr>
            <a:spLocks noGrp="1"/>
          </p:cNvSpPr>
          <p:nvPr/>
        </p:nvSpPr>
        <p:spPr>
          <a:xfrm>
            <a:off x="7277100" y="1981200"/>
            <a:ext cx="3810000" cy="3619500"/>
          </a:xfrm>
          <a:prstGeom prst="roundRect">
            <a:avLst>
              <a:gd name="adj" fmla="val 2105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185D93-9DE1-4E4D-A574-0023CC2E6516}"/>
              </a:ext>
            </a:extLst>
          </p:cNvPr>
          <p:cNvSpPr>
            <a:spLocks noGrp="1"/>
          </p:cNvSpPr>
          <p:nvPr/>
        </p:nvSpPr>
        <p:spPr>
          <a:xfrm>
            <a:off x="7524750" y="22098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Interpretation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0F8F8C-99AB-45CF-9E69-367131E44CA7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Static and visible async tasks contain redundant mid-step observations.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0E3202-9F52-4BCD-97AD-6D1F16CA3F69}"/>
              </a:ext>
            </a:extLst>
          </p:cNvPr>
          <p:cNvSpPr>
            <a:spLocks noGrp="1"/>
          </p:cNvSpPr>
          <p:nvPr/>
        </p:nvSpPr>
        <p:spPr>
          <a:xfrm>
            <a:off x="7524750" y="297180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 dirty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Value drift and delayed options still encourage extra re-checking around checkpoints.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0A8508-49AA-470A-A7E4-E2FCF95B697A}"/>
              </a:ext>
            </a:extLst>
          </p:cNvPr>
          <p:cNvSpPr>
            <a:spLocks noGrp="1"/>
          </p:cNvSpPr>
          <p:nvPr/>
        </p:nvSpPr>
        <p:spPr>
          <a:xfrm>
            <a:off x="7524750" y="3600450"/>
            <a:ext cx="314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 dirty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That is the right behavior: save calls on routine steps, not by blindly coasting through silent drift.</a:t>
            </a:r>
          </a:p>
        </p:txBody>
      </p:sp>
    </p:spTree>
    <p:extLst>
      <p:ext uri="{BB962C8B-B14F-4D97-AF65-F5344CB8AC3E}">
        <p14:creationId xmlns:p14="http://schemas.microsoft.com/office/powerpoint/2010/main" val="19278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A91D3-CA51-45AB-A345-02E2B996B69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16F88E-2C4E-4388-8F0D-1B6726C1C5F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Why Handrule Is Not Enough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3A02B-C11A-4670-99C5-CD3CD9D9A8A9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09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B9773-5396-4793-BB77-319F9F1D5020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6E06B-8322-41E0-8E59-82515A599446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5D149-0839-4005-A429-69E1AA029D3D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Visible change and silent drift are fundamentally different regimes.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8D554D-E25B-4F02-B6D5-E7475E60FB37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8196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1CBBC5-0F5D-4499-B027-28C358FA804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819650" cy="571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3F510-6F86-40EA-9A6B-CF16DC8CDAD7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952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Visible async change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2D06BF-50A7-43F8-A074-2DD73B400E3E}"/>
              </a:ext>
            </a:extLst>
          </p:cNvPr>
          <p:cNvSpPr>
            <a:spLocks noGrp="1"/>
          </p:cNvSpPr>
          <p:nvPr/>
        </p:nvSpPr>
        <p:spPr>
          <a:xfrm>
            <a:off x="933450" y="27051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Example: shop or contacts search results appear later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AF69C4-05D6-485D-9F35-E39FCE789C5F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Status text and candidate set both change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567F50-12A9-45F8-9DA0-824C4C4F1603}"/>
              </a:ext>
            </a:extLst>
          </p:cNvPr>
          <p:cNvSpPr>
            <a:spLocks noGrp="1"/>
          </p:cNvSpPr>
          <p:nvPr/>
        </p:nvSpPr>
        <p:spPr>
          <a:xfrm>
            <a:off x="933450" y="33909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Handrule gets a clear signal and fires correctly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A507D6-A9B4-4D66-AA92-9CBD8E1418C3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3981450" cy="1123950"/>
          </a:xfrm>
          <a:prstGeom prst="roundRect">
            <a:avLst>
              <a:gd name="adj" fmla="val 6780"/>
            </a:avLst>
          </a:prstGeom>
          <a:solidFill>
            <a:srgbClr val="F8FB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2AEB4-3B05-43DD-8816-D9304C40A486}"/>
              </a:ext>
            </a:extLst>
          </p:cNvPr>
          <p:cNvSpPr>
            <a:spLocks noGrp="1"/>
          </p:cNvSpPr>
          <p:nvPr/>
        </p:nvSpPr>
        <p:spPr>
          <a:xfrm>
            <a:off x="1181100" y="43053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Signal available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8EC6F1-86A5-4FD0-B443-52835C59AE6F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3626926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 dirty="0" err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screen_changed_last</a:t>
            </a:r>
            <a:r>
              <a:rPr sz="16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 = 1</a:t>
            </a:r>
          </a:p>
          <a:p>
            <a:pPr algn="l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 dirty="0" err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candidates_changed_last</a:t>
            </a:r>
            <a:r>
              <a:rPr sz="16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 = 1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CA9BC93-0BAF-4F51-8EF9-18E7BF8C456D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8958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F75E3E-2986-4745-8D2C-48366CD02DF4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895850" cy="57150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4570F1-2FE2-4F46-9095-B17CFC3225B5}"/>
              </a:ext>
            </a:extLst>
          </p:cNvPr>
          <p:cNvSpPr>
            <a:spLocks noGrp="1"/>
          </p:cNvSpPr>
          <p:nvPr/>
        </p:nvSpPr>
        <p:spPr>
          <a:xfrm>
            <a:off x="6438900" y="22860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Silent value drift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763C7A-5C45-464B-900A-CA5F2DFC6736}"/>
              </a:ext>
            </a:extLst>
          </p:cNvPr>
          <p:cNvSpPr>
            <a:spLocks noGrp="1"/>
          </p:cNvSpPr>
          <p:nvPr/>
        </p:nvSpPr>
        <p:spPr>
          <a:xfrm>
            <a:off x="6438900" y="2705100"/>
            <a:ext cx="419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Example: recipient resolves from 'Resolving...' to a real address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C61A56-C7E2-4384-B197-44F9C070EC83}"/>
              </a:ext>
            </a:extLst>
          </p:cNvPr>
          <p:cNvSpPr>
            <a:spLocks noGrp="1"/>
          </p:cNvSpPr>
          <p:nvPr/>
        </p:nvSpPr>
        <p:spPr>
          <a:xfrm>
            <a:off x="6438900" y="3048000"/>
            <a:ext cx="419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Selector set is unchanged, so coarse structure looks stable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7CBDE8-1CA2-42D2-8D5F-E55CC561567E}"/>
              </a:ext>
            </a:extLst>
          </p:cNvPr>
          <p:cNvSpPr>
            <a:spLocks noGrp="1"/>
          </p:cNvSpPr>
          <p:nvPr/>
        </p:nvSpPr>
        <p:spPr>
          <a:xfrm>
            <a:off x="6438900" y="3390900"/>
            <a:ext cx="419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27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The gate needs uncertainty and plan-age signals to know another read is worth it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A9D1242-B654-4E2F-A05B-7E00605F6283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4095750" cy="1123950"/>
          </a:xfrm>
          <a:prstGeom prst="roundRect">
            <a:avLst>
              <a:gd name="adj" fmla="val 6780"/>
            </a:avLst>
          </a:prstGeom>
          <a:solidFill>
            <a:srgbClr val="FFF7F7"/>
          </a:solidFill>
          <a:ln w="9525">
            <a:solidFill>
              <a:srgbClr val="F2D6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0D58DF-EEA3-4E40-B62E-0193AC09B8B6}"/>
              </a:ext>
            </a:extLst>
          </p:cNvPr>
          <p:cNvSpPr>
            <a:spLocks noGrp="1"/>
          </p:cNvSpPr>
          <p:nvPr/>
        </p:nvSpPr>
        <p:spPr>
          <a:xfrm>
            <a:off x="6705600" y="43053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1495B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D1495B"/>
                </a:solidFill>
                <a:latin typeface="Nunito Sans"/>
                <a:ea typeface="Nunito Sans"/>
                <a:cs typeface="Nunito Sans"/>
              </a:rPr>
              <a:t>Blind spot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CFCA18-AF70-4B07-96BB-37D3D5DD2C35}"/>
              </a:ext>
            </a:extLst>
          </p:cNvPr>
          <p:cNvSpPr>
            <a:spLocks noGrp="1"/>
          </p:cNvSpPr>
          <p:nvPr/>
        </p:nvSpPr>
        <p:spPr>
          <a:xfrm>
            <a:off x="6686550" y="4591050"/>
            <a:ext cx="2667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 dirty="0" err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screen_changed_last</a:t>
            </a:r>
            <a:r>
              <a:rPr sz="16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 = 0</a:t>
            </a:r>
          </a:p>
          <a:p>
            <a:pPr algn="l">
              <a:defRPr sz="16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6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candidate set unchanged</a:t>
            </a:r>
          </a:p>
        </p:txBody>
      </p:sp>
    </p:spTree>
    <p:extLst>
      <p:ext uri="{BB962C8B-B14F-4D97-AF65-F5344CB8AC3E}">
        <p14:creationId xmlns:p14="http://schemas.microsoft.com/office/powerpoint/2010/main" val="1764312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D05848-C434-4617-A221-FF89DD77C37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15D1E-38DD-412B-9C14-99D052FD650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Demo Gallery: Four Real Tasks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1C23A9-8C5E-4A92-9F73-015282691010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10 / 12</a:t>
            </a:r>
          </a:p>
        </p:txBody>
      </p:sp>
      <p:sp>
        <p:nvSpPr>
          <p:cNvPr id="12" name="TextBox 11"/>
          <p:cNvSpPr txBox="1">
            <a:spLocks noGrp="1"/>
          </p:cNvSpPr>
          <p:nvPr/>
        </p:nvSpPr>
        <p:spPr>
          <a:xfrm>
            <a:off x="600000" y="3500584"/>
            <a:ext cx="539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Silent recipient drift · mail-send-suggested-finance</a:t>
            </a:r>
          </a:p>
        </p:txBody>
      </p:sp>
      <p:sp>
        <p:nvSpPr>
          <p:cNvPr id="13" name="TextBox 12"/>
          <p:cNvSpPr txBox="1">
            <a:spLocks noGrp="1"/>
          </p:cNvSpPr>
          <p:nvPr/>
        </p:nvSpPr>
        <p:spPr>
          <a:xfrm>
            <a:off x="6196000" y="3500584"/>
            <a:ext cx="539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Visible async results · shop-add-notebook-async-slow</a:t>
            </a:r>
          </a:p>
        </p:txBody>
      </p:sp>
      <p:sp>
        <p:nvSpPr>
          <p:cNvPr id="14" name="TextBox 13"/>
          <p:cNvSpPr txBox="1">
            <a:spLocks noGrp="1"/>
          </p:cNvSpPr>
          <p:nvPr/>
        </p:nvSpPr>
        <p:spPr>
          <a:xfrm>
            <a:off x="640855" y="6486550"/>
            <a:ext cx="539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Visible async contacts · contacts-open-jordan-async-slow</a:t>
            </a:r>
          </a:p>
        </p:txBody>
      </p:sp>
      <p:sp>
        <p:nvSpPr>
          <p:cNvPr id="15" name="TextBox 14"/>
          <p:cNvSpPr txBox="1">
            <a:spLocks noGrp="1"/>
          </p:cNvSpPr>
          <p:nvPr/>
        </p:nvSpPr>
        <p:spPr>
          <a:xfrm>
            <a:off x="6098476" y="6486550"/>
            <a:ext cx="539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64748B"/>
                </a:solidFill>
              </a:rPr>
              <a:t>Delayed options · settings-save-</a:t>
            </a:r>
            <a:r>
              <a:rPr sz="1000" b="0" dirty="0" err="1">
                <a:solidFill>
                  <a:srgbClr val="64748B"/>
                </a:solidFill>
              </a:rPr>
              <a:t>french</a:t>
            </a:r>
            <a:r>
              <a:rPr sz="1000" b="0" dirty="0">
                <a:solidFill>
                  <a:srgbClr val="64748B"/>
                </a:solidFill>
              </a:rPr>
              <a:t>-resolve</a:t>
            </a:r>
          </a:p>
        </p:txBody>
      </p:sp>
      <p:pic>
        <p:nvPicPr>
          <p:cNvPr id="18" name="contacts-open-jordan-async-slow__always">
            <a:hlinkClick r:id="" action="ppaction://media"/>
            <a:extLst>
              <a:ext uri="{FF2B5EF4-FFF2-40B4-BE49-F238E27FC236}">
                <a16:creationId xmlns:a16="http://schemas.microsoft.com/office/drawing/2014/main" id="{FE4DA20C-811A-EABD-9497-88670C8951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358277" y="3788017"/>
            <a:ext cx="3837913" cy="2698533"/>
          </a:xfrm>
          <a:prstGeom prst="rect">
            <a:avLst/>
          </a:prstGeom>
        </p:spPr>
      </p:pic>
      <p:pic>
        <p:nvPicPr>
          <p:cNvPr id="19" name="mail-send-suggested-finance__always">
            <a:hlinkClick r:id="" action="ppaction://media"/>
            <a:extLst>
              <a:ext uri="{FF2B5EF4-FFF2-40B4-BE49-F238E27FC236}">
                <a16:creationId xmlns:a16="http://schemas.microsoft.com/office/drawing/2014/main" id="{08C03E4D-9981-E5BB-D843-2711CA642740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358085" y="714484"/>
            <a:ext cx="3838105" cy="2698667"/>
          </a:xfrm>
          <a:prstGeom prst="rect">
            <a:avLst/>
          </a:prstGeom>
        </p:spPr>
      </p:pic>
      <p:pic>
        <p:nvPicPr>
          <p:cNvPr id="20" name="settings-save-french-resolve__always">
            <a:hlinkClick r:id="" action="ppaction://media"/>
            <a:extLst>
              <a:ext uri="{FF2B5EF4-FFF2-40B4-BE49-F238E27FC236}">
                <a16:creationId xmlns:a16="http://schemas.microsoft.com/office/drawing/2014/main" id="{2FDFF0BE-F02A-96E9-E083-9ABFDB84712A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877520" y="3788018"/>
            <a:ext cx="3837913" cy="2698532"/>
          </a:xfrm>
          <a:prstGeom prst="rect">
            <a:avLst/>
          </a:prstGeom>
        </p:spPr>
      </p:pic>
      <p:pic>
        <p:nvPicPr>
          <p:cNvPr id="21" name="shop-add-notebook-async-slow__always">
            <a:hlinkClick r:id="" action="ppaction://media"/>
            <a:extLst>
              <a:ext uri="{FF2B5EF4-FFF2-40B4-BE49-F238E27FC236}">
                <a16:creationId xmlns:a16="http://schemas.microsoft.com/office/drawing/2014/main" id="{4C2243C5-7857-AA85-8741-C78C736B9C19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6877520" y="714484"/>
            <a:ext cx="3838105" cy="26986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788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52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25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>
                <p:cTn id="31" repeatCount="indefinite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E726EB-E84D-43AE-9F4C-C71BAB32149B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226F5-7D7C-42BF-AEF5-2A21AD19B803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Limitations and Why This Suite Still Matters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9C3A81-6113-4A53-832A-47E41615C94D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11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FC1B52-14A2-45EB-BDB4-35D3D906DC8B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D3FF6A-1AC1-4F10-96ED-A20040A67A65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F9BC4D-D21C-48B6-BD23-E8C7CE223788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895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25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This is a local diagnostic suite, not the final external benchmark claim.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CF4C39-2D9B-45C6-9F8E-F202A4FAD03E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BC8361-350A-4E98-87E8-229D69B58300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571750" cy="57150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68B793-7626-431B-8EC0-5D94BEE2C1A5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Limitation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53C89F-CDF1-4BDA-8673-839A34851E5F}"/>
              </a:ext>
            </a:extLst>
          </p:cNvPr>
          <p:cNvSpPr>
            <a:spLocks noGrp="1"/>
          </p:cNvSpPr>
          <p:nvPr/>
        </p:nvSpPr>
        <p:spPr>
          <a:xfrm>
            <a:off x="2495550" y="20955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5066B-C9D1-48FF-A3FE-E7953AC32C0A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- 15 tasks is still small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C5FDF-8D16-4CAA-8476-4BAA5ACDE4FA}"/>
              </a:ext>
            </a:extLst>
          </p:cNvPr>
          <p:cNvSpPr>
            <a:spLocks noGrp="1"/>
          </p:cNvSpPr>
          <p:nvPr/>
        </p:nvSpPr>
        <p:spPr>
          <a:xfrm>
            <a:off x="857250" y="29146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no multi-seed sweep yet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C799C0-5297-4D83-AA10-910B5F8596D3}"/>
              </a:ext>
            </a:extLst>
          </p:cNvPr>
          <p:cNvSpPr>
            <a:spLocks noGrp="1"/>
          </p:cNvSpPr>
          <p:nvPr/>
        </p:nvSpPr>
        <p:spPr>
          <a:xfrm>
            <a:off x="857250" y="31813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external validity remains future work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8287731-C135-45A3-B25B-CAA56A8CB1AD}"/>
              </a:ext>
            </a:extLst>
          </p:cNvPr>
          <p:cNvSpPr>
            <a:spLocks noGrp="1"/>
          </p:cNvSpPr>
          <p:nvPr/>
        </p:nvSpPr>
        <p:spPr>
          <a:xfrm>
            <a:off x="857250" y="407670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4DD048-A369-4763-A8B3-293522C84B06}"/>
              </a:ext>
            </a:extLst>
          </p:cNvPr>
          <p:cNvSpPr>
            <a:spLocks noGrp="1"/>
          </p:cNvSpPr>
          <p:nvPr/>
        </p:nvSpPr>
        <p:spPr>
          <a:xfrm>
            <a:off x="971550" y="42291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Next credibility jump: WebArena / WorkArena / OSWorld.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65E9028-DDE4-42EB-B526-630F87B560AC}"/>
              </a:ext>
            </a:extLst>
          </p:cNvPr>
          <p:cNvSpPr>
            <a:spLocks noGrp="1"/>
          </p:cNvSpPr>
          <p:nvPr/>
        </p:nvSpPr>
        <p:spPr>
          <a:xfrm>
            <a:off x="3676650" y="186690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8E02E1-A840-4084-915F-1A202F04A4ED}"/>
              </a:ext>
            </a:extLst>
          </p:cNvPr>
          <p:cNvSpPr>
            <a:spLocks noGrp="1"/>
          </p:cNvSpPr>
          <p:nvPr/>
        </p:nvSpPr>
        <p:spPr>
          <a:xfrm>
            <a:off x="3676650" y="1866900"/>
            <a:ext cx="2571750" cy="57150"/>
          </a:xfrm>
          <a:prstGeom prst="rect">
            <a:avLst/>
          </a:prstGeom>
          <a:solidFill>
            <a:srgbClr val="C9832B"/>
          </a:solidFill>
          <a:ln w="0">
            <a:solidFill>
              <a:srgbClr val="C983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EB2B34-346C-4334-9653-43BE0DCF3F25}"/>
              </a:ext>
            </a:extLst>
          </p:cNvPr>
          <p:cNvSpPr>
            <a:spLocks noGrp="1"/>
          </p:cNvSpPr>
          <p:nvPr/>
        </p:nvSpPr>
        <p:spPr>
          <a:xfrm>
            <a:off x="3848100" y="20955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Limitation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6A229E-1478-4FA1-A23F-D0C67EE28EB8}"/>
              </a:ext>
            </a:extLst>
          </p:cNvPr>
          <p:cNvSpPr>
            <a:spLocks noGrp="1"/>
          </p:cNvSpPr>
          <p:nvPr/>
        </p:nvSpPr>
        <p:spPr>
          <a:xfrm>
            <a:off x="5486400" y="20955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4EA882-C354-413E-906A-98CFFC8D572C}"/>
              </a:ext>
            </a:extLst>
          </p:cNvPr>
          <p:cNvSpPr>
            <a:spLocks noGrp="1"/>
          </p:cNvSpPr>
          <p:nvPr/>
        </p:nvSpPr>
        <p:spPr>
          <a:xfrm>
            <a:off x="3848100" y="26479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uncertainty is verbalized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DCF3C4-C217-428B-9441-625170277220}"/>
              </a:ext>
            </a:extLst>
          </p:cNvPr>
          <p:cNvSpPr>
            <a:spLocks noGrp="1"/>
          </p:cNvSpPr>
          <p:nvPr/>
        </p:nvSpPr>
        <p:spPr>
          <a:xfrm>
            <a:off x="3848100" y="29146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not token logprobs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713A9C-608A-4075-9959-ACEFC1E6D4DC}"/>
              </a:ext>
            </a:extLst>
          </p:cNvPr>
          <p:cNvSpPr>
            <a:spLocks noGrp="1"/>
          </p:cNvSpPr>
          <p:nvPr/>
        </p:nvSpPr>
        <p:spPr>
          <a:xfrm>
            <a:off x="3848100" y="31813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threshold sweep is partly bimodal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4DB74CB-5529-434A-80EB-301926D69BCB}"/>
              </a:ext>
            </a:extLst>
          </p:cNvPr>
          <p:cNvSpPr>
            <a:spLocks noGrp="1"/>
          </p:cNvSpPr>
          <p:nvPr/>
        </p:nvSpPr>
        <p:spPr>
          <a:xfrm>
            <a:off x="3848100" y="407670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111E0-AB47-413D-AA09-6E2E1897A7AE}"/>
              </a:ext>
            </a:extLst>
          </p:cNvPr>
          <p:cNvSpPr>
            <a:spLocks noGrp="1"/>
          </p:cNvSpPr>
          <p:nvPr/>
        </p:nvSpPr>
        <p:spPr>
          <a:xfrm>
            <a:off x="3962400" y="42291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Compact ablation helps, but uncertainty signals can still improve.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219A162-7FF1-4699-961E-A28A56A18D67}"/>
              </a:ext>
            </a:extLst>
          </p:cNvPr>
          <p:cNvSpPr>
            <a:spLocks noGrp="1"/>
          </p:cNvSpPr>
          <p:nvPr/>
        </p:nvSpPr>
        <p:spPr>
          <a:xfrm>
            <a:off x="6667500" y="1866900"/>
            <a:ext cx="2571750" cy="3067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A1D1FD-4CBD-4F9F-90D4-9C44CF21A7F9}"/>
              </a:ext>
            </a:extLst>
          </p:cNvPr>
          <p:cNvSpPr>
            <a:spLocks noGrp="1"/>
          </p:cNvSpPr>
          <p:nvPr/>
        </p:nvSpPr>
        <p:spPr>
          <a:xfrm>
            <a:off x="6667500" y="1866900"/>
            <a:ext cx="2571750" cy="57150"/>
          </a:xfrm>
          <a:prstGeom prst="rect">
            <a:avLst/>
          </a:prstGeom>
          <a:solidFill>
            <a:srgbClr val="2D936C"/>
          </a:solidFill>
          <a:ln w="0">
            <a:solidFill>
              <a:srgbClr val="2D93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3FDF71-00E3-414F-BCA5-A7D179AD1E64}"/>
              </a:ext>
            </a:extLst>
          </p:cNvPr>
          <p:cNvSpPr>
            <a:spLocks noGrp="1"/>
          </p:cNvSpPr>
          <p:nvPr/>
        </p:nvSpPr>
        <p:spPr>
          <a:xfrm>
            <a:off x="6838950" y="20955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725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Why keep 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6E7CED-C965-4FBD-8A5F-ABADF836F57E}"/>
              </a:ext>
            </a:extLst>
          </p:cNvPr>
          <p:cNvSpPr>
            <a:spLocks noGrp="1"/>
          </p:cNvSpPr>
          <p:nvPr/>
        </p:nvSpPr>
        <p:spPr>
          <a:xfrm>
            <a:off x="8477250" y="2095500"/>
            <a:ext cx="552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28CA32-9DF1-4274-8D08-C28CCA84A306}"/>
              </a:ext>
            </a:extLst>
          </p:cNvPr>
          <p:cNvSpPr>
            <a:spLocks noGrp="1"/>
          </p:cNvSpPr>
          <p:nvPr/>
        </p:nvSpPr>
        <p:spPr>
          <a:xfrm>
            <a:off x="6838950" y="26479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mechanism matches the hypothesis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8008F-8FF5-4463-84F8-DDC647BD8BA7}"/>
              </a:ext>
            </a:extLst>
          </p:cNvPr>
          <p:cNvSpPr>
            <a:spLocks noGrp="1"/>
          </p:cNvSpPr>
          <p:nvPr/>
        </p:nvSpPr>
        <p:spPr>
          <a:xfrm>
            <a:off x="6838950" y="29146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blind spots are controllable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935C12-DF9C-4604-AFE5-409777D9E4EB}"/>
              </a:ext>
            </a:extLst>
          </p:cNvPr>
          <p:cNvSpPr>
            <a:spLocks noGrp="1"/>
          </p:cNvSpPr>
          <p:nvPr/>
        </p:nvSpPr>
        <p:spPr>
          <a:xfrm>
            <a:off x="6838950" y="3181350"/>
            <a:ext cx="2171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102A43"/>
                </a:solidFill>
                <a:latin typeface="Nunito Sans"/>
                <a:ea typeface="Nunito Sans"/>
                <a:cs typeface="Nunito Sans"/>
              </a:rPr>
              <a:t>- debugging is fast and honest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AF2988C-64AF-4409-9A8A-83BE703A734C}"/>
              </a:ext>
            </a:extLst>
          </p:cNvPr>
          <p:cNvSpPr>
            <a:spLocks noGrp="1"/>
          </p:cNvSpPr>
          <p:nvPr/>
        </p:nvSpPr>
        <p:spPr>
          <a:xfrm>
            <a:off x="6838950" y="407670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0E3238-C1CB-45C4-A5BF-5595F747B4F9}"/>
              </a:ext>
            </a:extLst>
          </p:cNvPr>
          <p:cNvSpPr>
            <a:spLocks noGrp="1"/>
          </p:cNvSpPr>
          <p:nvPr/>
        </p:nvSpPr>
        <p:spPr>
          <a:xfrm>
            <a:off x="6953250" y="42291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 good diagnostic layer is useful even after benchmark migration.</a:t>
            </a:r>
          </a:p>
        </p:txBody>
      </p:sp>
      <p:sp>
        <p:nvSpPr>
          <p:cNvPr id="37" name="Closing Elevation Band">
            <a:extLst>
              <a:ext uri="{FF2B5EF4-FFF2-40B4-BE49-F238E27FC236}">
                <a16:creationId xmlns:a16="http://schemas.microsoft.com/office/drawing/2014/main" id="{3B594375-7A04-7E7A-9E77-5C76316C2003}"/>
              </a:ext>
            </a:extLst>
          </p:cNvPr>
          <p:cNvSpPr/>
          <p:nvPr/>
        </p:nvSpPr>
        <p:spPr>
          <a:xfrm>
            <a:off x="666750" y="5200650"/>
            <a:ext cx="10344150" cy="880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</p:spPr>
        <p:txBody>
          <a:bodyPr wrap="square" lIns="182880" tIns="73152" rIns="182880" bIns="73152" anchor="ctr"/>
          <a:lstStyle/>
          <a:p>
            <a:pPr>
              <a:spcAft>
                <a:spcPts val="400"/>
              </a:spcAft>
            </a:pPr>
            <a:r>
              <a:rPr lang="en-US" sz="1000" b="1" spc="40" dirty="0">
                <a:solidFill>
                  <a:srgbClr val="B7C7D9"/>
                </a:solidFill>
                <a:latin typeface="Nunito Sans"/>
              </a:rPr>
              <a:t>Real web apps constantly act on state that may already be stale</a:t>
            </a:r>
            <a:r>
              <a:rPr lang="en-US" altLang="zh-CN" sz="1000" b="1" spc="40" dirty="0">
                <a:solidFill>
                  <a:srgbClr val="B7C7D9"/>
                </a:solidFill>
                <a:latin typeface="Nunito Sans"/>
              </a:rPr>
              <a:t> — async content loading, background-resolved form fields, live-updating prices</a:t>
            </a:r>
            <a:endParaRPr lang="en-US" sz="1000" b="1" spc="40" dirty="0">
              <a:solidFill>
                <a:srgbClr val="B7C7D9"/>
              </a:solidFill>
              <a:latin typeface="Nunito Sans"/>
            </a:endParaRPr>
          </a:p>
          <a:p>
            <a:r>
              <a:rPr lang="en-US" sz="1300" b="1" dirty="0">
                <a:solidFill>
                  <a:srgbClr val="FFFFFF"/>
                </a:solidFill>
                <a:latin typeface="Nunito Sans ExtraBold"/>
              </a:rPr>
              <a:t>So the contribution of this work is better understood as proposing and formalizing a previously unexplored research framework, rather than providing a production-ready solution for direct integration.</a:t>
            </a:r>
          </a:p>
        </p:txBody>
      </p:sp>
    </p:spTree>
    <p:extLst>
      <p:ext uri="{BB962C8B-B14F-4D97-AF65-F5344CB8AC3E}">
        <p14:creationId xmlns:p14="http://schemas.microsoft.com/office/powerpoint/2010/main" val="83037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B0E841-1160-49E3-B3D1-BA23C3D4610C}"/>
              </a:ext>
            </a:extLst>
          </p:cNvPr>
          <p:cNvSpPr>
            <a:spLocks noGrp="1"/>
          </p:cNvSpPr>
          <p:nvPr/>
        </p:nvSpPr>
        <p:spPr>
          <a:xfrm>
            <a:off x="533400" y="571500"/>
            <a:ext cx="11125200" cy="19050"/>
          </a:xfrm>
          <a:prstGeom prst="rect">
            <a:avLst/>
          </a:prstGeom>
          <a:solidFill>
            <a:srgbClr val="1E5AA8"/>
          </a:solidFill>
          <a:ln w="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2369D6-B6A4-46BA-8B90-D6AC6536D07B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781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1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Takeaways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C24BC6-ED33-49BA-A9CC-90E9F9CD874A}"/>
              </a:ext>
            </a:extLst>
          </p:cNvPr>
          <p:cNvSpPr>
            <a:spLocks noGrp="1"/>
          </p:cNvSpPr>
          <p:nvPr/>
        </p:nvSpPr>
        <p:spPr>
          <a:xfrm>
            <a:off x="10572750" y="2476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825" b="1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12 / 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70F93-AC21-43C3-B5DD-BEE5D6DC64F3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675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Selective Observation for Browser Agents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B22BB2-EB02-4306-882F-4F83C42CF157}"/>
              </a:ext>
            </a:extLst>
          </p:cNvPr>
          <p:cNvSpPr>
            <a:spLocks noGrp="1"/>
          </p:cNvSpPr>
          <p:nvPr/>
        </p:nvSpPr>
        <p:spPr>
          <a:xfrm>
            <a:off x="9810750" y="6553200"/>
            <a:ext cx="180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defRPr>
            </a:pPr>
            <a:r>
              <a:rPr sz="675" b="1">
                <a:solidFill>
                  <a:srgbClr val="1E5AA8"/>
                </a:solidFill>
                <a:latin typeface="Nunito Sans"/>
                <a:ea typeface="Nunito Sans"/>
                <a:cs typeface="Nunito Sans"/>
              </a:rPr>
              <a:t>UC SANTA BARBARA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B88B0D-6886-4F10-BEAC-4D223BA36DA3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24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Three things to remember.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7EC95A8-1216-4E33-A0BA-5E68BD3C74FF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D83905-50AE-4120-9979-F71A91708851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95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42E7BC-584B-47A8-A13E-34214FFB6B41}"/>
              </a:ext>
            </a:extLst>
          </p:cNvPr>
          <p:cNvSpPr>
            <a:spLocks noGrp="1"/>
          </p:cNvSpPr>
          <p:nvPr/>
        </p:nvSpPr>
        <p:spPr>
          <a:xfrm>
            <a:off x="1581150" y="2495550"/>
            <a:ext cx="561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Observation scheduling is learnable.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9A2DA-DCF5-4C91-9A32-2F2729AF2BD4}"/>
              </a:ext>
            </a:extLst>
          </p:cNvPr>
          <p:cNvSpPr>
            <a:spLocks noGrp="1"/>
          </p:cNvSpPr>
          <p:nvPr/>
        </p:nvSpPr>
        <p:spPr>
          <a:xfrm>
            <a:off x="1581150" y="278130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 simple logistic gate can decide when another DOM read is worth paying for.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B4E3754-AFFB-4938-AF9F-7A4BAB81AA6A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2FBF7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BB8A9D-15C7-4B07-BE70-D161E20A1FF6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D936C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950" b="1">
                <a:solidFill>
                  <a:srgbClr val="2D936C"/>
                </a:solidFill>
                <a:latin typeface="Nunito Sans ExtraBold"/>
                <a:ea typeface="Nunito Sans ExtraBold"/>
                <a:cs typeface="Nunito Sans ExtraBold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95319E-A565-46AE-9434-E4CF63407442}"/>
              </a:ext>
            </a:extLst>
          </p:cNvPr>
          <p:cNvSpPr>
            <a:spLocks noGrp="1"/>
          </p:cNvSpPr>
          <p:nvPr/>
        </p:nvSpPr>
        <p:spPr>
          <a:xfrm>
            <a:off x="1581150" y="3619500"/>
            <a:ext cx="609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Learned beats </a:t>
            </a:r>
            <a:r>
              <a:rPr sz="1800" b="1" dirty="0" err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handrule</a:t>
            </a:r>
            <a:r>
              <a:rPr sz="1800" b="1" dirty="0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 on the success-cost frontier.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064E77-B50D-4E5D-A6B0-C93F16D4915D}"/>
              </a:ext>
            </a:extLst>
          </p:cNvPr>
          <p:cNvSpPr>
            <a:spLocks noGrp="1"/>
          </p:cNvSpPr>
          <p:nvPr/>
        </p:nvSpPr>
        <p:spPr>
          <a:xfrm>
            <a:off x="1581150" y="390525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learned@0.2 keeps 100% success while using 2.07 calls instead of 3.07.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7529BF7-918E-4948-97BB-AC3080D3A5BB}"/>
              </a:ext>
            </a:extLst>
          </p:cNvPr>
          <p:cNvSpPr>
            <a:spLocks noGrp="1"/>
          </p:cNvSpPr>
          <p:nvPr/>
        </p:nvSpPr>
        <p:spPr>
          <a:xfrm>
            <a:off x="666750" y="4552950"/>
            <a:ext cx="7620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1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638F0-1C5F-4755-8EC2-59115D4C4565}"/>
              </a:ext>
            </a:extLst>
          </p:cNvPr>
          <p:cNvSpPr>
            <a:spLocks noGrp="1"/>
          </p:cNvSpPr>
          <p:nvPr/>
        </p:nvSpPr>
        <p:spPr>
          <a:xfrm>
            <a:off x="914400" y="481965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950" b="1">
                <a:solidFill>
                  <a:srgbClr val="1E5AA8"/>
                </a:solidFill>
                <a:latin typeface="Nunito Sans ExtraBold"/>
                <a:ea typeface="Nunito Sans ExtraBold"/>
                <a:cs typeface="Nunito Sans ExtraBold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3A4564-04AD-41CB-9CB0-5C942B8ED0CA}"/>
              </a:ext>
            </a:extLst>
          </p:cNvPr>
          <p:cNvSpPr>
            <a:spLocks noGrp="1"/>
          </p:cNvSpPr>
          <p:nvPr/>
        </p:nvSpPr>
        <p:spPr>
          <a:xfrm>
            <a:off x="1581150" y="4743450"/>
            <a:ext cx="561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800" b="1">
                <a:solidFill>
                  <a:srgbClr val="102A43"/>
                </a:solidFill>
                <a:latin typeface="Nunito Sans ExtraBold"/>
                <a:ea typeface="Nunito Sans ExtraBold"/>
                <a:cs typeface="Nunito Sans ExtraBold"/>
              </a:rPr>
              <a:t>The claim survives a smaller gate.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53148A-E184-4339-9843-4C39529219F4}"/>
              </a:ext>
            </a:extLst>
          </p:cNvPr>
          <p:cNvSpPr>
            <a:spLocks noGrp="1"/>
          </p:cNvSpPr>
          <p:nvPr/>
        </p:nvSpPr>
        <p:spPr>
          <a:xfrm>
            <a:off x="1581150" y="5029200"/>
            <a:ext cx="581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defRPr>
            </a:pPr>
            <a:r>
              <a:rPr sz="1050" b="0">
                <a:solidFill>
                  <a:srgbClr val="5B6B82"/>
                </a:solidFill>
                <a:latin typeface="Nunito Sans"/>
                <a:ea typeface="Nunito Sans"/>
                <a:cs typeface="Nunito Sans"/>
              </a:rPr>
              <a:t>A compact 8-feature version still reproduces the main story, so this is not feature bloat.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CE8F9EB-34DC-42FA-A698-893F8360E76F}"/>
              </a:ext>
            </a:extLst>
          </p:cNvPr>
          <p:cNvSpPr>
            <a:spLocks noGrp="1"/>
          </p:cNvSpPr>
          <p:nvPr/>
        </p:nvSpPr>
        <p:spPr>
          <a:xfrm>
            <a:off x="8743950" y="2305050"/>
            <a:ext cx="2266950" cy="3238500"/>
          </a:xfrm>
          <a:prstGeom prst="roundRect">
            <a:avLst>
              <a:gd name="adj" fmla="val 3361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A20F6B-CD47-4706-8F12-9059C308DC09}"/>
              </a:ext>
            </a:extLst>
          </p:cNvPr>
          <p:cNvSpPr>
            <a:spLocks noGrp="1"/>
          </p:cNvSpPr>
          <p:nvPr/>
        </p:nvSpPr>
        <p:spPr>
          <a:xfrm>
            <a:off x="9448800" y="25717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7C7D9"/>
                </a:solidFill>
                <a:latin typeface="Nunito Sans"/>
                <a:ea typeface="Nunito Sans"/>
                <a:cs typeface="Nunito Sans"/>
              </a:defRPr>
            </a:pPr>
            <a:r>
              <a:rPr sz="975" b="1">
                <a:solidFill>
                  <a:srgbClr val="B7C7D9"/>
                </a:solidFill>
                <a:latin typeface="Nunito Sans"/>
                <a:ea typeface="Nunito Sans"/>
                <a:cs typeface="Nunito Sans"/>
              </a:rPr>
              <a:t>Next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E4974B-8700-4B57-B8B5-0CB0EA4C5B1B}"/>
              </a:ext>
            </a:extLst>
          </p:cNvPr>
          <p:cNvSpPr>
            <a:spLocks noGrp="1"/>
          </p:cNvSpPr>
          <p:nvPr/>
        </p:nvSpPr>
        <p:spPr>
          <a:xfrm>
            <a:off x="9029700" y="2990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- port to external benchmark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97205B-F95D-4163-9881-C9B5428523BC}"/>
              </a:ext>
            </a:extLst>
          </p:cNvPr>
          <p:cNvSpPr>
            <a:spLocks noGrp="1"/>
          </p:cNvSpPr>
          <p:nvPr/>
        </p:nvSpPr>
        <p:spPr>
          <a:xfrm>
            <a:off x="9029700" y="3371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- replace verbalized confidence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B29AE9-B9DF-4F26-8C2A-0128D196C270}"/>
              </a:ext>
            </a:extLst>
          </p:cNvPr>
          <p:cNvSpPr>
            <a:spLocks noGrp="1"/>
          </p:cNvSpPr>
          <p:nvPr/>
        </p:nvSpPr>
        <p:spPr>
          <a:xfrm>
            <a:off x="9029700" y="3752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- scale DAgger rounds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8FC7EB-B2FD-49F6-8D79-5A9B17859DB9}"/>
              </a:ext>
            </a:extLst>
          </p:cNvPr>
          <p:cNvSpPr>
            <a:spLocks noGrp="1"/>
          </p:cNvSpPr>
          <p:nvPr/>
        </p:nvSpPr>
        <p:spPr>
          <a:xfrm>
            <a:off x="9029700" y="413385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defRPr>
            </a:pPr>
            <a:r>
              <a:rPr sz="1125" b="0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- compare across models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7D203F-A389-4AB8-96EF-6B2E2428698E}"/>
              </a:ext>
            </a:extLst>
          </p:cNvPr>
          <p:cNvSpPr>
            <a:spLocks noGrp="1"/>
          </p:cNvSpPr>
          <p:nvPr/>
        </p:nvSpPr>
        <p:spPr>
          <a:xfrm>
            <a:off x="8991600" y="4587660"/>
            <a:ext cx="17716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Academic-first result:</a:t>
            </a:r>
          </a:p>
          <a:p>
            <a:pPr algn="ctr">
              <a:defRPr sz="13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mechanism is real,</a:t>
            </a:r>
          </a:p>
          <a:p>
            <a:pPr algn="ctr">
              <a:defRPr sz="1350" b="1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defRPr>
            </a:pPr>
            <a:r>
              <a:rPr sz="1350" b="1" dirty="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</a:rPr>
              <a:t>benchmark scale is next.</a:t>
            </a:r>
          </a:p>
        </p:txBody>
      </p:sp>
    </p:spTree>
    <p:extLst>
      <p:ext uri="{BB962C8B-B14F-4D97-AF65-F5344CB8AC3E}">
        <p14:creationId xmlns:p14="http://schemas.microsoft.com/office/powerpoint/2010/main" val="10218662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3630</Words>
  <Application>Microsoft Macintosh PowerPoint</Application>
  <DocSecurity>0</DocSecurity>
  <PresentationFormat>宽屏</PresentationFormat>
  <Paragraphs>329</Paragraphs>
  <Slides>12</Slides>
  <Notes>12</Notes>
  <HiddenSlides>0</HiddenSlides>
  <MMClips>4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Calibri</vt:lpstr>
      <vt:lpstr>Nunito Sans</vt:lpstr>
      <vt:lpstr>Nunito Sans ExtraBold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A5955</cp:lastModifiedBy>
  <cp:revision>15</cp:revision>
  <dcterms:created xsi:type="dcterms:W3CDTF">2026-06-03T23:38:06Z</dcterms:created>
  <dcterms:modified xsi:type="dcterms:W3CDTF">2026-06-04T02:53:59Z</dcterms:modified>
</cp:coreProperties>
</file>